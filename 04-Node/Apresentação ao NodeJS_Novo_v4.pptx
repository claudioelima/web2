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0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54" r:id="rId40"/>
    <p:sldId id="355" r:id="rId41"/>
    <p:sldId id="356" r:id="rId42"/>
    <p:sldId id="357" r:id="rId43"/>
    <p:sldId id="358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98" r:id="rId54"/>
    <p:sldId id="361" r:id="rId55"/>
    <p:sldId id="336" r:id="rId56"/>
    <p:sldId id="337" r:id="rId57"/>
    <p:sldId id="338" r:id="rId58"/>
    <p:sldId id="339" r:id="rId59"/>
    <p:sldId id="340" r:id="rId60"/>
    <p:sldId id="341" r:id="rId61"/>
    <p:sldId id="342" r:id="rId62"/>
    <p:sldId id="343" r:id="rId63"/>
    <p:sldId id="344" r:id="rId64"/>
    <p:sldId id="345" r:id="rId65"/>
    <p:sldId id="362" r:id="rId66"/>
    <p:sldId id="363" r:id="rId67"/>
    <p:sldId id="364" r:id="rId68"/>
    <p:sldId id="365" r:id="rId69"/>
    <p:sldId id="366" r:id="rId70"/>
    <p:sldId id="367" r:id="rId71"/>
    <p:sldId id="368" r:id="rId72"/>
    <p:sldId id="369" r:id="rId73"/>
    <p:sldId id="370" r:id="rId74"/>
    <p:sldId id="371" r:id="rId75"/>
    <p:sldId id="372" r:id="rId76"/>
    <p:sldId id="373" r:id="rId77"/>
    <p:sldId id="374" r:id="rId78"/>
    <p:sldId id="399" r:id="rId79"/>
    <p:sldId id="391" r:id="rId80"/>
    <p:sldId id="393" r:id="rId81"/>
    <p:sldId id="394" r:id="rId82"/>
    <p:sldId id="395" r:id="rId83"/>
    <p:sldId id="397" r:id="rId84"/>
    <p:sldId id="378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80" r:id="rId94"/>
    <p:sldId id="381" r:id="rId95"/>
    <p:sldId id="382" r:id="rId96"/>
    <p:sldId id="383" r:id="rId97"/>
    <p:sldId id="384" r:id="rId98"/>
    <p:sldId id="385" r:id="rId99"/>
    <p:sldId id="375" r:id="rId100"/>
    <p:sldId id="376" r:id="rId101"/>
    <p:sldId id="377" r:id="rId102"/>
    <p:sldId id="386" r:id="rId103"/>
    <p:sldId id="388" r:id="rId104"/>
    <p:sldId id="389" r:id="rId105"/>
    <p:sldId id="387" r:id="rId106"/>
    <p:sldId id="390" r:id="rId107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tableStyles" Target="tableStyles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presProps" Target="pres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A5755-9D0B-4A2F-BCF6-827CC909EF0E}" type="datetimeFigureOut">
              <a:rPr lang="pt-BR" smtClean="0"/>
              <a:t>20/09/2024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FD369-3B61-48DF-85C6-E80F1AE178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8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FD369-3B61-48DF-85C6-E80F1AE1786A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53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39006" y="62306"/>
            <a:ext cx="1665986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757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8717" y="62306"/>
            <a:ext cx="122656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00069" y="1636830"/>
            <a:ext cx="4885055" cy="135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75757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nodejs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expressjs.com/pt-br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3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handlebarsjs.com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orlib.com/wp/top-templating-engines-for-javascript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tourmaline-apparatus-8f7.notion.site/Crud-usando-GET-POST-PUT-e-DELETE-25e8ea637e254d2b960510f21feaeb24?pvs=4" TargetMode="Externa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mysql/" TargetMode="External"/><Relationship Id="rId2" Type="http://schemas.openxmlformats.org/officeDocument/2006/relationships/hyperlink" Target="https://www.mysql.com/download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jp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jpg"/><Relationship Id="rId7" Type="http://schemas.openxmlformats.org/officeDocument/2006/relationships/image" Target="../media/image54.png"/><Relationship Id="rId2" Type="http://schemas.openxmlformats.org/officeDocument/2006/relationships/hyperlink" Target="https://dev.mysql.com/downloads/file/?id=51003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tourmaline-apparatus-8f7.notion.site/Fazendo-Requisi-es-para-testar-usando-Thunder-Client-67b8cfa0ca0841d3a0550698aad5f459?pvs=4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Bs7YfStXPCzryZU7O2iVEuaQEAbXS_AG?usp=sharing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2921" y="1863928"/>
            <a:ext cx="658368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spc="-5" dirty="0">
                <a:latin typeface="Arial"/>
                <a:cs typeface="Arial"/>
              </a:rPr>
              <a:t>Introdução ao</a:t>
            </a:r>
            <a:r>
              <a:rPr sz="5200" spc="-150" dirty="0">
                <a:latin typeface="Arial"/>
                <a:cs typeface="Arial"/>
              </a:rPr>
              <a:t> </a:t>
            </a:r>
            <a:r>
              <a:rPr sz="5200" dirty="0">
                <a:latin typeface="Arial"/>
                <a:cs typeface="Arial"/>
              </a:rPr>
              <a:t>NodeJS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4735" y="2895726"/>
            <a:ext cx="29432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575757"/>
                </a:solidFill>
                <a:latin typeface="Arial"/>
                <a:cs typeface="Arial"/>
              </a:rPr>
              <a:t>Prof. Claudio</a:t>
            </a:r>
            <a:r>
              <a:rPr sz="2800" spc="-8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75757"/>
                </a:solidFill>
                <a:latin typeface="Arial"/>
                <a:cs typeface="Arial"/>
              </a:rPr>
              <a:t>Lima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3776" y="62306"/>
            <a:ext cx="30676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Introdução ao</a:t>
            </a:r>
            <a:r>
              <a:rPr spc="-100" dirty="0"/>
              <a:t> </a:t>
            </a:r>
            <a:r>
              <a:rPr spc="-5" dirty="0"/>
              <a:t>NojeJS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540" y="719074"/>
            <a:ext cx="8830260" cy="1525418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ct val="94900"/>
              </a:lnSpc>
              <a:spcBef>
                <a:spcPts val="210"/>
              </a:spcBef>
            </a:pPr>
            <a:r>
              <a:rPr lang="pt-BR" sz="2800" b="0" i="0" dirty="0">
                <a:solidFill>
                  <a:srgbClr val="000000"/>
                </a:solidFill>
                <a:effectLst/>
                <a:latin typeface="Inter-Regular"/>
              </a:rPr>
              <a:t>Node.js é um ambiente de execução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Inter-Regular"/>
              </a:rPr>
              <a:t>JavaScript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Inter-Regular"/>
              </a:rPr>
              <a:t> no lado do servidor. Ele permite criar aplicações de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Inter-Regular"/>
              </a:rPr>
              <a:t>backend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Inter-Regular"/>
              </a:rPr>
              <a:t> usando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Inter-Regular"/>
              </a:rPr>
              <a:t>JavaScript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  <a:r>
              <a:rPr lang="pt-BR" sz="2000" dirty="0"/>
              <a:t> </a:t>
            </a:r>
            <a:br>
              <a:rPr lang="pt-BR" sz="2000" dirty="0"/>
            </a:br>
            <a:endParaRPr lang="pt-BR" sz="1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1395" y="62306"/>
            <a:ext cx="30505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Por que usar</a:t>
            </a:r>
            <a:r>
              <a:rPr spc="-114" dirty="0"/>
              <a:t> </a:t>
            </a:r>
            <a:r>
              <a:rPr spc="-5" dirty="0"/>
              <a:t>NodeJS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9097" y="716407"/>
            <a:ext cx="8552180" cy="3790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indent="-346075">
              <a:lnSpc>
                <a:spcPts val="2215"/>
              </a:lnSpc>
              <a:spcBef>
                <a:spcPts val="95"/>
              </a:spcBef>
              <a:buSzPct val="102702"/>
              <a:buFont typeface="DejaVu Sans"/>
              <a:buChar char="➢"/>
              <a:tabLst>
                <a:tab pos="358775" algn="l"/>
              </a:tabLst>
            </a:pP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Muito</a:t>
            </a:r>
            <a:r>
              <a:rPr sz="1850" b="1" spc="-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b="1" spc="-25" dirty="0">
                <a:solidFill>
                  <a:srgbClr val="575757"/>
                </a:solidFill>
                <a:latin typeface="Arial"/>
                <a:cs typeface="Arial"/>
              </a:rPr>
              <a:t>leve</a:t>
            </a:r>
            <a:endParaRPr sz="1850">
              <a:latin typeface="Arial"/>
              <a:cs typeface="Arial"/>
            </a:endParaRPr>
          </a:p>
          <a:p>
            <a:pPr marL="815340" lvl="1" indent="-346075">
              <a:lnSpc>
                <a:spcPts val="2155"/>
              </a:lnSpc>
              <a:buSzPct val="102702"/>
              <a:buChar char="○"/>
              <a:tabLst>
                <a:tab pos="815340" algn="l"/>
                <a:tab pos="815975" algn="l"/>
              </a:tabLst>
            </a:pP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O Node </a:t>
            </a:r>
            <a:r>
              <a:rPr sz="1850" spc="-10" dirty="0">
                <a:solidFill>
                  <a:srgbClr val="575757"/>
                </a:solidFill>
                <a:latin typeface="Arial"/>
                <a:cs typeface="Arial"/>
              </a:rPr>
              <a:t>consegue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ser mais leve do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que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outras </a:t>
            </a:r>
            <a:r>
              <a:rPr sz="1850" spc="-10" dirty="0">
                <a:solidFill>
                  <a:srgbClr val="575757"/>
                </a:solidFill>
                <a:latin typeface="Arial"/>
                <a:cs typeface="Arial"/>
              </a:rPr>
              <a:t>tecnologias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como o</a:t>
            </a:r>
            <a:r>
              <a:rPr sz="1850" spc="-26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Java,</a:t>
            </a:r>
            <a:endParaRPr sz="1850">
              <a:latin typeface="Arial"/>
              <a:cs typeface="Arial"/>
            </a:endParaRPr>
          </a:p>
          <a:p>
            <a:pPr marL="815340">
              <a:lnSpc>
                <a:spcPts val="2045"/>
              </a:lnSpc>
            </a:pP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C# e</a:t>
            </a:r>
            <a:r>
              <a:rPr sz="1850" spc="-3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spc="-65" dirty="0">
                <a:solidFill>
                  <a:srgbClr val="575757"/>
                </a:solidFill>
                <a:latin typeface="Arial"/>
                <a:cs typeface="Arial"/>
              </a:rPr>
              <a:t>PHP.</a:t>
            </a:r>
            <a:endParaRPr sz="1850">
              <a:latin typeface="Arial"/>
              <a:cs typeface="Arial"/>
            </a:endParaRPr>
          </a:p>
          <a:p>
            <a:pPr marL="358140" indent="-346075">
              <a:lnSpc>
                <a:spcPts val="2045"/>
              </a:lnSpc>
              <a:buSzPct val="102702"/>
              <a:buFont typeface="DejaVu Sans"/>
              <a:buChar char="➢"/>
              <a:tabLst>
                <a:tab pos="358775" algn="l"/>
              </a:tabLst>
            </a:pP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Muito</a:t>
            </a:r>
            <a:r>
              <a:rPr sz="1850" b="1" spc="-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rápido</a:t>
            </a:r>
            <a:endParaRPr sz="1850">
              <a:latin typeface="Arial"/>
              <a:cs typeface="Arial"/>
            </a:endParaRPr>
          </a:p>
          <a:p>
            <a:pPr marL="815340" marR="5080" lvl="1" indent="-346075">
              <a:lnSpc>
                <a:spcPts val="2100"/>
              </a:lnSpc>
              <a:spcBef>
                <a:spcPts val="110"/>
              </a:spcBef>
              <a:buSzPct val="102702"/>
              <a:buChar char="○"/>
              <a:tabLst>
                <a:tab pos="815340" algn="l"/>
                <a:tab pos="815975" algn="l"/>
                <a:tab pos="1185545" algn="l"/>
                <a:tab pos="1934210" algn="l"/>
                <a:tab pos="2252980" algn="l"/>
                <a:tab pos="2976880" algn="l"/>
                <a:tab pos="3411220" algn="l"/>
                <a:tab pos="3975100" algn="l"/>
                <a:tab pos="5298440" algn="l"/>
                <a:tab pos="6021070" algn="l"/>
                <a:tab pos="6455410" algn="l"/>
                <a:tab pos="6903084" algn="l"/>
                <a:tab pos="8276590" algn="l"/>
              </a:tabLst>
            </a:pP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O	No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d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é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ent</a:t>
            </a:r>
            <a:r>
              <a:rPr sz="1850" spc="-25" dirty="0">
                <a:solidFill>
                  <a:srgbClr val="575757"/>
                </a:solidFill>
                <a:latin typeface="Arial"/>
                <a:cs typeface="Arial"/>
              </a:rPr>
              <a:t>r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as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dez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10" dirty="0">
                <a:solidFill>
                  <a:srgbClr val="575757"/>
                </a:solidFill>
                <a:latin typeface="Arial"/>
                <a:cs typeface="Arial"/>
              </a:rPr>
              <a:t>l</a:t>
            </a:r>
            <a:r>
              <a:rPr sz="1850" spc="-20" dirty="0">
                <a:solidFill>
                  <a:srgbClr val="575757"/>
                </a:solidFill>
                <a:latin typeface="Arial"/>
                <a:cs typeface="Arial"/>
              </a:rPr>
              <a:t>i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ngu</a:t>
            </a:r>
            <a:r>
              <a:rPr sz="1850" spc="-25" dirty="0">
                <a:solidFill>
                  <a:srgbClr val="575757"/>
                </a:solidFill>
                <a:latin typeface="Arial"/>
                <a:cs typeface="Arial"/>
              </a:rPr>
              <a:t>ag</a:t>
            </a:r>
            <a:r>
              <a:rPr sz="1850" spc="-15" dirty="0">
                <a:solidFill>
                  <a:srgbClr val="575757"/>
                </a:solidFill>
                <a:latin typeface="Arial"/>
                <a:cs typeface="Arial"/>
              </a:rPr>
              <a:t>en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ent</a:t>
            </a:r>
            <a:r>
              <a:rPr sz="1850" spc="-25" dirty="0">
                <a:solidFill>
                  <a:srgbClr val="575757"/>
                </a:solidFill>
                <a:latin typeface="Arial"/>
                <a:cs typeface="Arial"/>
              </a:rPr>
              <a:t>r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as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10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t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cno</a:t>
            </a:r>
            <a:r>
              <a:rPr sz="1850" spc="-10" dirty="0">
                <a:solidFill>
                  <a:srgbClr val="575757"/>
                </a:solidFill>
                <a:latin typeface="Arial"/>
                <a:cs typeface="Arial"/>
              </a:rPr>
              <a:t>l</a:t>
            </a:r>
            <a:r>
              <a:rPr sz="1850" spc="-25" dirty="0">
                <a:solidFill>
                  <a:srgbClr val="575757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srgbClr val="575757"/>
                </a:solidFill>
                <a:latin typeface="Arial"/>
                <a:cs typeface="Arial"/>
              </a:rPr>
              <a:t>g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i</a:t>
            </a:r>
            <a:r>
              <a:rPr sz="1850" spc="-15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	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de  desenvolvimento </a:t>
            </a:r>
            <a:r>
              <a:rPr sz="1850" spc="-20" dirty="0">
                <a:solidFill>
                  <a:srgbClr val="575757"/>
                </a:solidFill>
                <a:latin typeface="Arial"/>
                <a:cs typeface="Arial"/>
              </a:rPr>
              <a:t>web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mais rápidas que você vai</a:t>
            </a:r>
            <a:r>
              <a:rPr sz="1850" spc="-19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desenvolver</a:t>
            </a:r>
            <a:endParaRPr sz="1850">
              <a:latin typeface="Arial"/>
              <a:cs typeface="Arial"/>
            </a:endParaRPr>
          </a:p>
          <a:p>
            <a:pPr marL="358140" indent="-346075">
              <a:lnSpc>
                <a:spcPts val="2045"/>
              </a:lnSpc>
              <a:buSzPct val="102702"/>
              <a:buFont typeface="DejaVu Sans"/>
              <a:buChar char="➢"/>
              <a:tabLst>
                <a:tab pos="358775" algn="l"/>
              </a:tabLst>
            </a:pP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Usa</a:t>
            </a:r>
            <a:r>
              <a:rPr sz="1850" b="1" spc="-4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JavaScript</a:t>
            </a:r>
            <a:endParaRPr sz="1850">
              <a:latin typeface="Arial"/>
              <a:cs typeface="Arial"/>
            </a:endParaRPr>
          </a:p>
          <a:p>
            <a:pPr marL="815340" marR="648970" lvl="1" indent="-346075">
              <a:lnSpc>
                <a:spcPts val="2100"/>
              </a:lnSpc>
              <a:spcBef>
                <a:spcPts val="165"/>
              </a:spcBef>
              <a:buSzPct val="102702"/>
              <a:buChar char="○"/>
              <a:tabLst>
                <a:tab pos="815340" algn="l"/>
                <a:tab pos="815975" algn="l"/>
              </a:tabLst>
            </a:pP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Uma </a:t>
            </a:r>
            <a:r>
              <a:rPr sz="1850" spc="-10" dirty="0">
                <a:solidFill>
                  <a:srgbClr val="575757"/>
                </a:solidFill>
                <a:latin typeface="Arial"/>
                <a:cs typeface="Arial"/>
              </a:rPr>
              <a:t>vantagem,porque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o JavaScript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hoje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em dia é a linguagem</a:t>
            </a:r>
            <a:r>
              <a:rPr sz="1850" spc="-2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mais  utilizada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do</a:t>
            </a:r>
            <a:r>
              <a:rPr sz="1850" spc="-7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mercado</a:t>
            </a:r>
            <a:endParaRPr sz="1850">
              <a:latin typeface="Arial"/>
              <a:cs typeface="Arial"/>
            </a:endParaRPr>
          </a:p>
          <a:p>
            <a:pPr marL="358140" indent="-346075">
              <a:lnSpc>
                <a:spcPts val="1935"/>
              </a:lnSpc>
              <a:buSzPct val="102702"/>
              <a:buFont typeface="DejaVu Sans"/>
              <a:buChar char="➢"/>
              <a:tabLst>
                <a:tab pos="358775" algn="l"/>
              </a:tabLst>
            </a:pPr>
            <a:r>
              <a:rPr sz="1850" b="1" spc="-50" dirty="0">
                <a:solidFill>
                  <a:srgbClr val="575757"/>
                </a:solidFill>
                <a:latin typeface="Arial"/>
                <a:cs typeface="Arial"/>
              </a:rPr>
              <a:t>Tem </a:t>
            </a: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um dos maiores ecossistema do</a:t>
            </a:r>
            <a:r>
              <a:rPr sz="1850" b="1" spc="-6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mundo</a:t>
            </a:r>
            <a:endParaRPr sz="1850">
              <a:latin typeface="Arial"/>
              <a:cs typeface="Arial"/>
            </a:endParaRPr>
          </a:p>
          <a:p>
            <a:pPr marL="815340" lvl="1" indent="-346075">
              <a:lnSpc>
                <a:spcPts val="2155"/>
              </a:lnSpc>
              <a:buSzPct val="102702"/>
              <a:buChar char="○"/>
              <a:tabLst>
                <a:tab pos="815340" algn="l"/>
                <a:tab pos="815975" algn="l"/>
              </a:tabLst>
            </a:pPr>
            <a:r>
              <a:rPr sz="1850" spc="-70" dirty="0">
                <a:solidFill>
                  <a:srgbClr val="575757"/>
                </a:solidFill>
                <a:latin typeface="Arial"/>
                <a:cs typeface="Arial"/>
              </a:rPr>
              <a:t>Tem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muitas bibliotecas disponíveis para NodeJS para o</a:t>
            </a:r>
            <a:r>
              <a:rPr sz="1850" spc="-16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75757"/>
                </a:solidFill>
                <a:latin typeface="Arial"/>
                <a:cs typeface="Arial"/>
              </a:rPr>
              <a:t>desenvolvimento</a:t>
            </a:r>
            <a:endParaRPr sz="1850">
              <a:latin typeface="Arial"/>
              <a:cs typeface="Arial"/>
            </a:endParaRPr>
          </a:p>
          <a:p>
            <a:pPr marL="815340">
              <a:lnSpc>
                <a:spcPts val="2045"/>
              </a:lnSpc>
            </a:pP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de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tudo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o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que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é tipo de coisa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que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você imagina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para</a:t>
            </a:r>
            <a:r>
              <a:rPr sz="1850" spc="-3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JavaScript.</a:t>
            </a:r>
            <a:endParaRPr sz="1850">
              <a:latin typeface="Arial"/>
              <a:cs typeface="Arial"/>
            </a:endParaRPr>
          </a:p>
          <a:p>
            <a:pPr marL="358140" indent="-346075">
              <a:lnSpc>
                <a:spcPts val="2100"/>
              </a:lnSpc>
              <a:buSzPct val="102702"/>
              <a:buFont typeface="DejaVu Sans"/>
              <a:buChar char="➢"/>
              <a:tabLst>
                <a:tab pos="358775" algn="l"/>
              </a:tabLst>
            </a:pPr>
            <a:r>
              <a:rPr sz="1850" b="1" dirty="0">
                <a:solidFill>
                  <a:srgbClr val="575757"/>
                </a:solidFill>
                <a:latin typeface="Arial"/>
                <a:cs typeface="Arial"/>
              </a:rPr>
              <a:t>Está </a:t>
            </a: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usando fortemente no</a:t>
            </a:r>
            <a:r>
              <a:rPr sz="1850" b="1" spc="-10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b="1" spc="-5" dirty="0">
                <a:solidFill>
                  <a:srgbClr val="575757"/>
                </a:solidFill>
                <a:latin typeface="Arial"/>
                <a:cs typeface="Arial"/>
              </a:rPr>
              <a:t>mercado</a:t>
            </a:r>
            <a:endParaRPr sz="1850">
              <a:latin typeface="Arial"/>
              <a:cs typeface="Arial"/>
            </a:endParaRPr>
          </a:p>
          <a:p>
            <a:pPr marL="815340" lvl="1" indent="-346075">
              <a:lnSpc>
                <a:spcPts val="2215"/>
              </a:lnSpc>
              <a:buSzPct val="102702"/>
              <a:buChar char="○"/>
              <a:tabLst>
                <a:tab pos="815340" algn="l"/>
                <a:tab pos="815975" algn="l"/>
              </a:tabLst>
            </a:pPr>
            <a:r>
              <a:rPr sz="1850" spc="-5" dirty="0">
                <a:solidFill>
                  <a:srgbClr val="575757"/>
                </a:solidFill>
                <a:latin typeface="Arial"/>
                <a:cs typeface="Arial"/>
              </a:rPr>
              <a:t>Grande e pequena empresas. Esta sendo muito utilizado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por</a:t>
            </a:r>
            <a:r>
              <a:rPr sz="1850" spc="-34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75757"/>
                </a:solidFill>
                <a:latin typeface="Arial"/>
                <a:cs typeface="Arial"/>
              </a:rPr>
              <a:t>satartups.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245" y="62306"/>
            <a:ext cx="16586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Quem</a:t>
            </a:r>
            <a:r>
              <a:rPr spc="-120" dirty="0"/>
              <a:t> </a:t>
            </a:r>
            <a:r>
              <a:rPr spc="-5" dirty="0"/>
              <a:t>usa?</a:t>
            </a:r>
          </a:p>
        </p:txBody>
      </p:sp>
      <p:sp>
        <p:nvSpPr>
          <p:cNvPr id="3" name="object 3"/>
          <p:cNvSpPr/>
          <p:nvPr/>
        </p:nvSpPr>
        <p:spPr>
          <a:xfrm>
            <a:off x="1347216" y="1103375"/>
            <a:ext cx="6449568" cy="3610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8450" y="62306"/>
            <a:ext cx="34556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Como instalar o</a:t>
            </a:r>
            <a:r>
              <a:rPr spc="-90" dirty="0"/>
              <a:t> </a:t>
            </a:r>
            <a:r>
              <a:rPr spc="-5" dirty="0"/>
              <a:t>NodeJS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8488" y="648970"/>
            <a:ext cx="56400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primeiro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passo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acessar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seu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site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oficial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Node.js:</a:t>
            </a:r>
            <a:r>
              <a:rPr sz="1400" spc="-245" dirty="0"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http://nodejs.org.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01" y="932688"/>
            <a:ext cx="8021320" cy="4006850"/>
            <a:chOff x="240601" y="932688"/>
            <a:chExt cx="8021320" cy="4006850"/>
          </a:xfrm>
        </p:grpSpPr>
        <p:sp>
          <p:nvSpPr>
            <p:cNvPr id="5" name="object 5"/>
            <p:cNvSpPr/>
            <p:nvPr/>
          </p:nvSpPr>
          <p:spPr>
            <a:xfrm>
              <a:off x="701040" y="932688"/>
              <a:ext cx="7560564" cy="4006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5363" y="3153155"/>
              <a:ext cx="1965960" cy="1749425"/>
            </a:xfrm>
            <a:custGeom>
              <a:avLst/>
              <a:gdLst/>
              <a:ahLst/>
              <a:cxnLst/>
              <a:rect l="l" t="t" r="r" b="b"/>
              <a:pathLst>
                <a:path w="1965960" h="1749425">
                  <a:moveTo>
                    <a:pt x="744639" y="0"/>
                  </a:moveTo>
                  <a:lnTo>
                    <a:pt x="704583" y="1524"/>
                  </a:lnTo>
                  <a:lnTo>
                    <a:pt x="664641" y="9525"/>
                  </a:lnTo>
                  <a:lnTo>
                    <a:pt x="625271" y="23494"/>
                  </a:lnTo>
                  <a:lnTo>
                    <a:pt x="586968" y="43180"/>
                  </a:lnTo>
                  <a:lnTo>
                    <a:pt x="550189" y="68199"/>
                  </a:lnTo>
                  <a:lnTo>
                    <a:pt x="515404" y="98170"/>
                  </a:lnTo>
                  <a:lnTo>
                    <a:pt x="483095" y="132714"/>
                  </a:lnTo>
                  <a:lnTo>
                    <a:pt x="453732" y="171450"/>
                  </a:lnTo>
                  <a:lnTo>
                    <a:pt x="427786" y="214121"/>
                  </a:lnTo>
                  <a:lnTo>
                    <a:pt x="405726" y="260223"/>
                  </a:lnTo>
                  <a:lnTo>
                    <a:pt x="388023" y="309499"/>
                  </a:lnTo>
                  <a:lnTo>
                    <a:pt x="384403" y="314070"/>
                  </a:lnTo>
                  <a:lnTo>
                    <a:pt x="339877" y="309371"/>
                  </a:lnTo>
                  <a:lnTo>
                    <a:pt x="294119" y="317881"/>
                  </a:lnTo>
                  <a:lnTo>
                    <a:pt x="249021" y="338963"/>
                  </a:lnTo>
                  <a:lnTo>
                    <a:pt x="206489" y="371856"/>
                  </a:lnTo>
                  <a:lnTo>
                    <a:pt x="174269" y="408178"/>
                  </a:lnTo>
                  <a:lnTo>
                    <a:pt x="148183" y="448944"/>
                  </a:lnTo>
                  <a:lnTo>
                    <a:pt x="128524" y="492887"/>
                  </a:lnTo>
                  <a:lnTo>
                    <a:pt x="115570" y="538734"/>
                  </a:lnTo>
                  <a:lnTo>
                    <a:pt x="109600" y="584835"/>
                  </a:lnTo>
                  <a:lnTo>
                    <a:pt x="110896" y="630047"/>
                  </a:lnTo>
                  <a:lnTo>
                    <a:pt x="119748" y="672972"/>
                  </a:lnTo>
                  <a:lnTo>
                    <a:pt x="136423" y="712216"/>
                  </a:lnTo>
                  <a:lnTo>
                    <a:pt x="97116" y="742746"/>
                  </a:lnTo>
                  <a:lnTo>
                    <a:pt x="62941" y="781253"/>
                  </a:lnTo>
                  <a:lnTo>
                    <a:pt x="35001" y="826287"/>
                  </a:lnTo>
                  <a:lnTo>
                    <a:pt x="14401" y="876325"/>
                  </a:lnTo>
                  <a:lnTo>
                    <a:pt x="2032" y="931570"/>
                  </a:lnTo>
                  <a:lnTo>
                    <a:pt x="0" y="984580"/>
                  </a:lnTo>
                  <a:lnTo>
                    <a:pt x="7645" y="1033678"/>
                  </a:lnTo>
                  <a:lnTo>
                    <a:pt x="24320" y="1077163"/>
                  </a:lnTo>
                  <a:lnTo>
                    <a:pt x="49390" y="1113358"/>
                  </a:lnTo>
                  <a:lnTo>
                    <a:pt x="82194" y="1140587"/>
                  </a:lnTo>
                  <a:lnTo>
                    <a:pt x="122097" y="1157147"/>
                  </a:lnTo>
                  <a:lnTo>
                    <a:pt x="122262" y="1165847"/>
                  </a:lnTo>
                  <a:lnTo>
                    <a:pt x="126415" y="1217168"/>
                  </a:lnTo>
                  <a:lnTo>
                    <a:pt x="135737" y="1265047"/>
                  </a:lnTo>
                  <a:lnTo>
                    <a:pt x="149910" y="1309204"/>
                  </a:lnTo>
                  <a:lnTo>
                    <a:pt x="168592" y="1349349"/>
                  </a:lnTo>
                  <a:lnTo>
                    <a:pt x="191427" y="1385163"/>
                  </a:lnTo>
                  <a:lnTo>
                    <a:pt x="218097" y="1416367"/>
                  </a:lnTo>
                  <a:lnTo>
                    <a:pt x="248259" y="1442656"/>
                  </a:lnTo>
                  <a:lnTo>
                    <a:pt x="281571" y="1463738"/>
                  </a:lnTo>
                  <a:lnTo>
                    <a:pt x="317690" y="1479334"/>
                  </a:lnTo>
                  <a:lnTo>
                    <a:pt x="356285" y="1489125"/>
                  </a:lnTo>
                  <a:lnTo>
                    <a:pt x="397014" y="1492821"/>
                  </a:lnTo>
                  <a:lnTo>
                    <a:pt x="439547" y="1490141"/>
                  </a:lnTo>
                  <a:lnTo>
                    <a:pt x="483527" y="1480781"/>
                  </a:lnTo>
                  <a:lnTo>
                    <a:pt x="489826" y="1529130"/>
                  </a:lnTo>
                  <a:lnTo>
                    <a:pt x="501726" y="1574266"/>
                  </a:lnTo>
                  <a:lnTo>
                    <a:pt x="518972" y="1615579"/>
                  </a:lnTo>
                  <a:lnTo>
                    <a:pt x="541312" y="1652485"/>
                  </a:lnTo>
                  <a:lnTo>
                    <a:pt x="568515" y="1684401"/>
                  </a:lnTo>
                  <a:lnTo>
                    <a:pt x="602335" y="1712137"/>
                  </a:lnTo>
                  <a:lnTo>
                    <a:pt x="639279" y="1732076"/>
                  </a:lnTo>
                  <a:lnTo>
                    <a:pt x="678662" y="1744383"/>
                  </a:lnTo>
                  <a:lnTo>
                    <a:pt x="719823" y="1749209"/>
                  </a:lnTo>
                  <a:lnTo>
                    <a:pt x="762088" y="1746681"/>
                  </a:lnTo>
                  <a:lnTo>
                    <a:pt x="804799" y="1736979"/>
                  </a:lnTo>
                  <a:lnTo>
                    <a:pt x="847267" y="1720253"/>
                  </a:lnTo>
                  <a:lnTo>
                    <a:pt x="888834" y="1696643"/>
                  </a:lnTo>
                  <a:lnTo>
                    <a:pt x="928827" y="1666303"/>
                  </a:lnTo>
                  <a:lnTo>
                    <a:pt x="966584" y="1629384"/>
                  </a:lnTo>
                  <a:lnTo>
                    <a:pt x="1001433" y="1586052"/>
                  </a:lnTo>
                  <a:lnTo>
                    <a:pt x="1021041" y="1617395"/>
                  </a:lnTo>
                  <a:lnTo>
                    <a:pt x="1071499" y="1665820"/>
                  </a:lnTo>
                  <a:lnTo>
                    <a:pt x="1140206" y="1694167"/>
                  </a:lnTo>
                  <a:lnTo>
                    <a:pt x="1180211" y="1697799"/>
                  </a:lnTo>
                  <a:lnTo>
                    <a:pt x="1220851" y="1693494"/>
                  </a:lnTo>
                  <a:lnTo>
                    <a:pt x="1261237" y="1681695"/>
                  </a:lnTo>
                  <a:lnTo>
                    <a:pt x="1300733" y="1662811"/>
                  </a:lnTo>
                  <a:lnTo>
                    <a:pt x="1338580" y="1637271"/>
                  </a:lnTo>
                  <a:lnTo>
                    <a:pt x="1374013" y="1605495"/>
                  </a:lnTo>
                  <a:lnTo>
                    <a:pt x="1406398" y="1567903"/>
                  </a:lnTo>
                  <a:lnTo>
                    <a:pt x="1434846" y="1524927"/>
                  </a:lnTo>
                  <a:lnTo>
                    <a:pt x="1458849" y="1476984"/>
                  </a:lnTo>
                  <a:lnTo>
                    <a:pt x="1496441" y="1481721"/>
                  </a:lnTo>
                  <a:lnTo>
                    <a:pt x="1535176" y="1480312"/>
                  </a:lnTo>
                  <a:lnTo>
                    <a:pt x="1574292" y="1472806"/>
                  </a:lnTo>
                  <a:lnTo>
                    <a:pt x="1613662" y="1459268"/>
                  </a:lnTo>
                  <a:lnTo>
                    <a:pt x="1654429" y="1438668"/>
                  </a:lnTo>
                  <a:lnTo>
                    <a:pt x="1692783" y="1412646"/>
                  </a:lnTo>
                  <a:lnTo>
                    <a:pt x="1728343" y="1381772"/>
                  </a:lnTo>
                  <a:lnTo>
                    <a:pt x="1760728" y="1346631"/>
                  </a:lnTo>
                  <a:lnTo>
                    <a:pt x="1789811" y="1307769"/>
                  </a:lnTo>
                  <a:lnTo>
                    <a:pt x="1815211" y="1265770"/>
                  </a:lnTo>
                  <a:lnTo>
                    <a:pt x="1836547" y="1221206"/>
                  </a:lnTo>
                  <a:lnTo>
                    <a:pt x="1853565" y="1174648"/>
                  </a:lnTo>
                  <a:lnTo>
                    <a:pt x="1865884" y="1126667"/>
                  </a:lnTo>
                  <a:lnTo>
                    <a:pt x="1873377" y="1077823"/>
                  </a:lnTo>
                  <a:lnTo>
                    <a:pt x="1875536" y="1028712"/>
                  </a:lnTo>
                  <a:lnTo>
                    <a:pt x="1872234" y="979893"/>
                  </a:lnTo>
                  <a:lnTo>
                    <a:pt x="1878711" y="971981"/>
                  </a:lnTo>
                  <a:lnTo>
                    <a:pt x="1924939" y="899807"/>
                  </a:lnTo>
                  <a:lnTo>
                    <a:pt x="1945513" y="850417"/>
                  </a:lnTo>
                  <a:lnTo>
                    <a:pt x="1958975" y="799985"/>
                  </a:lnTo>
                  <a:lnTo>
                    <a:pt x="1965579" y="749642"/>
                  </a:lnTo>
                  <a:lnTo>
                    <a:pt x="1965071" y="700532"/>
                  </a:lnTo>
                  <a:lnTo>
                    <a:pt x="1957578" y="653796"/>
                  </a:lnTo>
                  <a:lnTo>
                    <a:pt x="1943227" y="610743"/>
                  </a:lnTo>
                  <a:lnTo>
                    <a:pt x="1921764" y="572262"/>
                  </a:lnTo>
                  <a:lnTo>
                    <a:pt x="1893443" y="539622"/>
                  </a:lnTo>
                  <a:lnTo>
                    <a:pt x="1902587" y="493522"/>
                  </a:lnTo>
                  <a:lnTo>
                    <a:pt x="1905127" y="448056"/>
                  </a:lnTo>
                  <a:lnTo>
                    <a:pt x="1901317" y="404241"/>
                  </a:lnTo>
                  <a:lnTo>
                    <a:pt x="1891030" y="363093"/>
                  </a:lnTo>
                  <a:lnTo>
                    <a:pt x="1871091" y="320420"/>
                  </a:lnTo>
                  <a:lnTo>
                    <a:pt x="1844548" y="286257"/>
                  </a:lnTo>
                  <a:lnTo>
                    <a:pt x="1812417" y="260857"/>
                  </a:lnTo>
                  <a:lnTo>
                    <a:pt x="1775714" y="244856"/>
                  </a:lnTo>
                  <a:lnTo>
                    <a:pt x="1735709" y="238251"/>
                  </a:lnTo>
                  <a:lnTo>
                    <a:pt x="1693672" y="241554"/>
                  </a:lnTo>
                  <a:lnTo>
                    <a:pt x="1650492" y="255143"/>
                  </a:lnTo>
                  <a:lnTo>
                    <a:pt x="1607439" y="279273"/>
                  </a:lnTo>
                  <a:lnTo>
                    <a:pt x="1602867" y="254000"/>
                  </a:lnTo>
                  <a:lnTo>
                    <a:pt x="1586484" y="208025"/>
                  </a:lnTo>
                  <a:lnTo>
                    <a:pt x="1544955" y="153924"/>
                  </a:lnTo>
                  <a:lnTo>
                    <a:pt x="1509141" y="131825"/>
                  </a:lnTo>
                  <a:lnTo>
                    <a:pt x="1469136" y="121157"/>
                  </a:lnTo>
                  <a:lnTo>
                    <a:pt x="1426464" y="122174"/>
                  </a:lnTo>
                  <a:lnTo>
                    <a:pt x="1383030" y="134619"/>
                  </a:lnTo>
                  <a:lnTo>
                    <a:pt x="1340231" y="158495"/>
                  </a:lnTo>
                  <a:lnTo>
                    <a:pt x="1299972" y="193929"/>
                  </a:lnTo>
                  <a:lnTo>
                    <a:pt x="1294383" y="175513"/>
                  </a:lnTo>
                  <a:lnTo>
                    <a:pt x="1270889" y="125475"/>
                  </a:lnTo>
                  <a:lnTo>
                    <a:pt x="1243964" y="91058"/>
                  </a:lnTo>
                  <a:lnTo>
                    <a:pt x="1212342" y="65150"/>
                  </a:lnTo>
                  <a:lnTo>
                    <a:pt x="1176908" y="47751"/>
                  </a:lnTo>
                  <a:lnTo>
                    <a:pt x="1138427" y="38862"/>
                  </a:lnTo>
                  <a:lnTo>
                    <a:pt x="1098169" y="38481"/>
                  </a:lnTo>
                  <a:lnTo>
                    <a:pt x="1056894" y="46608"/>
                  </a:lnTo>
                  <a:lnTo>
                    <a:pt x="1015580" y="63245"/>
                  </a:lnTo>
                  <a:lnTo>
                    <a:pt x="975144" y="88518"/>
                  </a:lnTo>
                  <a:lnTo>
                    <a:pt x="936561" y="122300"/>
                  </a:lnTo>
                  <a:lnTo>
                    <a:pt x="907059" y="79882"/>
                  </a:lnTo>
                  <a:lnTo>
                    <a:pt x="871308" y="45846"/>
                  </a:lnTo>
                  <a:lnTo>
                    <a:pt x="830135" y="20700"/>
                  </a:lnTo>
                  <a:lnTo>
                    <a:pt x="784339" y="5206"/>
                  </a:lnTo>
                  <a:lnTo>
                    <a:pt x="74463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5363" y="3153155"/>
              <a:ext cx="1965960" cy="1749425"/>
            </a:xfrm>
            <a:custGeom>
              <a:avLst/>
              <a:gdLst/>
              <a:ahLst/>
              <a:cxnLst/>
              <a:rect l="l" t="t" r="r" b="b"/>
              <a:pathLst>
                <a:path w="1965960" h="1749425">
                  <a:moveTo>
                    <a:pt x="388023" y="309499"/>
                  </a:moveTo>
                  <a:lnTo>
                    <a:pt x="405726" y="260223"/>
                  </a:lnTo>
                  <a:lnTo>
                    <a:pt x="427786" y="214121"/>
                  </a:lnTo>
                  <a:lnTo>
                    <a:pt x="453732" y="171450"/>
                  </a:lnTo>
                  <a:lnTo>
                    <a:pt x="483095" y="132714"/>
                  </a:lnTo>
                  <a:lnTo>
                    <a:pt x="515404" y="98170"/>
                  </a:lnTo>
                  <a:lnTo>
                    <a:pt x="550189" y="68199"/>
                  </a:lnTo>
                  <a:lnTo>
                    <a:pt x="586968" y="43180"/>
                  </a:lnTo>
                  <a:lnTo>
                    <a:pt x="625271" y="23494"/>
                  </a:lnTo>
                  <a:lnTo>
                    <a:pt x="664641" y="9525"/>
                  </a:lnTo>
                  <a:lnTo>
                    <a:pt x="704583" y="1524"/>
                  </a:lnTo>
                  <a:lnTo>
                    <a:pt x="744639" y="0"/>
                  </a:lnTo>
                  <a:lnTo>
                    <a:pt x="784339" y="5206"/>
                  </a:lnTo>
                  <a:lnTo>
                    <a:pt x="830135" y="20700"/>
                  </a:lnTo>
                  <a:lnTo>
                    <a:pt x="871308" y="45846"/>
                  </a:lnTo>
                  <a:lnTo>
                    <a:pt x="907059" y="79882"/>
                  </a:lnTo>
                  <a:lnTo>
                    <a:pt x="936561" y="122300"/>
                  </a:lnTo>
                  <a:lnTo>
                    <a:pt x="975144" y="88518"/>
                  </a:lnTo>
                  <a:lnTo>
                    <a:pt x="1015580" y="63245"/>
                  </a:lnTo>
                  <a:lnTo>
                    <a:pt x="1056894" y="46608"/>
                  </a:lnTo>
                  <a:lnTo>
                    <a:pt x="1098169" y="38481"/>
                  </a:lnTo>
                  <a:lnTo>
                    <a:pt x="1138427" y="38862"/>
                  </a:lnTo>
                  <a:lnTo>
                    <a:pt x="1176908" y="47751"/>
                  </a:lnTo>
                  <a:lnTo>
                    <a:pt x="1212342" y="65150"/>
                  </a:lnTo>
                  <a:lnTo>
                    <a:pt x="1243964" y="91058"/>
                  </a:lnTo>
                  <a:lnTo>
                    <a:pt x="1270889" y="125475"/>
                  </a:lnTo>
                  <a:lnTo>
                    <a:pt x="1294383" y="175513"/>
                  </a:lnTo>
                  <a:lnTo>
                    <a:pt x="1299972" y="193929"/>
                  </a:lnTo>
                  <a:lnTo>
                    <a:pt x="1340231" y="158495"/>
                  </a:lnTo>
                  <a:lnTo>
                    <a:pt x="1383030" y="134619"/>
                  </a:lnTo>
                  <a:lnTo>
                    <a:pt x="1426464" y="122174"/>
                  </a:lnTo>
                  <a:lnTo>
                    <a:pt x="1469136" y="121157"/>
                  </a:lnTo>
                  <a:lnTo>
                    <a:pt x="1509141" y="131825"/>
                  </a:lnTo>
                  <a:lnTo>
                    <a:pt x="1544955" y="153924"/>
                  </a:lnTo>
                  <a:lnTo>
                    <a:pt x="1574927" y="187706"/>
                  </a:lnTo>
                  <a:lnTo>
                    <a:pt x="1595882" y="230124"/>
                  </a:lnTo>
                  <a:lnTo>
                    <a:pt x="1607439" y="279273"/>
                  </a:lnTo>
                  <a:lnTo>
                    <a:pt x="1650492" y="255143"/>
                  </a:lnTo>
                  <a:lnTo>
                    <a:pt x="1693672" y="241554"/>
                  </a:lnTo>
                  <a:lnTo>
                    <a:pt x="1735709" y="238251"/>
                  </a:lnTo>
                  <a:lnTo>
                    <a:pt x="1775714" y="244856"/>
                  </a:lnTo>
                  <a:lnTo>
                    <a:pt x="1812417" y="260857"/>
                  </a:lnTo>
                  <a:lnTo>
                    <a:pt x="1844548" y="286257"/>
                  </a:lnTo>
                  <a:lnTo>
                    <a:pt x="1871091" y="320420"/>
                  </a:lnTo>
                  <a:lnTo>
                    <a:pt x="1891030" y="363093"/>
                  </a:lnTo>
                  <a:lnTo>
                    <a:pt x="1901317" y="404241"/>
                  </a:lnTo>
                  <a:lnTo>
                    <a:pt x="1905127" y="448056"/>
                  </a:lnTo>
                  <a:lnTo>
                    <a:pt x="1902587" y="493522"/>
                  </a:lnTo>
                  <a:lnTo>
                    <a:pt x="1893443" y="539622"/>
                  </a:lnTo>
                  <a:lnTo>
                    <a:pt x="1921764" y="572262"/>
                  </a:lnTo>
                  <a:lnTo>
                    <a:pt x="1943227" y="610743"/>
                  </a:lnTo>
                  <a:lnTo>
                    <a:pt x="1957578" y="653796"/>
                  </a:lnTo>
                  <a:lnTo>
                    <a:pt x="1965071" y="700532"/>
                  </a:lnTo>
                  <a:lnTo>
                    <a:pt x="1965579" y="749642"/>
                  </a:lnTo>
                  <a:lnTo>
                    <a:pt x="1958975" y="799985"/>
                  </a:lnTo>
                  <a:lnTo>
                    <a:pt x="1945513" y="850417"/>
                  </a:lnTo>
                  <a:lnTo>
                    <a:pt x="1924939" y="899807"/>
                  </a:lnTo>
                  <a:lnTo>
                    <a:pt x="1897380" y="946975"/>
                  </a:lnTo>
                  <a:lnTo>
                    <a:pt x="1872234" y="979893"/>
                  </a:lnTo>
                  <a:lnTo>
                    <a:pt x="1875536" y="1028712"/>
                  </a:lnTo>
                  <a:lnTo>
                    <a:pt x="1873377" y="1077823"/>
                  </a:lnTo>
                  <a:lnTo>
                    <a:pt x="1865884" y="1126667"/>
                  </a:lnTo>
                  <a:lnTo>
                    <a:pt x="1853565" y="1174648"/>
                  </a:lnTo>
                  <a:lnTo>
                    <a:pt x="1836547" y="1221206"/>
                  </a:lnTo>
                  <a:lnTo>
                    <a:pt x="1815211" y="1265770"/>
                  </a:lnTo>
                  <a:lnTo>
                    <a:pt x="1789811" y="1307769"/>
                  </a:lnTo>
                  <a:lnTo>
                    <a:pt x="1760728" y="1346631"/>
                  </a:lnTo>
                  <a:lnTo>
                    <a:pt x="1728343" y="1381772"/>
                  </a:lnTo>
                  <a:lnTo>
                    <a:pt x="1692783" y="1412646"/>
                  </a:lnTo>
                  <a:lnTo>
                    <a:pt x="1654429" y="1438668"/>
                  </a:lnTo>
                  <a:lnTo>
                    <a:pt x="1613662" y="1459268"/>
                  </a:lnTo>
                  <a:lnTo>
                    <a:pt x="1574292" y="1472806"/>
                  </a:lnTo>
                  <a:lnTo>
                    <a:pt x="1535176" y="1480312"/>
                  </a:lnTo>
                  <a:lnTo>
                    <a:pt x="1496441" y="1481721"/>
                  </a:lnTo>
                  <a:lnTo>
                    <a:pt x="1458849" y="1476984"/>
                  </a:lnTo>
                  <a:lnTo>
                    <a:pt x="1434846" y="1524927"/>
                  </a:lnTo>
                  <a:lnTo>
                    <a:pt x="1406398" y="1567903"/>
                  </a:lnTo>
                  <a:lnTo>
                    <a:pt x="1374013" y="1605495"/>
                  </a:lnTo>
                  <a:lnTo>
                    <a:pt x="1338580" y="1637271"/>
                  </a:lnTo>
                  <a:lnTo>
                    <a:pt x="1300733" y="1662811"/>
                  </a:lnTo>
                  <a:lnTo>
                    <a:pt x="1261237" y="1681695"/>
                  </a:lnTo>
                  <a:lnTo>
                    <a:pt x="1220851" y="1693494"/>
                  </a:lnTo>
                  <a:lnTo>
                    <a:pt x="1180211" y="1697799"/>
                  </a:lnTo>
                  <a:lnTo>
                    <a:pt x="1140206" y="1694167"/>
                  </a:lnTo>
                  <a:lnTo>
                    <a:pt x="1101598" y="1682203"/>
                  </a:lnTo>
                  <a:lnTo>
                    <a:pt x="1044575" y="1644103"/>
                  </a:lnTo>
                  <a:lnTo>
                    <a:pt x="1001433" y="1586052"/>
                  </a:lnTo>
                  <a:lnTo>
                    <a:pt x="966584" y="1629384"/>
                  </a:lnTo>
                  <a:lnTo>
                    <a:pt x="928827" y="1666303"/>
                  </a:lnTo>
                  <a:lnTo>
                    <a:pt x="888834" y="1696643"/>
                  </a:lnTo>
                  <a:lnTo>
                    <a:pt x="847267" y="1720253"/>
                  </a:lnTo>
                  <a:lnTo>
                    <a:pt x="804799" y="1736979"/>
                  </a:lnTo>
                  <a:lnTo>
                    <a:pt x="762088" y="1746681"/>
                  </a:lnTo>
                  <a:lnTo>
                    <a:pt x="719823" y="1749209"/>
                  </a:lnTo>
                  <a:lnTo>
                    <a:pt x="678662" y="1744383"/>
                  </a:lnTo>
                  <a:lnTo>
                    <a:pt x="639279" y="1732076"/>
                  </a:lnTo>
                  <a:lnTo>
                    <a:pt x="602335" y="1712137"/>
                  </a:lnTo>
                  <a:lnTo>
                    <a:pt x="568515" y="1684401"/>
                  </a:lnTo>
                  <a:lnTo>
                    <a:pt x="541312" y="1652485"/>
                  </a:lnTo>
                  <a:lnTo>
                    <a:pt x="518972" y="1615579"/>
                  </a:lnTo>
                  <a:lnTo>
                    <a:pt x="501726" y="1574266"/>
                  </a:lnTo>
                  <a:lnTo>
                    <a:pt x="489826" y="1529130"/>
                  </a:lnTo>
                  <a:lnTo>
                    <a:pt x="483527" y="1480781"/>
                  </a:lnTo>
                  <a:lnTo>
                    <a:pt x="439547" y="1490141"/>
                  </a:lnTo>
                  <a:lnTo>
                    <a:pt x="397014" y="1492821"/>
                  </a:lnTo>
                  <a:lnTo>
                    <a:pt x="356285" y="1489125"/>
                  </a:lnTo>
                  <a:lnTo>
                    <a:pt x="317690" y="1479334"/>
                  </a:lnTo>
                  <a:lnTo>
                    <a:pt x="281571" y="1463738"/>
                  </a:lnTo>
                  <a:lnTo>
                    <a:pt x="248259" y="1442656"/>
                  </a:lnTo>
                  <a:lnTo>
                    <a:pt x="218097" y="1416367"/>
                  </a:lnTo>
                  <a:lnTo>
                    <a:pt x="191427" y="1385163"/>
                  </a:lnTo>
                  <a:lnTo>
                    <a:pt x="168592" y="1349349"/>
                  </a:lnTo>
                  <a:lnTo>
                    <a:pt x="149910" y="1309204"/>
                  </a:lnTo>
                  <a:lnTo>
                    <a:pt x="135737" y="1265047"/>
                  </a:lnTo>
                  <a:lnTo>
                    <a:pt x="126415" y="1217168"/>
                  </a:lnTo>
                  <a:lnTo>
                    <a:pt x="122262" y="1165847"/>
                  </a:lnTo>
                  <a:lnTo>
                    <a:pt x="122097" y="1157147"/>
                  </a:lnTo>
                  <a:lnTo>
                    <a:pt x="82194" y="1140587"/>
                  </a:lnTo>
                  <a:lnTo>
                    <a:pt x="49390" y="1113358"/>
                  </a:lnTo>
                  <a:lnTo>
                    <a:pt x="24320" y="1077163"/>
                  </a:lnTo>
                  <a:lnTo>
                    <a:pt x="7645" y="1033678"/>
                  </a:lnTo>
                  <a:lnTo>
                    <a:pt x="0" y="984580"/>
                  </a:lnTo>
                  <a:lnTo>
                    <a:pt x="2032" y="931570"/>
                  </a:lnTo>
                  <a:lnTo>
                    <a:pt x="14401" y="876325"/>
                  </a:lnTo>
                  <a:lnTo>
                    <a:pt x="35001" y="826287"/>
                  </a:lnTo>
                  <a:lnTo>
                    <a:pt x="62941" y="781253"/>
                  </a:lnTo>
                  <a:lnTo>
                    <a:pt x="97116" y="742746"/>
                  </a:lnTo>
                  <a:lnTo>
                    <a:pt x="136423" y="712216"/>
                  </a:lnTo>
                  <a:lnTo>
                    <a:pt x="119748" y="672972"/>
                  </a:lnTo>
                  <a:lnTo>
                    <a:pt x="110896" y="630047"/>
                  </a:lnTo>
                  <a:lnTo>
                    <a:pt x="109600" y="584835"/>
                  </a:lnTo>
                  <a:lnTo>
                    <a:pt x="115570" y="538734"/>
                  </a:lnTo>
                  <a:lnTo>
                    <a:pt x="128524" y="492887"/>
                  </a:lnTo>
                  <a:lnTo>
                    <a:pt x="148183" y="448944"/>
                  </a:lnTo>
                  <a:lnTo>
                    <a:pt x="174269" y="408178"/>
                  </a:lnTo>
                  <a:lnTo>
                    <a:pt x="206489" y="371856"/>
                  </a:lnTo>
                  <a:lnTo>
                    <a:pt x="249021" y="338963"/>
                  </a:lnTo>
                  <a:lnTo>
                    <a:pt x="294119" y="317881"/>
                  </a:lnTo>
                  <a:lnTo>
                    <a:pt x="339877" y="309371"/>
                  </a:lnTo>
                  <a:lnTo>
                    <a:pt x="384403" y="314070"/>
                  </a:lnTo>
                  <a:lnTo>
                    <a:pt x="388023" y="309499"/>
                  </a:lnTo>
                </a:path>
                <a:path w="1965960" h="1749425">
                  <a:moveTo>
                    <a:pt x="228409" y="779297"/>
                  </a:moveTo>
                  <a:lnTo>
                    <a:pt x="202196" y="768400"/>
                  </a:lnTo>
                  <a:lnTo>
                    <a:pt x="178638" y="752424"/>
                  </a:lnTo>
                  <a:lnTo>
                    <a:pt x="158102" y="731697"/>
                  </a:lnTo>
                  <a:lnTo>
                    <a:pt x="140982" y="706501"/>
                  </a:lnTo>
                </a:path>
                <a:path w="1965960" h="1749425">
                  <a:moveTo>
                    <a:pt x="175818" y="1153668"/>
                  </a:moveTo>
                  <a:lnTo>
                    <a:pt x="162991" y="1154315"/>
                  </a:lnTo>
                  <a:lnTo>
                    <a:pt x="150355" y="1153922"/>
                  </a:lnTo>
                  <a:lnTo>
                    <a:pt x="137922" y="1152512"/>
                  </a:lnTo>
                  <a:lnTo>
                    <a:pt x="125755" y="1150061"/>
                  </a:lnTo>
                </a:path>
                <a:path w="1965960" h="1749425">
                  <a:moveTo>
                    <a:pt x="486244" y="1473987"/>
                  </a:moveTo>
                  <a:lnTo>
                    <a:pt x="485355" y="1454708"/>
                  </a:lnTo>
                  <a:lnTo>
                    <a:pt x="485343" y="1435188"/>
                  </a:lnTo>
                  <a:lnTo>
                    <a:pt x="486206" y="1415491"/>
                  </a:lnTo>
                  <a:lnTo>
                    <a:pt x="487946" y="1395628"/>
                  </a:lnTo>
                </a:path>
                <a:path w="1965960" h="1749425">
                  <a:moveTo>
                    <a:pt x="1045591" y="1510779"/>
                  </a:moveTo>
                  <a:lnTo>
                    <a:pt x="1036193" y="1528851"/>
                  </a:lnTo>
                  <a:lnTo>
                    <a:pt x="1026160" y="1546479"/>
                  </a:lnTo>
                  <a:lnTo>
                    <a:pt x="1015403" y="1563611"/>
                  </a:lnTo>
                  <a:lnTo>
                    <a:pt x="1004074" y="1580210"/>
                  </a:lnTo>
                </a:path>
                <a:path w="1965960" h="1749425">
                  <a:moveTo>
                    <a:pt x="1446403" y="1142352"/>
                  </a:moveTo>
                  <a:lnTo>
                    <a:pt x="1467993" y="1181112"/>
                  </a:lnTo>
                  <a:lnTo>
                    <a:pt x="1482979" y="1224267"/>
                  </a:lnTo>
                  <a:lnTo>
                    <a:pt x="1491615" y="1270850"/>
                  </a:lnTo>
                  <a:lnTo>
                    <a:pt x="1493647" y="1319898"/>
                  </a:lnTo>
                  <a:lnTo>
                    <a:pt x="1488948" y="1370457"/>
                  </a:lnTo>
                  <a:lnTo>
                    <a:pt x="1477645" y="1421536"/>
                  </a:lnTo>
                  <a:lnTo>
                    <a:pt x="1459738" y="1472196"/>
                  </a:lnTo>
                </a:path>
                <a:path w="1965960" h="1749425">
                  <a:moveTo>
                    <a:pt x="1873123" y="975474"/>
                  </a:moveTo>
                  <a:lnTo>
                    <a:pt x="1850009" y="999972"/>
                  </a:lnTo>
                  <a:lnTo>
                    <a:pt x="1825371" y="1021524"/>
                  </a:lnTo>
                  <a:lnTo>
                    <a:pt x="1799463" y="1039926"/>
                  </a:lnTo>
                  <a:lnTo>
                    <a:pt x="1772412" y="1054963"/>
                  </a:lnTo>
                </a:path>
                <a:path w="1965960" h="1749425">
                  <a:moveTo>
                    <a:pt x="1896110" y="533907"/>
                  </a:moveTo>
                  <a:lnTo>
                    <a:pt x="1892427" y="546607"/>
                  </a:lnTo>
                  <a:lnTo>
                    <a:pt x="1888236" y="559307"/>
                  </a:lnTo>
                  <a:lnTo>
                    <a:pt x="1883664" y="571754"/>
                  </a:lnTo>
                  <a:lnTo>
                    <a:pt x="1878711" y="584072"/>
                  </a:lnTo>
                </a:path>
                <a:path w="1965960" h="1749425">
                  <a:moveTo>
                    <a:pt x="1553718" y="323723"/>
                  </a:moveTo>
                  <a:lnTo>
                    <a:pt x="1566799" y="309625"/>
                  </a:lnTo>
                  <a:lnTo>
                    <a:pt x="1580388" y="296544"/>
                  </a:lnTo>
                  <a:lnTo>
                    <a:pt x="1594485" y="284606"/>
                  </a:lnTo>
                  <a:lnTo>
                    <a:pt x="1609217" y="273685"/>
                  </a:lnTo>
                </a:path>
                <a:path w="1965960" h="1749425">
                  <a:moveTo>
                    <a:pt x="1266570" y="238506"/>
                  </a:moveTo>
                  <a:lnTo>
                    <a:pt x="1274952" y="225679"/>
                  </a:lnTo>
                  <a:lnTo>
                    <a:pt x="1283970" y="213487"/>
                  </a:lnTo>
                  <a:lnTo>
                    <a:pt x="1293368" y="201802"/>
                  </a:lnTo>
                  <a:lnTo>
                    <a:pt x="1303274" y="190626"/>
                  </a:lnTo>
                </a:path>
                <a:path w="1965960" h="1749425">
                  <a:moveTo>
                    <a:pt x="936510" y="121793"/>
                  </a:moveTo>
                  <a:lnTo>
                    <a:pt x="945464" y="139064"/>
                  </a:lnTo>
                  <a:lnTo>
                    <a:pt x="953401" y="157099"/>
                  </a:lnTo>
                  <a:lnTo>
                    <a:pt x="960323" y="176021"/>
                  </a:lnTo>
                  <a:lnTo>
                    <a:pt x="966177" y="195580"/>
                  </a:lnTo>
                </a:path>
                <a:path w="1965960" h="1749425">
                  <a:moveTo>
                    <a:pt x="374053" y="368172"/>
                  </a:moveTo>
                  <a:lnTo>
                    <a:pt x="376859" y="353441"/>
                  </a:lnTo>
                  <a:lnTo>
                    <a:pt x="380123" y="338708"/>
                  </a:lnTo>
                  <a:lnTo>
                    <a:pt x="383844" y="324104"/>
                  </a:lnTo>
                  <a:lnTo>
                    <a:pt x="388023" y="309499"/>
                  </a:lnTo>
                </a:path>
              </a:pathLst>
            </a:custGeom>
            <a:ln w="9525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56666" y="3589401"/>
            <a:ext cx="117729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LTS-Suporte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  longo termo  </a:t>
            </a:r>
            <a:r>
              <a:rPr sz="1400" spc="-15" dirty="0">
                <a:latin typeface="Arial"/>
                <a:cs typeface="Arial"/>
              </a:rPr>
              <a:t>Versão</a:t>
            </a:r>
            <a:r>
              <a:rPr sz="1400" spc="-1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estável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13204" y="3820667"/>
            <a:ext cx="421640" cy="92710"/>
            <a:chOff x="2013204" y="3820667"/>
            <a:chExt cx="421640" cy="92710"/>
          </a:xfrm>
        </p:grpSpPr>
        <p:sp>
          <p:nvSpPr>
            <p:cNvPr id="10" name="object 10"/>
            <p:cNvSpPr/>
            <p:nvPr/>
          </p:nvSpPr>
          <p:spPr>
            <a:xfrm>
              <a:off x="2013204" y="3849369"/>
              <a:ext cx="338455" cy="64135"/>
            </a:xfrm>
            <a:custGeom>
              <a:avLst/>
              <a:gdLst/>
              <a:ahLst/>
              <a:cxnLst/>
              <a:rect l="l" t="t" r="r" b="b"/>
              <a:pathLst>
                <a:path w="338455" h="64135">
                  <a:moveTo>
                    <a:pt x="335025" y="0"/>
                  </a:moveTo>
                  <a:lnTo>
                    <a:pt x="0" y="34975"/>
                  </a:lnTo>
                  <a:lnTo>
                    <a:pt x="3047" y="63665"/>
                  </a:lnTo>
                  <a:lnTo>
                    <a:pt x="337946" y="28663"/>
                  </a:lnTo>
                  <a:lnTo>
                    <a:pt x="335025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45182" y="3820667"/>
              <a:ext cx="89662" cy="8606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7532" y="237871"/>
            <a:ext cx="23996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Testar o</a:t>
            </a:r>
            <a:r>
              <a:rPr spc="-110" dirty="0"/>
              <a:t> </a:t>
            </a:r>
            <a:r>
              <a:rPr spc="-5" dirty="0"/>
              <a:t>NodeJS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5863" y="836675"/>
            <a:ext cx="8482965" cy="4297680"/>
            <a:chOff x="435863" y="836675"/>
            <a:chExt cx="8482965" cy="4297680"/>
          </a:xfrm>
        </p:grpSpPr>
        <p:sp>
          <p:nvSpPr>
            <p:cNvPr id="4" name="object 4"/>
            <p:cNvSpPr/>
            <p:nvPr/>
          </p:nvSpPr>
          <p:spPr>
            <a:xfrm>
              <a:off x="435863" y="836675"/>
              <a:ext cx="7438643" cy="20955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65063" y="2881883"/>
              <a:ext cx="3448685" cy="2247900"/>
            </a:xfrm>
            <a:custGeom>
              <a:avLst/>
              <a:gdLst/>
              <a:ahLst/>
              <a:cxnLst/>
              <a:rect l="l" t="t" r="r" b="b"/>
              <a:pathLst>
                <a:path w="3448684" h="2247900">
                  <a:moveTo>
                    <a:pt x="1813560" y="0"/>
                  </a:moveTo>
                  <a:lnTo>
                    <a:pt x="1761616" y="2286"/>
                  </a:lnTo>
                  <a:lnTo>
                    <a:pt x="1710563" y="7239"/>
                  </a:lnTo>
                  <a:lnTo>
                    <a:pt x="1661033" y="14732"/>
                  </a:lnTo>
                  <a:lnTo>
                    <a:pt x="1613408" y="24892"/>
                  </a:lnTo>
                  <a:lnTo>
                    <a:pt x="1568195" y="37465"/>
                  </a:lnTo>
                  <a:lnTo>
                    <a:pt x="1525905" y="52578"/>
                  </a:lnTo>
                  <a:lnTo>
                    <a:pt x="1486915" y="69977"/>
                  </a:lnTo>
                  <a:lnTo>
                    <a:pt x="1451864" y="89662"/>
                  </a:lnTo>
                  <a:lnTo>
                    <a:pt x="1421130" y="111633"/>
                  </a:lnTo>
                  <a:lnTo>
                    <a:pt x="1381506" y="95631"/>
                  </a:lnTo>
                  <a:lnTo>
                    <a:pt x="1338707" y="81915"/>
                  </a:lnTo>
                  <a:lnTo>
                    <a:pt x="1293494" y="70612"/>
                  </a:lnTo>
                  <a:lnTo>
                    <a:pt x="1245996" y="61722"/>
                  </a:lnTo>
                  <a:lnTo>
                    <a:pt x="1196847" y="55372"/>
                  </a:lnTo>
                  <a:lnTo>
                    <a:pt x="1146429" y="51562"/>
                  </a:lnTo>
                  <a:lnTo>
                    <a:pt x="1095120" y="50418"/>
                  </a:lnTo>
                  <a:lnTo>
                    <a:pt x="1043432" y="51943"/>
                  </a:lnTo>
                  <a:lnTo>
                    <a:pt x="980313" y="57531"/>
                  </a:lnTo>
                  <a:lnTo>
                    <a:pt x="920750" y="66929"/>
                  </a:lnTo>
                  <a:lnTo>
                    <a:pt x="865251" y="79883"/>
                  </a:lnTo>
                  <a:lnTo>
                    <a:pt x="814197" y="96012"/>
                  </a:lnTo>
                  <a:lnTo>
                    <a:pt x="768223" y="114935"/>
                  </a:lnTo>
                  <a:lnTo>
                    <a:pt x="727837" y="136525"/>
                  </a:lnTo>
                  <a:lnTo>
                    <a:pt x="693547" y="160401"/>
                  </a:lnTo>
                  <a:lnTo>
                    <a:pt x="644906" y="213741"/>
                  </a:lnTo>
                  <a:lnTo>
                    <a:pt x="626237" y="272542"/>
                  </a:lnTo>
                  <a:lnTo>
                    <a:pt x="629412" y="303403"/>
                  </a:lnTo>
                  <a:lnTo>
                    <a:pt x="619251" y="306197"/>
                  </a:lnTo>
                  <a:lnTo>
                    <a:pt x="556640" y="325755"/>
                  </a:lnTo>
                  <a:lnTo>
                    <a:pt x="503047" y="345694"/>
                  </a:lnTo>
                  <a:lnTo>
                    <a:pt x="453644" y="367284"/>
                  </a:lnTo>
                  <a:lnTo>
                    <a:pt x="408432" y="390525"/>
                  </a:lnTo>
                  <a:lnTo>
                    <a:pt x="367664" y="415036"/>
                  </a:lnTo>
                  <a:lnTo>
                    <a:pt x="331215" y="440944"/>
                  </a:lnTo>
                  <a:lnTo>
                    <a:pt x="299338" y="467995"/>
                  </a:lnTo>
                  <a:lnTo>
                    <a:pt x="272034" y="495935"/>
                  </a:lnTo>
                  <a:lnTo>
                    <a:pt x="231394" y="554482"/>
                  </a:lnTo>
                  <a:lnTo>
                    <a:pt x="209803" y="615188"/>
                  </a:lnTo>
                  <a:lnTo>
                    <a:pt x="206375" y="646049"/>
                  </a:lnTo>
                  <a:lnTo>
                    <a:pt x="207899" y="677037"/>
                  </a:lnTo>
                  <a:lnTo>
                    <a:pt x="226440" y="738886"/>
                  </a:lnTo>
                  <a:lnTo>
                    <a:pt x="265811" y="799592"/>
                  </a:lnTo>
                  <a:lnTo>
                    <a:pt x="293497" y="829183"/>
                  </a:lnTo>
                  <a:lnTo>
                    <a:pt x="326644" y="858139"/>
                  </a:lnTo>
                  <a:lnTo>
                    <a:pt x="268350" y="878713"/>
                  </a:lnTo>
                  <a:lnTo>
                    <a:pt x="214884" y="901954"/>
                  </a:lnTo>
                  <a:lnTo>
                    <a:pt x="166624" y="927354"/>
                  </a:lnTo>
                  <a:lnTo>
                    <a:pt x="123825" y="954913"/>
                  </a:lnTo>
                  <a:lnTo>
                    <a:pt x="86868" y="984377"/>
                  </a:lnTo>
                  <a:lnTo>
                    <a:pt x="56007" y="1015479"/>
                  </a:lnTo>
                  <a:lnTo>
                    <a:pt x="31496" y="1048118"/>
                  </a:lnTo>
                  <a:lnTo>
                    <a:pt x="4572" y="1110132"/>
                  </a:lnTo>
                  <a:lnTo>
                    <a:pt x="0" y="1141031"/>
                  </a:lnTo>
                  <a:lnTo>
                    <a:pt x="1143" y="1171663"/>
                  </a:lnTo>
                  <a:lnTo>
                    <a:pt x="20065" y="1231493"/>
                  </a:lnTo>
                  <a:lnTo>
                    <a:pt x="59689" y="1288402"/>
                  </a:lnTo>
                  <a:lnTo>
                    <a:pt x="86995" y="1315364"/>
                  </a:lnTo>
                  <a:lnTo>
                    <a:pt x="118872" y="1341120"/>
                  </a:lnTo>
                  <a:lnTo>
                    <a:pt x="155321" y="1365542"/>
                  </a:lnTo>
                  <a:lnTo>
                    <a:pt x="196087" y="1388452"/>
                  </a:lnTo>
                  <a:lnTo>
                    <a:pt x="241046" y="1409687"/>
                  </a:lnTo>
                  <a:lnTo>
                    <a:pt x="289940" y="1429118"/>
                  </a:lnTo>
                  <a:lnTo>
                    <a:pt x="342773" y="1446593"/>
                  </a:lnTo>
                  <a:lnTo>
                    <a:pt x="399161" y="1461922"/>
                  </a:lnTo>
                  <a:lnTo>
                    <a:pt x="458977" y="1474990"/>
                  </a:lnTo>
                  <a:lnTo>
                    <a:pt x="522224" y="1485607"/>
                  </a:lnTo>
                  <a:lnTo>
                    <a:pt x="481584" y="1522158"/>
                  </a:lnTo>
                  <a:lnTo>
                    <a:pt x="451993" y="1560842"/>
                  </a:lnTo>
                  <a:lnTo>
                    <a:pt x="433577" y="1601114"/>
                  </a:lnTo>
                  <a:lnTo>
                    <a:pt x="426974" y="1642389"/>
                  </a:lnTo>
                  <a:lnTo>
                    <a:pt x="429640" y="1673136"/>
                  </a:lnTo>
                  <a:lnTo>
                    <a:pt x="453644" y="1731886"/>
                  </a:lnTo>
                  <a:lnTo>
                    <a:pt x="500380" y="1785962"/>
                  </a:lnTo>
                  <a:lnTo>
                    <a:pt x="531368" y="1810867"/>
                  </a:lnTo>
                  <a:lnTo>
                    <a:pt x="567182" y="1834146"/>
                  </a:lnTo>
                  <a:lnTo>
                    <a:pt x="607313" y="1855660"/>
                  </a:lnTo>
                  <a:lnTo>
                    <a:pt x="651510" y="1875231"/>
                  </a:lnTo>
                  <a:lnTo>
                    <a:pt x="699643" y="1892719"/>
                  </a:lnTo>
                  <a:lnTo>
                    <a:pt x="751077" y="1907971"/>
                  </a:lnTo>
                  <a:lnTo>
                    <a:pt x="805814" y="1920836"/>
                  </a:lnTo>
                  <a:lnTo>
                    <a:pt x="863219" y="1931174"/>
                  </a:lnTo>
                  <a:lnTo>
                    <a:pt x="923289" y="1938807"/>
                  </a:lnTo>
                  <a:lnTo>
                    <a:pt x="985520" y="1943608"/>
                  </a:lnTo>
                  <a:lnTo>
                    <a:pt x="1049655" y="1945398"/>
                  </a:lnTo>
                  <a:lnTo>
                    <a:pt x="1064260" y="1980920"/>
                  </a:lnTo>
                  <a:lnTo>
                    <a:pt x="1086231" y="2015413"/>
                  </a:lnTo>
                  <a:lnTo>
                    <a:pt x="1115440" y="2048598"/>
                  </a:lnTo>
                  <a:lnTo>
                    <a:pt x="1151636" y="2080221"/>
                  </a:lnTo>
                  <a:lnTo>
                    <a:pt x="1194562" y="2110016"/>
                  </a:lnTo>
                  <a:lnTo>
                    <a:pt x="1229614" y="2130272"/>
                  </a:lnTo>
                  <a:lnTo>
                    <a:pt x="1267206" y="2148954"/>
                  </a:lnTo>
                  <a:lnTo>
                    <a:pt x="1306957" y="2166062"/>
                  </a:lnTo>
                  <a:lnTo>
                    <a:pt x="1348739" y="2181579"/>
                  </a:lnTo>
                  <a:lnTo>
                    <a:pt x="1392428" y="2195494"/>
                  </a:lnTo>
                  <a:lnTo>
                    <a:pt x="1437766" y="2207795"/>
                  </a:lnTo>
                  <a:lnTo>
                    <a:pt x="1484630" y="2218469"/>
                  </a:lnTo>
                  <a:lnTo>
                    <a:pt x="1532636" y="2227501"/>
                  </a:lnTo>
                  <a:lnTo>
                    <a:pt x="1581785" y="2234882"/>
                  </a:lnTo>
                  <a:lnTo>
                    <a:pt x="1631822" y="2240600"/>
                  </a:lnTo>
                  <a:lnTo>
                    <a:pt x="1682368" y="2244637"/>
                  </a:lnTo>
                  <a:lnTo>
                    <a:pt x="1733550" y="2246986"/>
                  </a:lnTo>
                  <a:lnTo>
                    <a:pt x="1784858" y="2247633"/>
                  </a:lnTo>
                  <a:lnTo>
                    <a:pt x="1836292" y="2246565"/>
                  </a:lnTo>
                  <a:lnTo>
                    <a:pt x="1887601" y="2243769"/>
                  </a:lnTo>
                  <a:lnTo>
                    <a:pt x="1938655" y="2239233"/>
                  </a:lnTo>
                  <a:lnTo>
                    <a:pt x="1989074" y="2232945"/>
                  </a:lnTo>
                  <a:lnTo>
                    <a:pt x="2038731" y="2224891"/>
                  </a:lnTo>
                  <a:lnTo>
                    <a:pt x="2087499" y="2215061"/>
                  </a:lnTo>
                  <a:lnTo>
                    <a:pt x="2135124" y="2203441"/>
                  </a:lnTo>
                  <a:lnTo>
                    <a:pt x="2181479" y="2190015"/>
                  </a:lnTo>
                  <a:lnTo>
                    <a:pt x="2226310" y="2174778"/>
                  </a:lnTo>
                  <a:lnTo>
                    <a:pt x="2244979" y="2178424"/>
                  </a:lnTo>
                  <a:lnTo>
                    <a:pt x="2283079" y="2184773"/>
                  </a:lnTo>
                  <a:lnTo>
                    <a:pt x="2360549" y="2193532"/>
                  </a:lnTo>
                  <a:lnTo>
                    <a:pt x="2418461" y="2196710"/>
                  </a:lnTo>
                  <a:lnTo>
                    <a:pt x="2475865" y="2197098"/>
                  </a:lnTo>
                  <a:lnTo>
                    <a:pt x="2532507" y="2194796"/>
                  </a:lnTo>
                  <a:lnTo>
                    <a:pt x="2587879" y="2189901"/>
                  </a:lnTo>
                  <a:lnTo>
                    <a:pt x="2641600" y="2182510"/>
                  </a:lnTo>
                  <a:lnTo>
                    <a:pt x="2693542" y="2172723"/>
                  </a:lnTo>
                  <a:lnTo>
                    <a:pt x="2743200" y="2160635"/>
                  </a:lnTo>
                  <a:lnTo>
                    <a:pt x="2790063" y="2146346"/>
                  </a:lnTo>
                  <a:lnTo>
                    <a:pt x="2834132" y="2129955"/>
                  </a:lnTo>
                  <a:lnTo>
                    <a:pt x="2874644" y="2111552"/>
                  </a:lnTo>
                  <a:lnTo>
                    <a:pt x="2911602" y="2091245"/>
                  </a:lnTo>
                  <a:lnTo>
                    <a:pt x="2944494" y="2069134"/>
                  </a:lnTo>
                  <a:lnTo>
                    <a:pt x="2996438" y="2019858"/>
                  </a:lnTo>
                  <a:lnTo>
                    <a:pt x="3014980" y="1992884"/>
                  </a:lnTo>
                  <a:lnTo>
                    <a:pt x="3074035" y="1986076"/>
                  </a:lnTo>
                  <a:lnTo>
                    <a:pt x="3130804" y="1976120"/>
                  </a:lnTo>
                  <a:lnTo>
                    <a:pt x="3184525" y="1963153"/>
                  </a:lnTo>
                  <a:lnTo>
                    <a:pt x="3234943" y="1947329"/>
                  </a:lnTo>
                  <a:lnTo>
                    <a:pt x="3281299" y="1928799"/>
                  </a:lnTo>
                  <a:lnTo>
                    <a:pt x="3323209" y="1907679"/>
                  </a:lnTo>
                  <a:lnTo>
                    <a:pt x="3365754" y="1880069"/>
                  </a:lnTo>
                  <a:lnTo>
                    <a:pt x="3399282" y="1850682"/>
                  </a:lnTo>
                  <a:lnTo>
                    <a:pt x="3424046" y="1819922"/>
                  </a:lnTo>
                  <a:lnTo>
                    <a:pt x="3447541" y="1756041"/>
                  </a:lnTo>
                  <a:lnTo>
                    <a:pt x="3446271" y="1723745"/>
                  </a:lnTo>
                  <a:lnTo>
                    <a:pt x="3418205" y="1660613"/>
                  </a:lnTo>
                  <a:lnTo>
                    <a:pt x="3391535" y="1630616"/>
                  </a:lnTo>
                  <a:lnTo>
                    <a:pt x="3356610" y="1602219"/>
                  </a:lnTo>
                  <a:lnTo>
                    <a:pt x="3313303" y="1575866"/>
                  </a:lnTo>
                  <a:lnTo>
                    <a:pt x="3261994" y="1551952"/>
                  </a:lnTo>
                  <a:lnTo>
                    <a:pt x="3303142" y="1535099"/>
                  </a:lnTo>
                  <a:lnTo>
                    <a:pt x="3339845" y="1516151"/>
                  </a:lnTo>
                  <a:lnTo>
                    <a:pt x="3371977" y="1495348"/>
                  </a:lnTo>
                  <a:lnTo>
                    <a:pt x="3425570" y="1441754"/>
                  </a:lnTo>
                  <a:lnTo>
                    <a:pt x="3448685" y="1377873"/>
                  </a:lnTo>
                  <a:lnTo>
                    <a:pt x="3445764" y="1346009"/>
                  </a:lnTo>
                  <a:lnTo>
                    <a:pt x="3412743" y="1284833"/>
                  </a:lnTo>
                  <a:lnTo>
                    <a:pt x="3383153" y="1256449"/>
                  </a:lnTo>
                  <a:lnTo>
                    <a:pt x="3345434" y="1230172"/>
                  </a:lnTo>
                  <a:lnTo>
                    <a:pt x="3299841" y="1206461"/>
                  </a:lnTo>
                  <a:lnTo>
                    <a:pt x="3246628" y="1185786"/>
                  </a:lnTo>
                  <a:lnTo>
                    <a:pt x="3186176" y="1168615"/>
                  </a:lnTo>
                  <a:lnTo>
                    <a:pt x="3214496" y="1153845"/>
                  </a:lnTo>
                  <a:lnTo>
                    <a:pt x="3263900" y="1121587"/>
                  </a:lnTo>
                  <a:lnTo>
                    <a:pt x="3313176" y="1074813"/>
                  </a:lnTo>
                  <a:lnTo>
                    <a:pt x="3346831" y="1014120"/>
                  </a:lnTo>
                  <a:lnTo>
                    <a:pt x="3352545" y="983361"/>
                  </a:lnTo>
                  <a:lnTo>
                    <a:pt x="3351021" y="952754"/>
                  </a:lnTo>
                  <a:lnTo>
                    <a:pt x="3327272" y="893064"/>
                  </a:lnTo>
                  <a:lnTo>
                    <a:pt x="3276981" y="837311"/>
                  </a:lnTo>
                  <a:lnTo>
                    <a:pt x="3242437" y="811530"/>
                  </a:lnTo>
                  <a:lnTo>
                    <a:pt x="3201669" y="787527"/>
                  </a:lnTo>
                  <a:lnTo>
                    <a:pt x="3155061" y="765683"/>
                  </a:lnTo>
                  <a:lnTo>
                    <a:pt x="3102737" y="746252"/>
                  </a:lnTo>
                  <a:lnTo>
                    <a:pt x="3044825" y="729488"/>
                  </a:lnTo>
                  <a:lnTo>
                    <a:pt x="3088640" y="687578"/>
                  </a:lnTo>
                  <a:lnTo>
                    <a:pt x="3120136" y="643509"/>
                  </a:lnTo>
                  <a:lnTo>
                    <a:pt x="3139186" y="598043"/>
                  </a:lnTo>
                  <a:lnTo>
                    <a:pt x="3145409" y="551561"/>
                  </a:lnTo>
                  <a:lnTo>
                    <a:pt x="3138805" y="504825"/>
                  </a:lnTo>
                  <a:lnTo>
                    <a:pt x="3113278" y="448945"/>
                  </a:lnTo>
                  <a:lnTo>
                    <a:pt x="3070479" y="397256"/>
                  </a:lnTo>
                  <a:lnTo>
                    <a:pt x="3012186" y="350266"/>
                  </a:lnTo>
                  <a:lnTo>
                    <a:pt x="2977768" y="328676"/>
                  </a:lnTo>
                  <a:lnTo>
                    <a:pt x="2940177" y="308610"/>
                  </a:lnTo>
                  <a:lnTo>
                    <a:pt x="2899537" y="289941"/>
                  </a:lnTo>
                  <a:lnTo>
                    <a:pt x="2855976" y="272796"/>
                  </a:lnTo>
                  <a:lnTo>
                    <a:pt x="2810002" y="257302"/>
                  </a:lnTo>
                  <a:lnTo>
                    <a:pt x="2761488" y="243586"/>
                  </a:lnTo>
                  <a:lnTo>
                    <a:pt x="2710815" y="231521"/>
                  </a:lnTo>
                  <a:lnTo>
                    <a:pt x="2658237" y="221488"/>
                  </a:lnTo>
                  <a:lnTo>
                    <a:pt x="2603881" y="213360"/>
                  </a:lnTo>
                  <a:lnTo>
                    <a:pt x="2548001" y="207137"/>
                  </a:lnTo>
                  <a:lnTo>
                    <a:pt x="2490724" y="203073"/>
                  </a:lnTo>
                  <a:lnTo>
                    <a:pt x="2432431" y="201295"/>
                  </a:lnTo>
                  <a:lnTo>
                    <a:pt x="2373121" y="201676"/>
                  </a:lnTo>
                  <a:lnTo>
                    <a:pt x="2313305" y="204470"/>
                  </a:lnTo>
                  <a:lnTo>
                    <a:pt x="2302510" y="202565"/>
                  </a:lnTo>
                  <a:lnTo>
                    <a:pt x="2264410" y="134239"/>
                  </a:lnTo>
                  <a:lnTo>
                    <a:pt x="2229485" y="103378"/>
                  </a:lnTo>
                  <a:lnTo>
                    <a:pt x="2185035" y="75565"/>
                  </a:lnTo>
                  <a:lnTo>
                    <a:pt x="2131694" y="51181"/>
                  </a:lnTo>
                  <a:lnTo>
                    <a:pt x="2070227" y="30861"/>
                  </a:lnTo>
                  <a:lnTo>
                    <a:pt x="2020951" y="18796"/>
                  </a:lnTo>
                  <a:lnTo>
                    <a:pt x="1970151" y="9779"/>
                  </a:lnTo>
                  <a:lnTo>
                    <a:pt x="1918208" y="3683"/>
                  </a:lnTo>
                  <a:lnTo>
                    <a:pt x="1865884" y="508"/>
                  </a:lnTo>
                  <a:lnTo>
                    <a:pt x="1813560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65063" y="2881883"/>
              <a:ext cx="3448685" cy="2247900"/>
            </a:xfrm>
            <a:custGeom>
              <a:avLst/>
              <a:gdLst/>
              <a:ahLst/>
              <a:cxnLst/>
              <a:rect l="l" t="t" r="r" b="b"/>
              <a:pathLst>
                <a:path w="3448684" h="2247900">
                  <a:moveTo>
                    <a:pt x="2313305" y="204470"/>
                  </a:moveTo>
                  <a:lnTo>
                    <a:pt x="2373121" y="201676"/>
                  </a:lnTo>
                  <a:lnTo>
                    <a:pt x="2432431" y="201295"/>
                  </a:lnTo>
                  <a:lnTo>
                    <a:pt x="2490724" y="203073"/>
                  </a:lnTo>
                  <a:lnTo>
                    <a:pt x="2548001" y="207137"/>
                  </a:lnTo>
                  <a:lnTo>
                    <a:pt x="2603881" y="213360"/>
                  </a:lnTo>
                  <a:lnTo>
                    <a:pt x="2658237" y="221488"/>
                  </a:lnTo>
                  <a:lnTo>
                    <a:pt x="2710815" y="231521"/>
                  </a:lnTo>
                  <a:lnTo>
                    <a:pt x="2761488" y="243586"/>
                  </a:lnTo>
                  <a:lnTo>
                    <a:pt x="2810002" y="257302"/>
                  </a:lnTo>
                  <a:lnTo>
                    <a:pt x="2855976" y="272796"/>
                  </a:lnTo>
                  <a:lnTo>
                    <a:pt x="2899537" y="289941"/>
                  </a:lnTo>
                  <a:lnTo>
                    <a:pt x="2940177" y="308610"/>
                  </a:lnTo>
                  <a:lnTo>
                    <a:pt x="2977768" y="328676"/>
                  </a:lnTo>
                  <a:lnTo>
                    <a:pt x="3012186" y="350266"/>
                  </a:lnTo>
                  <a:lnTo>
                    <a:pt x="3043174" y="373126"/>
                  </a:lnTo>
                  <a:lnTo>
                    <a:pt x="3093846" y="422529"/>
                  </a:lnTo>
                  <a:lnTo>
                    <a:pt x="3128264" y="476377"/>
                  </a:lnTo>
                  <a:lnTo>
                    <a:pt x="3145409" y="551561"/>
                  </a:lnTo>
                  <a:lnTo>
                    <a:pt x="3139186" y="598043"/>
                  </a:lnTo>
                  <a:lnTo>
                    <a:pt x="3120136" y="643509"/>
                  </a:lnTo>
                  <a:lnTo>
                    <a:pt x="3088640" y="687578"/>
                  </a:lnTo>
                  <a:lnTo>
                    <a:pt x="3044825" y="729488"/>
                  </a:lnTo>
                  <a:lnTo>
                    <a:pt x="3102737" y="746252"/>
                  </a:lnTo>
                  <a:lnTo>
                    <a:pt x="3155061" y="765683"/>
                  </a:lnTo>
                  <a:lnTo>
                    <a:pt x="3201669" y="787527"/>
                  </a:lnTo>
                  <a:lnTo>
                    <a:pt x="3242437" y="811530"/>
                  </a:lnTo>
                  <a:lnTo>
                    <a:pt x="3276981" y="837311"/>
                  </a:lnTo>
                  <a:lnTo>
                    <a:pt x="3305429" y="864616"/>
                  </a:lnTo>
                  <a:lnTo>
                    <a:pt x="3342513" y="922655"/>
                  </a:lnTo>
                  <a:lnTo>
                    <a:pt x="3352545" y="983361"/>
                  </a:lnTo>
                  <a:lnTo>
                    <a:pt x="3346831" y="1014120"/>
                  </a:lnTo>
                  <a:lnTo>
                    <a:pt x="3313176" y="1074813"/>
                  </a:lnTo>
                  <a:lnTo>
                    <a:pt x="3284982" y="1104226"/>
                  </a:lnTo>
                  <a:lnTo>
                    <a:pt x="3240405" y="1138135"/>
                  </a:lnTo>
                  <a:lnTo>
                    <a:pt x="3186176" y="1168615"/>
                  </a:lnTo>
                  <a:lnTo>
                    <a:pt x="3246628" y="1185786"/>
                  </a:lnTo>
                  <a:lnTo>
                    <a:pt x="3299841" y="1206461"/>
                  </a:lnTo>
                  <a:lnTo>
                    <a:pt x="3345434" y="1230172"/>
                  </a:lnTo>
                  <a:lnTo>
                    <a:pt x="3383153" y="1256449"/>
                  </a:lnTo>
                  <a:lnTo>
                    <a:pt x="3412743" y="1284833"/>
                  </a:lnTo>
                  <a:lnTo>
                    <a:pt x="3445764" y="1346009"/>
                  </a:lnTo>
                  <a:lnTo>
                    <a:pt x="3448685" y="1377873"/>
                  </a:lnTo>
                  <a:lnTo>
                    <a:pt x="3442081" y="1409941"/>
                  </a:lnTo>
                  <a:lnTo>
                    <a:pt x="3398901" y="1472844"/>
                  </a:lnTo>
                  <a:lnTo>
                    <a:pt x="3339845" y="1516151"/>
                  </a:lnTo>
                  <a:lnTo>
                    <a:pt x="3303142" y="1535099"/>
                  </a:lnTo>
                  <a:lnTo>
                    <a:pt x="3261994" y="1551952"/>
                  </a:lnTo>
                  <a:lnTo>
                    <a:pt x="3313303" y="1575866"/>
                  </a:lnTo>
                  <a:lnTo>
                    <a:pt x="3356610" y="1602219"/>
                  </a:lnTo>
                  <a:lnTo>
                    <a:pt x="3391535" y="1630616"/>
                  </a:lnTo>
                  <a:lnTo>
                    <a:pt x="3418205" y="1660613"/>
                  </a:lnTo>
                  <a:lnTo>
                    <a:pt x="3446271" y="1723745"/>
                  </a:lnTo>
                  <a:lnTo>
                    <a:pt x="3447541" y="1756041"/>
                  </a:lnTo>
                  <a:lnTo>
                    <a:pt x="3440176" y="1788236"/>
                  </a:lnTo>
                  <a:lnTo>
                    <a:pt x="3399282" y="1850682"/>
                  </a:lnTo>
                  <a:lnTo>
                    <a:pt x="3365754" y="1880069"/>
                  </a:lnTo>
                  <a:lnTo>
                    <a:pt x="3323209" y="1907679"/>
                  </a:lnTo>
                  <a:lnTo>
                    <a:pt x="3281299" y="1928799"/>
                  </a:lnTo>
                  <a:lnTo>
                    <a:pt x="3234943" y="1947329"/>
                  </a:lnTo>
                  <a:lnTo>
                    <a:pt x="3184525" y="1963153"/>
                  </a:lnTo>
                  <a:lnTo>
                    <a:pt x="3130804" y="1976120"/>
                  </a:lnTo>
                  <a:lnTo>
                    <a:pt x="3074035" y="1986076"/>
                  </a:lnTo>
                  <a:lnTo>
                    <a:pt x="3014980" y="1992884"/>
                  </a:lnTo>
                  <a:lnTo>
                    <a:pt x="2996438" y="2019858"/>
                  </a:lnTo>
                  <a:lnTo>
                    <a:pt x="2944494" y="2069134"/>
                  </a:lnTo>
                  <a:lnTo>
                    <a:pt x="2911602" y="2091245"/>
                  </a:lnTo>
                  <a:lnTo>
                    <a:pt x="2874644" y="2111552"/>
                  </a:lnTo>
                  <a:lnTo>
                    <a:pt x="2834132" y="2129955"/>
                  </a:lnTo>
                  <a:lnTo>
                    <a:pt x="2790063" y="2146346"/>
                  </a:lnTo>
                  <a:lnTo>
                    <a:pt x="2743200" y="2160635"/>
                  </a:lnTo>
                  <a:lnTo>
                    <a:pt x="2693542" y="2172723"/>
                  </a:lnTo>
                  <a:lnTo>
                    <a:pt x="2641600" y="2182510"/>
                  </a:lnTo>
                  <a:lnTo>
                    <a:pt x="2587879" y="2189901"/>
                  </a:lnTo>
                  <a:lnTo>
                    <a:pt x="2532507" y="2194796"/>
                  </a:lnTo>
                  <a:lnTo>
                    <a:pt x="2475865" y="2197098"/>
                  </a:lnTo>
                  <a:lnTo>
                    <a:pt x="2418461" y="2196710"/>
                  </a:lnTo>
                  <a:lnTo>
                    <a:pt x="2360549" y="2193532"/>
                  </a:lnTo>
                  <a:lnTo>
                    <a:pt x="2302510" y="2187468"/>
                  </a:lnTo>
                  <a:lnTo>
                    <a:pt x="2263902" y="2181757"/>
                  </a:lnTo>
                  <a:lnTo>
                    <a:pt x="2226310" y="2174778"/>
                  </a:lnTo>
                  <a:lnTo>
                    <a:pt x="2181479" y="2190015"/>
                  </a:lnTo>
                  <a:lnTo>
                    <a:pt x="2135124" y="2203441"/>
                  </a:lnTo>
                  <a:lnTo>
                    <a:pt x="2087499" y="2215061"/>
                  </a:lnTo>
                  <a:lnTo>
                    <a:pt x="2038731" y="2224891"/>
                  </a:lnTo>
                  <a:lnTo>
                    <a:pt x="1989074" y="2232945"/>
                  </a:lnTo>
                  <a:lnTo>
                    <a:pt x="1938655" y="2239233"/>
                  </a:lnTo>
                  <a:lnTo>
                    <a:pt x="1887601" y="2243769"/>
                  </a:lnTo>
                  <a:lnTo>
                    <a:pt x="1836292" y="2246565"/>
                  </a:lnTo>
                  <a:lnTo>
                    <a:pt x="1784858" y="2247633"/>
                  </a:lnTo>
                  <a:lnTo>
                    <a:pt x="1733550" y="2246986"/>
                  </a:lnTo>
                  <a:lnTo>
                    <a:pt x="1682368" y="2244637"/>
                  </a:lnTo>
                  <a:lnTo>
                    <a:pt x="1631822" y="2240600"/>
                  </a:lnTo>
                  <a:lnTo>
                    <a:pt x="1581785" y="2234882"/>
                  </a:lnTo>
                  <a:lnTo>
                    <a:pt x="1532636" y="2227501"/>
                  </a:lnTo>
                  <a:lnTo>
                    <a:pt x="1484630" y="2218469"/>
                  </a:lnTo>
                  <a:lnTo>
                    <a:pt x="1437766" y="2207795"/>
                  </a:lnTo>
                  <a:lnTo>
                    <a:pt x="1392428" y="2195494"/>
                  </a:lnTo>
                  <a:lnTo>
                    <a:pt x="1348739" y="2181579"/>
                  </a:lnTo>
                  <a:lnTo>
                    <a:pt x="1306957" y="2166062"/>
                  </a:lnTo>
                  <a:lnTo>
                    <a:pt x="1267206" y="2148954"/>
                  </a:lnTo>
                  <a:lnTo>
                    <a:pt x="1229614" y="2130272"/>
                  </a:lnTo>
                  <a:lnTo>
                    <a:pt x="1194562" y="2110016"/>
                  </a:lnTo>
                  <a:lnTo>
                    <a:pt x="1151636" y="2080221"/>
                  </a:lnTo>
                  <a:lnTo>
                    <a:pt x="1115440" y="2048598"/>
                  </a:lnTo>
                  <a:lnTo>
                    <a:pt x="1086231" y="2015413"/>
                  </a:lnTo>
                  <a:lnTo>
                    <a:pt x="1064260" y="1980920"/>
                  </a:lnTo>
                  <a:lnTo>
                    <a:pt x="1049655" y="1945398"/>
                  </a:lnTo>
                  <a:lnTo>
                    <a:pt x="985520" y="1943608"/>
                  </a:lnTo>
                  <a:lnTo>
                    <a:pt x="923289" y="1938807"/>
                  </a:lnTo>
                  <a:lnTo>
                    <a:pt x="863219" y="1931174"/>
                  </a:lnTo>
                  <a:lnTo>
                    <a:pt x="805814" y="1920836"/>
                  </a:lnTo>
                  <a:lnTo>
                    <a:pt x="751077" y="1907971"/>
                  </a:lnTo>
                  <a:lnTo>
                    <a:pt x="699643" y="1892719"/>
                  </a:lnTo>
                  <a:lnTo>
                    <a:pt x="651510" y="1875231"/>
                  </a:lnTo>
                  <a:lnTo>
                    <a:pt x="607313" y="1855660"/>
                  </a:lnTo>
                  <a:lnTo>
                    <a:pt x="567182" y="1834146"/>
                  </a:lnTo>
                  <a:lnTo>
                    <a:pt x="531368" y="1810867"/>
                  </a:lnTo>
                  <a:lnTo>
                    <a:pt x="500380" y="1785962"/>
                  </a:lnTo>
                  <a:lnTo>
                    <a:pt x="453644" y="1731886"/>
                  </a:lnTo>
                  <a:lnTo>
                    <a:pt x="429640" y="1673136"/>
                  </a:lnTo>
                  <a:lnTo>
                    <a:pt x="426974" y="1642389"/>
                  </a:lnTo>
                  <a:lnTo>
                    <a:pt x="433577" y="1601114"/>
                  </a:lnTo>
                  <a:lnTo>
                    <a:pt x="451993" y="1560842"/>
                  </a:lnTo>
                  <a:lnTo>
                    <a:pt x="481584" y="1522158"/>
                  </a:lnTo>
                  <a:lnTo>
                    <a:pt x="522224" y="1485607"/>
                  </a:lnTo>
                  <a:lnTo>
                    <a:pt x="458977" y="1474990"/>
                  </a:lnTo>
                  <a:lnTo>
                    <a:pt x="399161" y="1461922"/>
                  </a:lnTo>
                  <a:lnTo>
                    <a:pt x="342773" y="1446593"/>
                  </a:lnTo>
                  <a:lnTo>
                    <a:pt x="289940" y="1429118"/>
                  </a:lnTo>
                  <a:lnTo>
                    <a:pt x="241046" y="1409687"/>
                  </a:lnTo>
                  <a:lnTo>
                    <a:pt x="196087" y="1388452"/>
                  </a:lnTo>
                  <a:lnTo>
                    <a:pt x="155321" y="1365542"/>
                  </a:lnTo>
                  <a:lnTo>
                    <a:pt x="118872" y="1341120"/>
                  </a:lnTo>
                  <a:lnTo>
                    <a:pt x="86995" y="1315364"/>
                  </a:lnTo>
                  <a:lnTo>
                    <a:pt x="59689" y="1288402"/>
                  </a:lnTo>
                  <a:lnTo>
                    <a:pt x="20065" y="1231493"/>
                  </a:lnTo>
                  <a:lnTo>
                    <a:pt x="1143" y="1171663"/>
                  </a:lnTo>
                  <a:lnTo>
                    <a:pt x="0" y="1141031"/>
                  </a:lnTo>
                  <a:lnTo>
                    <a:pt x="4572" y="1110132"/>
                  </a:lnTo>
                  <a:lnTo>
                    <a:pt x="31496" y="1048118"/>
                  </a:lnTo>
                  <a:lnTo>
                    <a:pt x="56007" y="1015479"/>
                  </a:lnTo>
                  <a:lnTo>
                    <a:pt x="86868" y="984377"/>
                  </a:lnTo>
                  <a:lnTo>
                    <a:pt x="123825" y="954913"/>
                  </a:lnTo>
                  <a:lnTo>
                    <a:pt x="166624" y="927354"/>
                  </a:lnTo>
                  <a:lnTo>
                    <a:pt x="214884" y="901954"/>
                  </a:lnTo>
                  <a:lnTo>
                    <a:pt x="268350" y="878713"/>
                  </a:lnTo>
                  <a:lnTo>
                    <a:pt x="326644" y="858139"/>
                  </a:lnTo>
                  <a:lnTo>
                    <a:pt x="293497" y="829183"/>
                  </a:lnTo>
                  <a:lnTo>
                    <a:pt x="265811" y="799592"/>
                  </a:lnTo>
                  <a:lnTo>
                    <a:pt x="226440" y="738886"/>
                  </a:lnTo>
                  <a:lnTo>
                    <a:pt x="207899" y="677037"/>
                  </a:lnTo>
                  <a:lnTo>
                    <a:pt x="206375" y="646049"/>
                  </a:lnTo>
                  <a:lnTo>
                    <a:pt x="209803" y="615188"/>
                  </a:lnTo>
                  <a:lnTo>
                    <a:pt x="231394" y="554482"/>
                  </a:lnTo>
                  <a:lnTo>
                    <a:pt x="272034" y="495935"/>
                  </a:lnTo>
                  <a:lnTo>
                    <a:pt x="299338" y="467995"/>
                  </a:lnTo>
                  <a:lnTo>
                    <a:pt x="331215" y="440944"/>
                  </a:lnTo>
                  <a:lnTo>
                    <a:pt x="367664" y="415036"/>
                  </a:lnTo>
                  <a:lnTo>
                    <a:pt x="408432" y="390525"/>
                  </a:lnTo>
                  <a:lnTo>
                    <a:pt x="453644" y="367284"/>
                  </a:lnTo>
                  <a:lnTo>
                    <a:pt x="503047" y="345694"/>
                  </a:lnTo>
                  <a:lnTo>
                    <a:pt x="556640" y="325755"/>
                  </a:lnTo>
                  <a:lnTo>
                    <a:pt x="614299" y="307721"/>
                  </a:lnTo>
                  <a:lnTo>
                    <a:pt x="629412" y="303403"/>
                  </a:lnTo>
                  <a:lnTo>
                    <a:pt x="631571" y="242570"/>
                  </a:lnTo>
                  <a:lnTo>
                    <a:pt x="665734" y="186182"/>
                  </a:lnTo>
                  <a:lnTo>
                    <a:pt x="727837" y="136525"/>
                  </a:lnTo>
                  <a:lnTo>
                    <a:pt x="768223" y="114935"/>
                  </a:lnTo>
                  <a:lnTo>
                    <a:pt x="814197" y="96012"/>
                  </a:lnTo>
                  <a:lnTo>
                    <a:pt x="865251" y="79883"/>
                  </a:lnTo>
                  <a:lnTo>
                    <a:pt x="920750" y="66929"/>
                  </a:lnTo>
                  <a:lnTo>
                    <a:pt x="980313" y="57531"/>
                  </a:lnTo>
                  <a:lnTo>
                    <a:pt x="1043432" y="51943"/>
                  </a:lnTo>
                  <a:lnTo>
                    <a:pt x="1095120" y="50418"/>
                  </a:lnTo>
                  <a:lnTo>
                    <a:pt x="1146429" y="51562"/>
                  </a:lnTo>
                  <a:lnTo>
                    <a:pt x="1196847" y="55372"/>
                  </a:lnTo>
                  <a:lnTo>
                    <a:pt x="1245996" y="61722"/>
                  </a:lnTo>
                  <a:lnTo>
                    <a:pt x="1293494" y="70612"/>
                  </a:lnTo>
                  <a:lnTo>
                    <a:pt x="1338707" y="81915"/>
                  </a:lnTo>
                  <a:lnTo>
                    <a:pt x="1381506" y="95631"/>
                  </a:lnTo>
                  <a:lnTo>
                    <a:pt x="1421130" y="111633"/>
                  </a:lnTo>
                  <a:lnTo>
                    <a:pt x="1451864" y="89662"/>
                  </a:lnTo>
                  <a:lnTo>
                    <a:pt x="1486915" y="69977"/>
                  </a:lnTo>
                  <a:lnTo>
                    <a:pt x="1525905" y="52578"/>
                  </a:lnTo>
                  <a:lnTo>
                    <a:pt x="1568195" y="37465"/>
                  </a:lnTo>
                  <a:lnTo>
                    <a:pt x="1613408" y="24892"/>
                  </a:lnTo>
                  <a:lnTo>
                    <a:pt x="1661033" y="14732"/>
                  </a:lnTo>
                  <a:lnTo>
                    <a:pt x="1710563" y="7239"/>
                  </a:lnTo>
                  <a:lnTo>
                    <a:pt x="1761616" y="2286"/>
                  </a:lnTo>
                  <a:lnTo>
                    <a:pt x="1813560" y="0"/>
                  </a:lnTo>
                  <a:lnTo>
                    <a:pt x="1865884" y="508"/>
                  </a:lnTo>
                  <a:lnTo>
                    <a:pt x="1918208" y="3683"/>
                  </a:lnTo>
                  <a:lnTo>
                    <a:pt x="1970151" y="9779"/>
                  </a:lnTo>
                  <a:lnTo>
                    <a:pt x="2020951" y="18796"/>
                  </a:lnTo>
                  <a:lnTo>
                    <a:pt x="2070227" y="30861"/>
                  </a:lnTo>
                  <a:lnTo>
                    <a:pt x="2131694" y="51181"/>
                  </a:lnTo>
                  <a:lnTo>
                    <a:pt x="2185035" y="75565"/>
                  </a:lnTo>
                  <a:lnTo>
                    <a:pt x="2229485" y="103378"/>
                  </a:lnTo>
                  <a:lnTo>
                    <a:pt x="2264410" y="134239"/>
                  </a:lnTo>
                  <a:lnTo>
                    <a:pt x="2288920" y="167386"/>
                  </a:lnTo>
                  <a:lnTo>
                    <a:pt x="2302510" y="202565"/>
                  </a:lnTo>
                  <a:lnTo>
                    <a:pt x="2313305" y="204470"/>
                  </a:lnTo>
                  <a:close/>
                </a:path>
                <a:path w="3448684" h="2247900">
                  <a:moveTo>
                    <a:pt x="1370964" y="245618"/>
                  </a:moveTo>
                  <a:lnTo>
                    <a:pt x="1370964" y="211201"/>
                  </a:lnTo>
                  <a:lnTo>
                    <a:pt x="1381633" y="177546"/>
                  </a:lnTo>
                  <a:lnTo>
                    <a:pt x="1402968" y="144907"/>
                  </a:lnTo>
                  <a:lnTo>
                    <a:pt x="1434591" y="114046"/>
                  </a:lnTo>
                </a:path>
                <a:path w="3448684" h="2247900">
                  <a:moveTo>
                    <a:pt x="675005" y="361823"/>
                  </a:moveTo>
                  <a:lnTo>
                    <a:pt x="664463" y="347726"/>
                  </a:lnTo>
                  <a:lnTo>
                    <a:pt x="655827" y="333375"/>
                  </a:lnTo>
                  <a:lnTo>
                    <a:pt x="649224" y="318897"/>
                  </a:lnTo>
                  <a:lnTo>
                    <a:pt x="644525" y="304165"/>
                  </a:lnTo>
                </a:path>
                <a:path w="3448684" h="2247900">
                  <a:moveTo>
                    <a:pt x="340487" y="858012"/>
                  </a:moveTo>
                  <a:lnTo>
                    <a:pt x="373761" y="847979"/>
                  </a:lnTo>
                  <a:lnTo>
                    <a:pt x="408050" y="838835"/>
                  </a:lnTo>
                  <a:lnTo>
                    <a:pt x="443230" y="830580"/>
                  </a:lnTo>
                  <a:lnTo>
                    <a:pt x="479425" y="823341"/>
                  </a:lnTo>
                </a:path>
                <a:path w="3448684" h="2247900">
                  <a:moveTo>
                    <a:pt x="686815" y="1499679"/>
                  </a:moveTo>
                  <a:lnTo>
                    <a:pt x="648208" y="1497672"/>
                  </a:lnTo>
                  <a:lnTo>
                    <a:pt x="609853" y="1494688"/>
                  </a:lnTo>
                  <a:lnTo>
                    <a:pt x="571881" y="1490738"/>
                  </a:lnTo>
                  <a:lnTo>
                    <a:pt x="534415" y="1485823"/>
                  </a:lnTo>
                </a:path>
                <a:path w="3448684" h="2247900">
                  <a:moveTo>
                    <a:pt x="1628139" y="1775193"/>
                  </a:moveTo>
                  <a:lnTo>
                    <a:pt x="1599311" y="1800428"/>
                  </a:lnTo>
                  <a:lnTo>
                    <a:pt x="1566037" y="1823948"/>
                  </a:lnTo>
                  <a:lnTo>
                    <a:pt x="1528571" y="1845678"/>
                  </a:lnTo>
                  <a:lnTo>
                    <a:pt x="1487296" y="1865503"/>
                  </a:lnTo>
                  <a:lnTo>
                    <a:pt x="1442465" y="1883346"/>
                  </a:lnTo>
                  <a:lnTo>
                    <a:pt x="1394460" y="1899094"/>
                  </a:lnTo>
                  <a:lnTo>
                    <a:pt x="1343660" y="1912645"/>
                  </a:lnTo>
                  <a:lnTo>
                    <a:pt x="1290446" y="1923910"/>
                  </a:lnTo>
                  <a:lnTo>
                    <a:pt x="1234947" y="1932800"/>
                  </a:lnTo>
                  <a:lnTo>
                    <a:pt x="1177670" y="1939201"/>
                  </a:lnTo>
                  <a:lnTo>
                    <a:pt x="1118869" y="1943023"/>
                  </a:lnTo>
                  <a:lnTo>
                    <a:pt x="1058799" y="1944154"/>
                  </a:lnTo>
                </a:path>
                <a:path w="3448684" h="2247900">
                  <a:moveTo>
                    <a:pt x="2234818" y="2173718"/>
                  </a:moveTo>
                  <a:lnTo>
                    <a:pt x="2174747" y="2159434"/>
                  </a:lnTo>
                  <a:lnTo>
                    <a:pt x="2118741" y="2142008"/>
                  </a:lnTo>
                  <a:lnTo>
                    <a:pt x="2067433" y="2121636"/>
                  </a:lnTo>
                  <a:lnTo>
                    <a:pt x="2021078" y="2098484"/>
                  </a:lnTo>
                </a:path>
                <a:path w="3448684" h="2247900">
                  <a:moveTo>
                    <a:pt x="3027044" y="1993188"/>
                  </a:moveTo>
                  <a:lnTo>
                    <a:pt x="3002026" y="1995055"/>
                  </a:lnTo>
                  <a:lnTo>
                    <a:pt x="2976753" y="1996338"/>
                  </a:lnTo>
                  <a:lnTo>
                    <a:pt x="2951480" y="1997049"/>
                  </a:lnTo>
                  <a:lnTo>
                    <a:pt x="2926207" y="1997163"/>
                  </a:lnTo>
                </a:path>
                <a:path w="3448684" h="2247900">
                  <a:moveTo>
                    <a:pt x="3144646" y="1512735"/>
                  </a:moveTo>
                  <a:lnTo>
                    <a:pt x="3178810" y="1520672"/>
                  </a:lnTo>
                  <a:lnTo>
                    <a:pt x="3211830" y="1529765"/>
                  </a:lnTo>
                  <a:lnTo>
                    <a:pt x="3243199" y="1539976"/>
                  </a:lnTo>
                  <a:lnTo>
                    <a:pt x="3273170" y="1551266"/>
                  </a:lnTo>
                </a:path>
                <a:path w="3448684" h="2247900">
                  <a:moveTo>
                    <a:pt x="3083306" y="1152271"/>
                  </a:moveTo>
                  <a:lnTo>
                    <a:pt x="3111881" y="1155674"/>
                  </a:lnTo>
                  <a:lnTo>
                    <a:pt x="3139947" y="1159941"/>
                  </a:lnTo>
                  <a:lnTo>
                    <a:pt x="3167507" y="1165021"/>
                  </a:lnTo>
                  <a:lnTo>
                    <a:pt x="3194304" y="1170914"/>
                  </a:lnTo>
                </a:path>
                <a:path w="3448684" h="2247900">
                  <a:moveTo>
                    <a:pt x="3045714" y="729234"/>
                  </a:moveTo>
                  <a:lnTo>
                    <a:pt x="3021965" y="747268"/>
                  </a:lnTo>
                  <a:lnTo>
                    <a:pt x="2996057" y="764540"/>
                  </a:lnTo>
                  <a:lnTo>
                    <a:pt x="2968116" y="781050"/>
                  </a:lnTo>
                  <a:lnTo>
                    <a:pt x="2938017" y="796798"/>
                  </a:lnTo>
                </a:path>
                <a:path w="3448684" h="2247900">
                  <a:moveTo>
                    <a:pt x="2200020" y="216281"/>
                  </a:moveTo>
                  <a:lnTo>
                    <a:pt x="2227961" y="212471"/>
                  </a:lnTo>
                  <a:lnTo>
                    <a:pt x="2256155" y="209169"/>
                  </a:lnTo>
                  <a:lnTo>
                    <a:pt x="2284603" y="206502"/>
                  </a:lnTo>
                  <a:lnTo>
                    <a:pt x="2313305" y="204470"/>
                  </a:lnTo>
                </a:path>
              </a:pathLst>
            </a:custGeom>
            <a:ln w="9525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5863" y="3121152"/>
              <a:ext cx="4904232" cy="18760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08903" y="3371850"/>
            <a:ext cx="221615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NPM - É o</a:t>
            </a:r>
            <a:r>
              <a:rPr sz="1400" spc="-2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gerenciador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de pacotes, através</a:t>
            </a:r>
            <a:r>
              <a:rPr sz="1400" spc="-32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do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npm </a:t>
            </a:r>
            <a:r>
              <a:rPr sz="1400" spc="-5" dirty="0">
                <a:latin typeface="Arial"/>
                <a:cs typeface="Arial"/>
              </a:rPr>
              <a:t>vocês </a:t>
            </a:r>
            <a:r>
              <a:rPr sz="1400" dirty="0">
                <a:latin typeface="Arial"/>
                <a:cs typeface="Arial"/>
              </a:rPr>
              <a:t>consegue</a:t>
            </a:r>
            <a:r>
              <a:rPr sz="1400" spc="-24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baixar  </a:t>
            </a:r>
            <a:r>
              <a:rPr sz="1400" dirty="0">
                <a:latin typeface="Arial"/>
                <a:cs typeface="Arial"/>
              </a:rPr>
              <a:t>as bibliotecas do </a:t>
            </a:r>
            <a:r>
              <a:rPr sz="1400" spc="-5" dirty="0">
                <a:latin typeface="Arial"/>
                <a:cs typeface="Arial"/>
              </a:rPr>
              <a:t>Node  </a:t>
            </a:r>
            <a:r>
              <a:rPr sz="1400" dirty="0">
                <a:latin typeface="Arial"/>
                <a:cs typeface="Arial"/>
              </a:rPr>
              <a:t>para </a:t>
            </a:r>
            <a:r>
              <a:rPr sz="1400" spc="-5" dirty="0">
                <a:latin typeface="Arial"/>
                <a:cs typeface="Arial"/>
              </a:rPr>
              <a:t>desenvolver qualquer  </a:t>
            </a:r>
            <a:r>
              <a:rPr sz="1400" dirty="0">
                <a:latin typeface="Arial"/>
                <a:cs typeface="Arial"/>
              </a:rPr>
              <a:t>tipo de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aplicação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" y="571880"/>
            <a:ext cx="8979535" cy="4004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Utilizar o NPM é muito fácil. Suas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utilidades vão além de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um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simples gerenciador de dependência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,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pois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ele 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permite também que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você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crie comandos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de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automatização de tarefas para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seus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projetos que são 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declarados, por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meio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do arquivo package.json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.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A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seguir, veja os principais comandos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e</a:t>
            </a:r>
            <a:r>
              <a:rPr sz="1450" spc="36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seus</a:t>
            </a:r>
            <a:endParaRPr sz="145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respectivos</a:t>
            </a:r>
            <a:r>
              <a:rPr sz="1450" spc="3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significados:</a:t>
            </a:r>
            <a:endParaRPr sz="145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init: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exibe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um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miniquestionário para auxiliar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na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criação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e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descrição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do package.json do seu</a:t>
            </a:r>
            <a:r>
              <a:rPr sz="1450" spc="3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projeto</a:t>
            </a:r>
            <a:endParaRPr sz="145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install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nome_do_módulo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: instala um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no</a:t>
            </a:r>
            <a:r>
              <a:rPr sz="1450" spc="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projeto;</a:t>
            </a:r>
            <a:endParaRPr sz="145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npm install -g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nome_do_módulo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: instala um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</a:t>
            </a:r>
            <a:r>
              <a:rPr sz="1450" spc="2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global;</a:t>
            </a:r>
            <a:endParaRPr sz="1450" dirty="0">
              <a:latin typeface="Arial"/>
              <a:cs typeface="Arial"/>
            </a:endParaRPr>
          </a:p>
          <a:p>
            <a:pPr marL="12700" marR="306705">
              <a:lnSpc>
                <a:spcPct val="100000"/>
              </a:lnSpc>
            </a:pP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install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nome_do_módulo </a:t>
            </a:r>
            <a:r>
              <a:rPr sz="1450" b="1" spc="-10" dirty="0">
                <a:solidFill>
                  <a:srgbClr val="202020"/>
                </a:solidFill>
                <a:latin typeface="Arial"/>
                <a:cs typeface="Arial"/>
              </a:rPr>
              <a:t>--save</a:t>
            </a:r>
            <a:r>
              <a:rPr sz="1450" spc="-10" dirty="0">
                <a:solidFill>
                  <a:srgbClr val="202020"/>
                </a:solidFill>
                <a:latin typeface="Arial"/>
                <a:cs typeface="Arial"/>
              </a:rPr>
              <a:t>: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instala o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e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adiciona-o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no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arquivo package.json, dentro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do 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atributo</a:t>
            </a:r>
            <a:r>
              <a:rPr sz="1450" spc="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"dependencies“;</a:t>
            </a:r>
            <a:endParaRPr sz="1450" dirty="0">
              <a:latin typeface="Arial"/>
              <a:cs typeface="Arial"/>
            </a:endParaRPr>
          </a:p>
          <a:p>
            <a:pPr marL="12700" marR="3398520">
              <a:lnSpc>
                <a:spcPct val="100000"/>
              </a:lnSpc>
            </a:pP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list: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lista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todos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os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módulos que foram instalados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no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projeto; 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list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-g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: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lista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todos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os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módulos globais que foram instalados; 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npm remove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nome_do_módulo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: desinstala um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 do projeto; 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remove -g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nome_do_módulo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: desinstala um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</a:t>
            </a:r>
            <a:r>
              <a:rPr sz="1450" spc="5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global;</a:t>
            </a:r>
            <a:endParaRPr sz="1450" dirty="0">
              <a:latin typeface="Arial"/>
              <a:cs typeface="Arial"/>
            </a:endParaRPr>
          </a:p>
          <a:p>
            <a:pPr marL="12700" marR="189865">
              <a:lnSpc>
                <a:spcPct val="100000"/>
              </a:lnSpc>
              <a:spcBef>
                <a:spcPts val="5"/>
              </a:spcBef>
            </a:pP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remove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nome_do_módulo </a:t>
            </a:r>
            <a:r>
              <a:rPr sz="1450" b="1" spc="-10" dirty="0">
                <a:solidFill>
                  <a:srgbClr val="202020"/>
                </a:solidFill>
                <a:latin typeface="Arial"/>
                <a:cs typeface="Arial"/>
              </a:rPr>
              <a:t>--save</a:t>
            </a:r>
            <a:r>
              <a:rPr sz="1450" spc="-10" dirty="0">
                <a:solidFill>
                  <a:srgbClr val="202020"/>
                </a:solidFill>
                <a:latin typeface="Arial"/>
                <a:cs typeface="Arial"/>
              </a:rPr>
              <a:t>: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desinstala um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do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projeto, removendo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também do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atributo  "dependencies"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do</a:t>
            </a:r>
            <a:r>
              <a:rPr sz="1450" spc="5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package.json;</a:t>
            </a:r>
            <a:endParaRPr sz="1450" dirty="0">
              <a:latin typeface="Arial"/>
              <a:cs typeface="Arial"/>
            </a:endParaRPr>
          </a:p>
          <a:p>
            <a:pPr marL="12700" marR="2628900">
              <a:lnSpc>
                <a:spcPct val="100000"/>
              </a:lnSpc>
            </a:pP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update nome_do_módulo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: atualiza a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versão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de um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do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projeto; 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npm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update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-g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nome_do_módulo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: atualiza a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versão de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um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módulo global; 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</a:t>
            </a:r>
            <a:r>
              <a:rPr sz="1450" b="1" spc="-10" dirty="0">
                <a:solidFill>
                  <a:srgbClr val="202020"/>
                </a:solidFill>
                <a:latin typeface="Arial"/>
                <a:cs typeface="Arial"/>
              </a:rPr>
              <a:t>-v</a:t>
            </a:r>
            <a:r>
              <a:rPr sz="1450" spc="-10" dirty="0">
                <a:solidFill>
                  <a:srgbClr val="202020"/>
                </a:solidFill>
                <a:latin typeface="Arial"/>
                <a:cs typeface="Arial"/>
              </a:rPr>
              <a:t>: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exibe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a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versão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atual do</a:t>
            </a:r>
            <a:r>
              <a:rPr sz="1450" spc="1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NPM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93010" y="0"/>
            <a:ext cx="417702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Principais comandos do</a:t>
            </a:r>
            <a:r>
              <a:rPr spc="-95" dirty="0"/>
              <a:t> </a:t>
            </a:r>
            <a:r>
              <a:rPr spc="-5" dirty="0"/>
              <a:t>NPM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0601" y="62306"/>
            <a:ext cx="40741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Arial"/>
                <a:cs typeface="Arial"/>
              </a:rPr>
              <a:t>Primeiro código com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NodeJs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9119" y="1234439"/>
            <a:ext cx="7537704" cy="2325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3567" y="642366"/>
            <a:ext cx="65544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Criei o meu primeiro arquivo node. Um arquivo Node é simplesmente</a:t>
            </a:r>
            <a:r>
              <a:rPr sz="1600" spc="-17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um  arquivo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JavaScript.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3421" y="62306"/>
            <a:ext cx="62026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Executando arquivos JavaScript no</a:t>
            </a:r>
            <a:r>
              <a:rPr spc="-65" dirty="0"/>
              <a:t> </a:t>
            </a:r>
            <a:r>
              <a:rPr spc="-5" dirty="0"/>
              <a:t>NodeJS</a:t>
            </a:r>
          </a:p>
        </p:txBody>
      </p:sp>
      <p:sp>
        <p:nvSpPr>
          <p:cNvPr id="3" name="object 3"/>
          <p:cNvSpPr/>
          <p:nvPr/>
        </p:nvSpPr>
        <p:spPr>
          <a:xfrm>
            <a:off x="774191" y="1583436"/>
            <a:ext cx="7437120" cy="1487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1165098"/>
            <a:ext cx="8372475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É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um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protocolo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de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transferência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de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dados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na </a:t>
            </a:r>
            <a:r>
              <a:rPr sz="1800" spc="-25" dirty="0">
                <a:solidFill>
                  <a:srgbClr val="575757"/>
                </a:solidFill>
                <a:latin typeface="Arial"/>
                <a:cs typeface="Arial"/>
              </a:rPr>
              <a:t>web. </a:t>
            </a:r>
            <a:r>
              <a:rPr sz="1800" spc="5" dirty="0">
                <a:solidFill>
                  <a:srgbClr val="575757"/>
                </a:solidFill>
                <a:latin typeface="Arial"/>
                <a:cs typeface="Arial"/>
              </a:rPr>
              <a:t>HTTP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é muito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importante </a:t>
            </a:r>
            <a:r>
              <a:rPr sz="1800" spc="-25" dirty="0">
                <a:solidFill>
                  <a:srgbClr val="575757"/>
                </a:solidFill>
                <a:latin typeface="Arial"/>
                <a:cs typeface="Arial"/>
              </a:rPr>
              <a:t>que 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entenda ele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para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que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consigamos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criar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aplicações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Web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mais robustas,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mais 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completas e consigamos melhor entender a estrutura do Node para</a:t>
            </a:r>
            <a:r>
              <a:rPr sz="18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Web.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48303" y="62306"/>
            <a:ext cx="22383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Arial"/>
                <a:cs typeface="Arial"/>
              </a:rPr>
              <a:t>O que é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HTTP?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584961"/>
            <a:ext cx="8077200" cy="1926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22630" algn="just">
              <a:lnSpc>
                <a:spcPct val="114999"/>
              </a:lnSpc>
              <a:spcBef>
                <a:spcPts val="100"/>
              </a:spcBef>
            </a:pPr>
            <a:r>
              <a:rPr sz="1800" spc="-30" dirty="0">
                <a:solidFill>
                  <a:srgbClr val="575757"/>
                </a:solidFill>
                <a:latin typeface="Arial"/>
                <a:cs typeface="Arial"/>
              </a:rPr>
              <a:t>Vamos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criar nossa primeira aplicação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Web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que iremos acessar no</a:t>
            </a:r>
            <a:r>
              <a:rPr sz="1800" spc="-10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nosso  navegador utilizando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JavaScript.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720"/>
              </a:spcBef>
            </a:pP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Tudo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isso graças a um módulo há uma biblioteca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que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já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vem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Node</a:t>
            </a:r>
            <a:r>
              <a:rPr sz="1800" spc="1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chamado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00"/>
              </a:spcBef>
            </a:pPr>
            <a:r>
              <a:rPr sz="1800" b="1" dirty="0">
                <a:solidFill>
                  <a:srgbClr val="575757"/>
                </a:solidFill>
                <a:latin typeface="Arial"/>
                <a:cs typeface="Arial"/>
              </a:rPr>
              <a:t>HTTP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500"/>
              </a:spcBef>
            </a:pP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O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Node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traz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várias bibliotecas e uma das biblioteca e a biblioteca</a:t>
            </a:r>
            <a:r>
              <a:rPr sz="1800" spc="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575757"/>
                </a:solidFill>
                <a:latin typeface="Arial"/>
                <a:cs typeface="Arial"/>
              </a:rPr>
              <a:t>HTTP.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8701" y="62306"/>
            <a:ext cx="55321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Primeira aplicação HTTP com</a:t>
            </a:r>
            <a:r>
              <a:rPr spc="-75" dirty="0"/>
              <a:t> </a:t>
            </a:r>
            <a:r>
              <a:rPr spc="-5" dirty="0"/>
              <a:t>Node.JS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777091"/>
            <a:ext cx="8009255" cy="1776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95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Importar uma biblioteca chamada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http,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 a partir desta biblioteca podemos</a:t>
            </a:r>
            <a:r>
              <a:rPr sz="1800" spc="-1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criar  um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servidor,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e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com isso passar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escutar requisições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que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são feitas em uma  porta</a:t>
            </a:r>
            <a:r>
              <a:rPr sz="1800" spc="-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específica.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714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Quando alguém (algum navegador) disparar uma requisição naquela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porta,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00"/>
              </a:spcBef>
            </a:pP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podemos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recuperar essa requisição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e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fornecer uma</a:t>
            </a:r>
            <a:r>
              <a:rPr sz="1800" spc="-4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resposta.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8701" y="62306"/>
            <a:ext cx="55321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Primeira aplicação HTTP com</a:t>
            </a:r>
            <a:r>
              <a:rPr spc="-75" dirty="0"/>
              <a:t> </a:t>
            </a:r>
            <a:r>
              <a:rPr spc="-5" dirty="0"/>
              <a:t>Node.JS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584961"/>
            <a:ext cx="830389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1950">
              <a:lnSpc>
                <a:spcPct val="114999"/>
              </a:lnSpc>
              <a:spcBef>
                <a:spcPts val="100"/>
              </a:spcBef>
            </a:pPr>
            <a:r>
              <a:rPr sz="1800" b="1" spc="-5" dirty="0">
                <a:solidFill>
                  <a:srgbClr val="575757"/>
                </a:solidFill>
                <a:latin typeface="Arial"/>
                <a:cs typeface="Arial"/>
              </a:rPr>
              <a:t>Primeiro passo: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criar uma variável chamada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http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que vai receber o require</a:t>
            </a:r>
            <a:r>
              <a:rPr sz="1800" spc="-17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da  biblioteca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http: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var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http =</a:t>
            </a:r>
            <a:r>
              <a:rPr sz="18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require(‘http’);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98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Nesse caso estamos incorporando a biblioteca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http. Em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seguida, precisamos</a:t>
            </a:r>
            <a:r>
              <a:rPr sz="1800" spc="-1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criar  (subir) um servidor no Node nós vamos utilizar bastante funções como  argumentos.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8701" y="62306"/>
            <a:ext cx="55321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Primeira aplicação HTTP com</a:t>
            </a:r>
            <a:r>
              <a:rPr spc="-75" dirty="0"/>
              <a:t> </a:t>
            </a:r>
            <a:r>
              <a:rPr spc="-5" dirty="0"/>
              <a:t>Node.JS</a:t>
            </a:r>
          </a:p>
        </p:txBody>
      </p:sp>
      <p:sp>
        <p:nvSpPr>
          <p:cNvPr id="4" name="object 4"/>
          <p:cNvSpPr/>
          <p:nvPr/>
        </p:nvSpPr>
        <p:spPr>
          <a:xfrm>
            <a:off x="1298447" y="2887979"/>
            <a:ext cx="6371844" cy="1834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4069" y="62306"/>
            <a:ext cx="64966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Respondendo requisições HTTP com</a:t>
            </a:r>
            <a:r>
              <a:rPr spc="-100" dirty="0"/>
              <a:t> </a:t>
            </a:r>
            <a:r>
              <a:rPr spc="-5" dirty="0"/>
              <a:t>NodeJS</a:t>
            </a:r>
          </a:p>
        </p:txBody>
      </p:sp>
      <p:sp>
        <p:nvSpPr>
          <p:cNvPr id="3" name="object 3"/>
          <p:cNvSpPr/>
          <p:nvPr/>
        </p:nvSpPr>
        <p:spPr>
          <a:xfrm>
            <a:off x="1397508" y="1057655"/>
            <a:ext cx="6348984" cy="1251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30" y="575919"/>
            <a:ext cx="8255000" cy="28092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b="1" spc="-10" dirty="0">
                <a:solidFill>
                  <a:srgbClr val="575757"/>
                </a:solidFill>
                <a:latin typeface="Arial"/>
                <a:cs typeface="Arial"/>
              </a:rPr>
              <a:t>Linha1</a:t>
            </a:r>
            <a:r>
              <a:rPr sz="1400" b="1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–</a:t>
            </a:r>
            <a:r>
              <a:rPr sz="1400" spc="-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criamos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uma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variável</a:t>
            </a:r>
            <a:r>
              <a:rPr sz="1400" spc="-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http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recebendo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biblioteca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http.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400" b="1" spc="-5" dirty="0">
                <a:solidFill>
                  <a:srgbClr val="575757"/>
                </a:solidFill>
                <a:latin typeface="Arial"/>
                <a:cs typeface="Arial"/>
              </a:rPr>
              <a:t>Linha</a:t>
            </a:r>
            <a:r>
              <a:rPr sz="1400" b="1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75757"/>
                </a:solidFill>
                <a:latin typeface="Arial"/>
                <a:cs typeface="Arial"/>
              </a:rPr>
              <a:t>2</a:t>
            </a:r>
            <a:r>
              <a:rPr sz="1400" b="1" spc="-1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–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criamos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 variável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server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que</a:t>
            </a:r>
            <a:r>
              <a:rPr sz="1400" spc="-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vai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 receber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o</a:t>
            </a:r>
            <a:r>
              <a:rPr sz="1400" spc="-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método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createServer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da</a:t>
            </a:r>
            <a:r>
              <a:rPr sz="1400" spc="-2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variável</a:t>
            </a:r>
            <a:r>
              <a:rPr sz="1400" spc="-2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http,</a:t>
            </a:r>
            <a:r>
              <a:rPr sz="14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Esse</a:t>
            </a:r>
            <a:r>
              <a:rPr sz="1400" spc="-4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método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tem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como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parâmetro</a:t>
            </a:r>
            <a:r>
              <a:rPr sz="14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do</a:t>
            </a:r>
            <a:r>
              <a:rPr sz="1400" spc="-3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uma</a:t>
            </a:r>
            <a:r>
              <a:rPr sz="1400" spc="-3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função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com</a:t>
            </a:r>
            <a:r>
              <a:rPr sz="1400" spc="-3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dois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75757"/>
                </a:solidFill>
                <a:latin typeface="Arial"/>
                <a:cs typeface="Arial"/>
              </a:rPr>
              <a:t>parâmetros: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requisicao</a:t>
            </a:r>
            <a:r>
              <a:rPr sz="14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1400" spc="-8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resposta.</a:t>
            </a:r>
            <a:endParaRPr sz="1400">
              <a:latin typeface="Arial"/>
              <a:cs typeface="Arial"/>
            </a:endParaRPr>
          </a:p>
          <a:p>
            <a:pPr marL="12700" marR="3202305">
              <a:lnSpc>
                <a:spcPts val="2800"/>
              </a:lnSpc>
              <a:spcBef>
                <a:spcPts val="265"/>
              </a:spcBef>
            </a:pP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400" spc="-11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75757"/>
                </a:solidFill>
                <a:latin typeface="Arial"/>
                <a:cs typeface="Arial"/>
              </a:rPr>
              <a:t>função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requisicao</a:t>
            </a:r>
            <a:r>
              <a:rPr sz="14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vai</a:t>
            </a:r>
            <a:r>
              <a:rPr sz="1400" spc="-1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receber</a:t>
            </a:r>
            <a:r>
              <a:rPr sz="14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requisição</a:t>
            </a:r>
            <a:r>
              <a:rPr sz="14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do</a:t>
            </a:r>
            <a:r>
              <a:rPr sz="1400" spc="-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cliente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(browser) 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575757"/>
                </a:solidFill>
                <a:latin typeface="Arial"/>
                <a:cs typeface="Arial"/>
              </a:rPr>
              <a:t>função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resposta 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vai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fornecer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400" spc="-27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75757"/>
                </a:solidFill>
                <a:latin typeface="Arial"/>
                <a:cs typeface="Arial"/>
              </a:rPr>
              <a:t>resposta.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400" spc="-10" dirty="0">
                <a:solidFill>
                  <a:srgbClr val="575757"/>
                </a:solidFill>
                <a:latin typeface="Arial"/>
                <a:cs typeface="Arial"/>
              </a:rPr>
              <a:t>No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final,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informamos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ao</a:t>
            </a:r>
            <a:r>
              <a:rPr sz="1400" spc="-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servidor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qual</a:t>
            </a:r>
            <a:r>
              <a:rPr sz="1400" spc="-4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é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porta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que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ele</a:t>
            </a:r>
            <a:r>
              <a:rPr sz="1400" spc="-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está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escutando.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75757"/>
                </a:solidFill>
                <a:latin typeface="Arial"/>
                <a:cs typeface="Arial"/>
              </a:rPr>
              <a:t>No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caso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utilizaremos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aqui</a:t>
            </a:r>
            <a:r>
              <a:rPr sz="1400" spc="-4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400" spc="-8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porta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8181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O</a:t>
            </a:r>
            <a:r>
              <a:rPr sz="1400" spc="-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método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server.listen(8181)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informa</a:t>
            </a:r>
            <a:r>
              <a:rPr sz="1400" spc="-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que</a:t>
            </a:r>
            <a:r>
              <a:rPr sz="14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estará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escutando</a:t>
            </a:r>
            <a:r>
              <a:rPr sz="14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porta</a:t>
            </a:r>
            <a:r>
              <a:rPr sz="1400" spc="-1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75757"/>
                </a:solidFill>
                <a:latin typeface="Arial"/>
                <a:cs typeface="Arial"/>
              </a:rPr>
              <a:t>8181.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4069" y="62306"/>
            <a:ext cx="649668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Respondendo requisições HTTP com</a:t>
            </a:r>
            <a:r>
              <a:rPr spc="-100" dirty="0"/>
              <a:t> </a:t>
            </a:r>
            <a:r>
              <a:rPr spc="-5" dirty="0"/>
              <a:t>NodeJS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590143"/>
            <a:ext cx="8455660" cy="2653483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0"/>
              </a:spcBef>
            </a:pPr>
            <a:r>
              <a:rPr sz="1700" b="1" dirty="0">
                <a:solidFill>
                  <a:srgbClr val="575757"/>
                </a:solidFill>
                <a:latin typeface="Arial"/>
                <a:cs typeface="Arial"/>
              </a:rPr>
              <a:t>Express.js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é um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framework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para </a:t>
            </a:r>
            <a:r>
              <a:rPr sz="1700" dirty="0" err="1">
                <a:solidFill>
                  <a:srgbClr val="575757"/>
                </a:solidFill>
                <a:latin typeface="Arial"/>
                <a:cs typeface="Arial"/>
              </a:rPr>
              <a:t>desenvolvimento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 Backend com o</a:t>
            </a:r>
            <a:r>
              <a:rPr sz="1700" spc="1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Node.js.</a:t>
            </a:r>
            <a:endParaRPr sz="1700" dirty="0">
              <a:latin typeface="Arial"/>
              <a:cs typeface="Arial"/>
            </a:endParaRPr>
          </a:p>
          <a:p>
            <a:pPr marL="12700" marR="849630" algn="just">
              <a:lnSpc>
                <a:spcPct val="104900"/>
              </a:lnSpc>
              <a:spcBef>
                <a:spcPts val="1050"/>
              </a:spcBef>
            </a:pP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Framework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é basicamente </a:t>
            </a:r>
            <a:r>
              <a:rPr sz="1700" dirty="0" err="1">
                <a:solidFill>
                  <a:srgbClr val="575757"/>
                </a:solidFill>
                <a:latin typeface="Arial"/>
                <a:cs typeface="Arial"/>
              </a:rPr>
              <a:t>uma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575757"/>
                </a:solidFill>
                <a:latin typeface="Arial"/>
                <a:cs typeface="Arial"/>
              </a:rPr>
              <a:t>super </a:t>
            </a:r>
            <a:r>
              <a:rPr sz="1700" b="1" dirty="0" err="1">
                <a:solidFill>
                  <a:srgbClr val="575757"/>
                </a:solidFill>
                <a:latin typeface="Arial"/>
                <a:cs typeface="Arial"/>
              </a:rPr>
              <a:t>biblioteca</a:t>
            </a:r>
            <a:r>
              <a:rPr sz="1700" b="1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que ajuda bastante a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fazer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um  determinada</a:t>
            </a:r>
            <a:r>
              <a:rPr sz="1700" spc="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spc="-5" dirty="0" err="1">
                <a:solidFill>
                  <a:srgbClr val="575757"/>
                </a:solidFill>
                <a:latin typeface="Arial"/>
                <a:cs typeface="Arial"/>
              </a:rPr>
              <a:t>tarefa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.</a:t>
            </a:r>
            <a:endParaRPr sz="17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455"/>
              </a:spcBef>
            </a:pP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Express é uma super biblioteca que nos ajuda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fortemente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a construir</a:t>
            </a:r>
            <a:r>
              <a:rPr sz="1700" spc="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aplicações.</a:t>
            </a:r>
            <a:endParaRPr sz="1700" dirty="0">
              <a:latin typeface="Arial"/>
              <a:cs typeface="Arial"/>
            </a:endParaRPr>
          </a:p>
          <a:p>
            <a:pPr marL="12700" marR="987425" algn="just">
              <a:lnSpc>
                <a:spcPct val="105400"/>
              </a:lnSpc>
              <a:spcBef>
                <a:spcPts val="1040"/>
              </a:spcBef>
            </a:pP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Ele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traz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várias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ferramentas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que podem ser utilizadas em nossos códigos para  desenvolver aplicações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Web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robustas e completas.</a:t>
            </a:r>
            <a:endParaRPr sz="1700" dirty="0">
              <a:latin typeface="Arial"/>
              <a:cs typeface="Arial"/>
            </a:endParaRPr>
          </a:p>
          <a:p>
            <a:pPr marL="12700" marR="5080" algn="just">
              <a:lnSpc>
                <a:spcPct val="105000"/>
              </a:lnSpc>
              <a:spcBef>
                <a:spcPts val="1195"/>
              </a:spcBef>
            </a:pPr>
            <a:endParaRPr sz="17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6510" y="62306"/>
            <a:ext cx="402145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 que é o Express.js e</a:t>
            </a:r>
            <a:r>
              <a:rPr spc="-60" dirty="0"/>
              <a:t> </a:t>
            </a:r>
            <a:r>
              <a:rPr spc="-5" dirty="0"/>
              <a:t>NPM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6510" y="0"/>
            <a:ext cx="40208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 que é o Express.js e</a:t>
            </a:r>
            <a:r>
              <a:rPr spc="-75" dirty="0"/>
              <a:t> </a:t>
            </a:r>
            <a:r>
              <a:rPr spc="-5" dirty="0"/>
              <a:t>NPM</a:t>
            </a:r>
          </a:p>
        </p:txBody>
      </p:sp>
      <p:sp>
        <p:nvSpPr>
          <p:cNvPr id="3" name="object 3"/>
          <p:cNvSpPr/>
          <p:nvPr/>
        </p:nvSpPr>
        <p:spPr>
          <a:xfrm>
            <a:off x="4128515" y="470915"/>
            <a:ext cx="4931664" cy="46725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8584" y="552069"/>
            <a:ext cx="389699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100"/>
              </a:spcBef>
            </a:pPr>
            <a:r>
              <a:rPr sz="1800" b="1" dirty="0" err="1">
                <a:solidFill>
                  <a:srgbClr val="575757"/>
                </a:solidFill>
                <a:latin typeface="Arial"/>
                <a:cs typeface="Arial"/>
              </a:rPr>
              <a:t>npm</a:t>
            </a:r>
            <a:r>
              <a:rPr sz="1800" b="1" dirty="0">
                <a:solidFill>
                  <a:srgbClr val="575757"/>
                </a:solidFill>
                <a:latin typeface="Arial"/>
                <a:cs typeface="Arial"/>
              </a:rPr>
              <a:t> init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iniciar um projeto</a:t>
            </a:r>
            <a:r>
              <a:rPr sz="1800" spc="-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Node.js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Precisa iniciar um projeto para </a:t>
            </a:r>
            <a:r>
              <a:rPr sz="1400" dirty="0" err="1">
                <a:solidFill>
                  <a:srgbClr val="FF0000"/>
                </a:solidFill>
                <a:latin typeface="Arial"/>
                <a:cs typeface="Arial"/>
              </a:rPr>
              <a:t>ficar</a:t>
            </a:r>
            <a:r>
              <a:rPr lang="pt-BR" sz="1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10" dirty="0" err="1">
                <a:solidFill>
                  <a:srgbClr val="FF0000"/>
                </a:solidFill>
                <a:latin typeface="Arial"/>
                <a:cs typeface="Arial"/>
              </a:rPr>
              <a:t>mais</a:t>
            </a:r>
            <a:r>
              <a:rPr lang="pt-BR" sz="14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10" dirty="0" err="1">
                <a:solidFill>
                  <a:srgbClr val="FF0000"/>
                </a:solidFill>
                <a:latin typeface="Arial"/>
                <a:cs typeface="Arial"/>
              </a:rPr>
              <a:t>fácil</a:t>
            </a:r>
            <a:endParaRPr sz="1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gerenciar a instalação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1400" spc="-2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biblioteca.</a:t>
            </a:r>
          </a:p>
          <a:p>
            <a:pPr marL="12700" marR="508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Porque quando inicia um projeto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NPM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é criado  um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arquivo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package.json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.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Esse 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arquivo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fala</a:t>
            </a:r>
            <a:r>
              <a:rPr sz="1400" spc="-2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tudo  do seu</a:t>
            </a:r>
            <a:r>
              <a:rPr sz="14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projeto.</a:t>
            </a:r>
          </a:p>
        </p:txBody>
      </p:sp>
      <p:sp>
        <p:nvSpPr>
          <p:cNvPr id="5" name="object 5"/>
          <p:cNvSpPr/>
          <p:nvPr/>
        </p:nvSpPr>
        <p:spPr>
          <a:xfrm>
            <a:off x="131063" y="2508504"/>
            <a:ext cx="3962400" cy="20101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3377" y="584961"/>
            <a:ext cx="8121650" cy="1461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9905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Agora que iniciamos um projeto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NPM,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um projeto Node.js, iremos instalar</a:t>
            </a:r>
            <a:r>
              <a:rPr sz="1800" spc="-1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o  express.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3900"/>
              </a:lnSpc>
              <a:spcBef>
                <a:spcPts val="1415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site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oficial do express </a:t>
            </a: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0095A7"/>
                  </a:solidFill>
                </a:uFill>
                <a:latin typeface="Arial"/>
                <a:cs typeface="Arial"/>
                <a:hlinkClick r:id="rId2"/>
              </a:rPr>
              <a:t>https://expressjs.com/pt-br/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você pode ver que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tem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um 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comando de</a:t>
            </a:r>
            <a:r>
              <a:rPr sz="1800" spc="-3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instalação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6510" y="62306"/>
            <a:ext cx="402145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 que é o Express.js e</a:t>
            </a:r>
            <a:r>
              <a:rPr spc="-60" dirty="0"/>
              <a:t> </a:t>
            </a:r>
            <a:r>
              <a:rPr spc="-5" dirty="0"/>
              <a:t>NPM</a:t>
            </a:r>
          </a:p>
        </p:txBody>
      </p:sp>
      <p:sp>
        <p:nvSpPr>
          <p:cNvPr id="4" name="object 4"/>
          <p:cNvSpPr/>
          <p:nvPr/>
        </p:nvSpPr>
        <p:spPr>
          <a:xfrm>
            <a:off x="2895600" y="1773570"/>
            <a:ext cx="5702808" cy="3288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421" y="1435735"/>
            <a:ext cx="789622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Esse --save é o comando de instalação do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NPM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que vai salvar os arquivos</a:t>
            </a:r>
            <a:r>
              <a:rPr sz="1800" spc="-17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do  Express na sua pasta do seu</a:t>
            </a:r>
            <a:r>
              <a:rPr sz="1800" spc="-9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projeto.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6510" y="62306"/>
            <a:ext cx="402145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Arial"/>
                <a:cs typeface="Arial"/>
              </a:rPr>
              <a:t>O que é o Express.js e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NPM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725423"/>
            <a:ext cx="7487411" cy="347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633729"/>
            <a:ext cx="4162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575757"/>
                </a:solidFill>
                <a:latin typeface="Arial"/>
                <a:cs typeface="Arial"/>
              </a:rPr>
              <a:t>Vamos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rodar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npm install express</a:t>
            </a:r>
            <a:r>
              <a:rPr sz="1800" spc="-3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--save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245" y="3243571"/>
            <a:ext cx="8129905" cy="133096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Gerou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um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erro proposital durante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instalação de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alguns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pacotes</a:t>
            </a:r>
            <a:r>
              <a:rPr sz="1800" spc="-229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desempenho.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5000"/>
              </a:lnSpc>
              <a:spcBef>
                <a:spcPts val="12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Ele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está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recusando a instalar o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express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 nosso projeto porque o nosso</a:t>
            </a:r>
            <a:r>
              <a:rPr sz="1800" spc="-10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projeto  já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tem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um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nome dele.Por que o nosso projeto já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tem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um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nome</a:t>
            </a:r>
            <a:r>
              <a:rPr sz="18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express.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56510" y="62306"/>
            <a:ext cx="402145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 que é o Express.js e</a:t>
            </a:r>
            <a:r>
              <a:rPr spc="-60" dirty="0"/>
              <a:t> </a:t>
            </a:r>
            <a:r>
              <a:rPr spc="-5" dirty="0"/>
              <a:t>NPM</a:t>
            </a:r>
          </a:p>
        </p:txBody>
      </p:sp>
      <p:sp>
        <p:nvSpPr>
          <p:cNvPr id="5" name="object 5"/>
          <p:cNvSpPr/>
          <p:nvPr/>
        </p:nvSpPr>
        <p:spPr>
          <a:xfrm>
            <a:off x="312420" y="1028700"/>
            <a:ext cx="7684008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6510" y="62306"/>
            <a:ext cx="402145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latin typeface="Arial"/>
                <a:cs typeface="Arial"/>
              </a:rPr>
              <a:t>O que é o Express.js e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5" dirty="0">
                <a:latin typeface="Arial"/>
                <a:cs typeface="Arial"/>
              </a:rPr>
              <a:t>NPM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14727" y="573023"/>
            <a:ext cx="5332730" cy="2385060"/>
            <a:chOff x="2014727" y="573023"/>
            <a:chExt cx="5332730" cy="2385060"/>
          </a:xfrm>
        </p:grpSpPr>
        <p:sp>
          <p:nvSpPr>
            <p:cNvPr id="4" name="object 4"/>
            <p:cNvSpPr/>
            <p:nvPr/>
          </p:nvSpPr>
          <p:spPr>
            <a:xfrm>
              <a:off x="2014727" y="573023"/>
              <a:ext cx="4838700" cy="23850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62272" y="992123"/>
              <a:ext cx="76326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25772" y="1020571"/>
              <a:ext cx="2821305" cy="33655"/>
            </a:xfrm>
            <a:custGeom>
              <a:avLst/>
              <a:gdLst/>
              <a:ahLst/>
              <a:cxnLst/>
              <a:rect l="l" t="t" r="r" b="b"/>
              <a:pathLst>
                <a:path w="2821304" h="33655">
                  <a:moveTo>
                    <a:pt x="2821305" y="14097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12573" y="19050"/>
                  </a:lnTo>
                  <a:lnTo>
                    <a:pt x="2821178" y="33147"/>
                  </a:lnTo>
                  <a:lnTo>
                    <a:pt x="2821305" y="1409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86740" y="3057144"/>
            <a:ext cx="7487411" cy="3474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77111" y="3505199"/>
            <a:ext cx="6106668" cy="16382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24725" y="903224"/>
            <a:ext cx="11576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Mudar o</a:t>
            </a:r>
            <a:r>
              <a:rPr sz="1400" spc="-2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nome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465" y="3870452"/>
            <a:ext cx="8062595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4400"/>
              </a:lnSpc>
              <a:spcBef>
                <a:spcPts val="5"/>
              </a:spcBef>
            </a:pPr>
            <a:r>
              <a:rPr sz="1800" spc="-30" dirty="0">
                <a:solidFill>
                  <a:srgbClr val="575757"/>
                </a:solidFill>
                <a:latin typeface="Arial"/>
                <a:cs typeface="Arial"/>
              </a:rPr>
              <a:t>Veja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que criou uma pasta, essa pasta é muito comum em projetos Node,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aonde 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fica instalado todas as biblioteca do seu</a:t>
            </a:r>
            <a:r>
              <a:rPr sz="1800" spc="-6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projeto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6510" y="62306"/>
            <a:ext cx="402145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 que é o Express.js e</a:t>
            </a:r>
            <a:r>
              <a:rPr spc="-60" dirty="0"/>
              <a:t> </a:t>
            </a:r>
            <a:r>
              <a:rPr spc="-5" dirty="0"/>
              <a:t>NPM</a:t>
            </a:r>
          </a:p>
        </p:txBody>
      </p:sp>
      <p:sp>
        <p:nvSpPr>
          <p:cNvPr id="4" name="object 4"/>
          <p:cNvSpPr/>
          <p:nvPr/>
        </p:nvSpPr>
        <p:spPr>
          <a:xfrm>
            <a:off x="167639" y="573023"/>
            <a:ext cx="5475732" cy="2990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7859" y="579119"/>
            <a:ext cx="405130" cy="2941320"/>
          </a:xfrm>
          <a:custGeom>
            <a:avLst/>
            <a:gdLst/>
            <a:ahLst/>
            <a:cxnLst/>
            <a:rect l="l" t="t" r="r" b="b"/>
            <a:pathLst>
              <a:path w="405129" h="2941320">
                <a:moveTo>
                  <a:pt x="0" y="0"/>
                </a:moveTo>
                <a:lnTo>
                  <a:pt x="46354" y="5333"/>
                </a:lnTo>
                <a:lnTo>
                  <a:pt x="89026" y="20574"/>
                </a:lnTo>
                <a:lnTo>
                  <a:pt x="126618" y="44576"/>
                </a:lnTo>
                <a:lnTo>
                  <a:pt x="157987" y="75945"/>
                </a:lnTo>
                <a:lnTo>
                  <a:pt x="181863" y="113537"/>
                </a:lnTo>
                <a:lnTo>
                  <a:pt x="197103" y="156209"/>
                </a:lnTo>
                <a:lnTo>
                  <a:pt x="202437" y="202691"/>
                </a:lnTo>
                <a:lnTo>
                  <a:pt x="202437" y="1304163"/>
                </a:lnTo>
                <a:lnTo>
                  <a:pt x="207899" y="1350644"/>
                </a:lnTo>
                <a:lnTo>
                  <a:pt x="223138" y="1393316"/>
                </a:lnTo>
                <a:lnTo>
                  <a:pt x="247014" y="1430908"/>
                </a:lnTo>
                <a:lnTo>
                  <a:pt x="278384" y="1462404"/>
                </a:lnTo>
                <a:lnTo>
                  <a:pt x="315975" y="1486280"/>
                </a:lnTo>
                <a:lnTo>
                  <a:pt x="358648" y="1501520"/>
                </a:lnTo>
                <a:lnTo>
                  <a:pt x="405002" y="1506854"/>
                </a:lnTo>
                <a:lnTo>
                  <a:pt x="358648" y="1512188"/>
                </a:lnTo>
                <a:lnTo>
                  <a:pt x="315975" y="1527428"/>
                </a:lnTo>
                <a:lnTo>
                  <a:pt x="278384" y="1551431"/>
                </a:lnTo>
                <a:lnTo>
                  <a:pt x="247014" y="1582800"/>
                </a:lnTo>
                <a:lnTo>
                  <a:pt x="223138" y="1620392"/>
                </a:lnTo>
                <a:lnTo>
                  <a:pt x="207899" y="1663064"/>
                </a:lnTo>
                <a:lnTo>
                  <a:pt x="202437" y="1709546"/>
                </a:lnTo>
                <a:lnTo>
                  <a:pt x="202437" y="2738628"/>
                </a:lnTo>
                <a:lnTo>
                  <a:pt x="197103" y="2785110"/>
                </a:lnTo>
                <a:lnTo>
                  <a:pt x="181863" y="2827781"/>
                </a:lnTo>
                <a:lnTo>
                  <a:pt x="157987" y="2865373"/>
                </a:lnTo>
                <a:lnTo>
                  <a:pt x="126618" y="2896742"/>
                </a:lnTo>
                <a:lnTo>
                  <a:pt x="89026" y="2920746"/>
                </a:lnTo>
                <a:lnTo>
                  <a:pt x="46354" y="2935985"/>
                </a:lnTo>
                <a:lnTo>
                  <a:pt x="0" y="2941319"/>
                </a:lnTo>
              </a:path>
            </a:pathLst>
          </a:custGeom>
          <a:ln w="9525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23508" y="1613153"/>
            <a:ext cx="268986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Podemos dizer que esse  package.json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identidade,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ele</a:t>
            </a:r>
            <a:r>
              <a:rPr sz="1400" spc="-2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é  o </a:t>
            </a:r>
            <a:r>
              <a:rPr sz="1400" spc="-5" dirty="0">
                <a:latin typeface="Arial"/>
                <a:cs typeface="Arial"/>
              </a:rPr>
              <a:t>RG </a:t>
            </a:r>
            <a:r>
              <a:rPr sz="1400" dirty="0">
                <a:latin typeface="Arial"/>
                <a:cs typeface="Arial"/>
              </a:rPr>
              <a:t>do projeto. .Ele fala tudo do  seu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projeto.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2475" y="672211"/>
            <a:ext cx="7988934" cy="6228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800" spc="-30" dirty="0">
                <a:solidFill>
                  <a:srgbClr val="575757"/>
                </a:solidFill>
                <a:latin typeface="Arial"/>
                <a:cs typeface="Arial"/>
              </a:rPr>
              <a:t>Vamos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iniciar um projeto express. Primeira coisa que a gente precisamos</a:t>
            </a:r>
            <a:r>
              <a:rPr sz="1800" spc="-1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fazer  para iniciar um projeto express é criar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um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arquivo inicial chamado</a:t>
            </a:r>
            <a:r>
              <a:rPr sz="1800" spc="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index.js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475" y="3864661"/>
            <a:ext cx="5049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Isso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é o suficiente para abrir um servidor</a:t>
            </a:r>
            <a:r>
              <a:rPr sz="18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express.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62306"/>
            <a:ext cx="91440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z="2800" spc="-5" dirty="0">
                <a:solidFill>
                  <a:srgbClr val="575757"/>
                </a:solidFill>
              </a:rPr>
              <a:t>I</a:t>
            </a:r>
            <a:r>
              <a:rPr lang="pt-BR" sz="2800" spc="-5" dirty="0">
                <a:solidFill>
                  <a:srgbClr val="575757"/>
                </a:solidFill>
                <a:latin typeface="Arial"/>
                <a:cs typeface="Arial"/>
              </a:rPr>
              <a:t>niciando um projeto com </a:t>
            </a:r>
            <a:r>
              <a:rPr lang="pt-BR" sz="2800" spc="-5" dirty="0">
                <a:solidFill>
                  <a:srgbClr val="575757"/>
                </a:solidFill>
              </a:rPr>
              <a:t>E</a:t>
            </a:r>
            <a:r>
              <a:rPr lang="pt-BR" sz="2800" spc="-5" dirty="0">
                <a:solidFill>
                  <a:srgbClr val="575757"/>
                </a:solidFill>
                <a:latin typeface="Arial"/>
                <a:cs typeface="Arial"/>
              </a:rPr>
              <a:t>xpress</a:t>
            </a:r>
            <a:endParaRPr spc="-5" dirty="0"/>
          </a:p>
        </p:txBody>
      </p:sp>
      <p:sp>
        <p:nvSpPr>
          <p:cNvPr id="5" name="object 5"/>
          <p:cNvSpPr/>
          <p:nvPr/>
        </p:nvSpPr>
        <p:spPr>
          <a:xfrm>
            <a:off x="252475" y="1362454"/>
            <a:ext cx="7988933" cy="24522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2475" y="4186152"/>
            <a:ext cx="7338059" cy="7223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5026" y="62306"/>
            <a:ext cx="8547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Rotas</a:t>
            </a:r>
          </a:p>
        </p:txBody>
      </p:sp>
      <p:sp>
        <p:nvSpPr>
          <p:cNvPr id="3" name="object 3"/>
          <p:cNvSpPr/>
          <p:nvPr/>
        </p:nvSpPr>
        <p:spPr>
          <a:xfrm>
            <a:off x="428244" y="1389888"/>
            <a:ext cx="3314700" cy="580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03976" y="2314954"/>
            <a:ext cx="2880360" cy="2702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56888" y="1434083"/>
            <a:ext cx="202565" cy="812165"/>
          </a:xfrm>
          <a:custGeom>
            <a:avLst/>
            <a:gdLst/>
            <a:ahLst/>
            <a:cxnLst/>
            <a:rect l="l" t="t" r="r" b="b"/>
            <a:pathLst>
              <a:path w="202564" h="812164">
                <a:moveTo>
                  <a:pt x="0" y="0"/>
                </a:moveTo>
                <a:lnTo>
                  <a:pt x="39370" y="8000"/>
                </a:lnTo>
                <a:lnTo>
                  <a:pt x="71500" y="29590"/>
                </a:lnTo>
                <a:lnTo>
                  <a:pt x="93090" y="61849"/>
                </a:lnTo>
                <a:lnTo>
                  <a:pt x="101091" y="101218"/>
                </a:lnTo>
                <a:lnTo>
                  <a:pt x="101091" y="304545"/>
                </a:lnTo>
                <a:lnTo>
                  <a:pt x="109092" y="344042"/>
                </a:lnTo>
                <a:lnTo>
                  <a:pt x="130683" y="376300"/>
                </a:lnTo>
                <a:lnTo>
                  <a:pt x="162813" y="397890"/>
                </a:lnTo>
                <a:lnTo>
                  <a:pt x="202184" y="405891"/>
                </a:lnTo>
                <a:lnTo>
                  <a:pt x="162813" y="413892"/>
                </a:lnTo>
                <a:lnTo>
                  <a:pt x="130683" y="435482"/>
                </a:lnTo>
                <a:lnTo>
                  <a:pt x="109092" y="467740"/>
                </a:lnTo>
                <a:lnTo>
                  <a:pt x="101091" y="507110"/>
                </a:lnTo>
                <a:lnTo>
                  <a:pt x="101091" y="710438"/>
                </a:lnTo>
                <a:lnTo>
                  <a:pt x="93090" y="749934"/>
                </a:lnTo>
                <a:lnTo>
                  <a:pt x="71500" y="782192"/>
                </a:lnTo>
                <a:lnTo>
                  <a:pt x="39370" y="803782"/>
                </a:lnTo>
                <a:lnTo>
                  <a:pt x="0" y="811783"/>
                </a:lnTo>
              </a:path>
            </a:pathLst>
          </a:custGeom>
          <a:ln w="9525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0245" y="658494"/>
            <a:ext cx="7892415" cy="2581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0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 último slide iniciamos a nossa aplicação express. Quando nós iniciamos</a:t>
            </a:r>
            <a:r>
              <a:rPr sz="1800" spc="-17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a  nossa aplicação através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do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endereço localhost:3000 apareceu um</a:t>
            </a:r>
            <a:r>
              <a:rPr sz="1800" spc="-3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erro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Arial"/>
              <a:cs typeface="Arial"/>
            </a:endParaRPr>
          </a:p>
          <a:p>
            <a:pPr marL="407733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Esse erro acontece porque</a:t>
            </a:r>
            <a:r>
              <a:rPr sz="1400" spc="-1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não</a:t>
            </a:r>
            <a:endParaRPr sz="1400">
              <a:latin typeface="Arial"/>
              <a:cs typeface="Arial"/>
            </a:endParaRPr>
          </a:p>
          <a:p>
            <a:pPr marL="4077335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existe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rota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Para resolver esse erro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é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necessário usar</a:t>
            </a:r>
            <a:r>
              <a:rPr sz="1800" spc="-11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rotas.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800" spc="-30" dirty="0">
                <a:solidFill>
                  <a:srgbClr val="575757"/>
                </a:solidFill>
                <a:latin typeface="Arial"/>
                <a:cs typeface="Arial"/>
              </a:rPr>
              <a:t>Vamos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trazer a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rota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para a</a:t>
            </a:r>
            <a:r>
              <a:rPr sz="1800" spc="-3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programação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703" y="4080764"/>
            <a:ext cx="816102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100"/>
              </a:spcBef>
            </a:pPr>
            <a:r>
              <a:rPr sz="1700" spc="-45" dirty="0">
                <a:solidFill>
                  <a:srgbClr val="575757"/>
                </a:solidFill>
                <a:latin typeface="Arial"/>
                <a:cs typeface="Arial"/>
              </a:rPr>
              <a:t>Toda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rota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que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for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criar precisa devolver uma resposta. Nesse caso estou devolvendo  num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formato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de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texto.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Essa resposta pode ser uma página HTML, um</a:t>
            </a:r>
            <a:r>
              <a:rPr sz="1700" spc="4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arquivo...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45026" y="62306"/>
            <a:ext cx="8547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Rotas</a:t>
            </a:r>
          </a:p>
        </p:txBody>
      </p:sp>
      <p:sp>
        <p:nvSpPr>
          <p:cNvPr id="4" name="object 4"/>
          <p:cNvSpPr/>
          <p:nvPr/>
        </p:nvSpPr>
        <p:spPr>
          <a:xfrm>
            <a:off x="1066801" y="643126"/>
            <a:ext cx="6871714" cy="3300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3564" y="62306"/>
            <a:ext cx="18897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Outras</a:t>
            </a:r>
            <a:r>
              <a:rPr spc="-95" dirty="0"/>
              <a:t> </a:t>
            </a:r>
            <a:r>
              <a:rPr spc="-5" dirty="0"/>
              <a:t>Rotas</a:t>
            </a:r>
          </a:p>
        </p:txBody>
      </p:sp>
      <p:sp>
        <p:nvSpPr>
          <p:cNvPr id="3" name="object 3"/>
          <p:cNvSpPr/>
          <p:nvPr/>
        </p:nvSpPr>
        <p:spPr>
          <a:xfrm>
            <a:off x="1112519" y="573023"/>
            <a:ext cx="6918959" cy="4183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3564" y="62306"/>
            <a:ext cx="18897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Outras</a:t>
            </a:r>
            <a:r>
              <a:rPr spc="-95" dirty="0"/>
              <a:t> </a:t>
            </a:r>
            <a:r>
              <a:rPr spc="-5" dirty="0"/>
              <a:t>Rotas</a:t>
            </a:r>
          </a:p>
        </p:txBody>
      </p:sp>
      <p:sp>
        <p:nvSpPr>
          <p:cNvPr id="3" name="object 3"/>
          <p:cNvSpPr/>
          <p:nvPr/>
        </p:nvSpPr>
        <p:spPr>
          <a:xfrm>
            <a:off x="252984" y="1159763"/>
            <a:ext cx="7982711" cy="1019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59453" y="1023874"/>
            <a:ext cx="4006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4188" y="886713"/>
            <a:ext cx="4006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ota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874984"/>
            <a:ext cx="8374380" cy="3192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5"/>
              </a:spcBef>
            </a:pPr>
            <a:r>
              <a:rPr sz="1800" spc="-55" dirty="0">
                <a:solidFill>
                  <a:srgbClr val="575757"/>
                </a:solidFill>
                <a:latin typeface="Arial"/>
                <a:cs typeface="Arial"/>
              </a:rPr>
              <a:t>Toda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vez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que fazemos uma modificação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nosso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projeto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nós tínhamos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que 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interromper o nosso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servidor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 iniciar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novamente.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Isso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em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uma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aplicação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real não 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acontece.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E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como fazer</a:t>
            </a:r>
            <a:r>
              <a:rPr sz="1800" spc="-7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isso?</a:t>
            </a: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Para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resolver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esse tipo de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problema para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nossa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aplicação precisamos trabalhar 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com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um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módulo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do Node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chamado Nodemon.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Nodemon é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um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módulo  responsável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por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iniciar o seu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servidor,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reiniciar a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sua aplicação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sempre que ele  detectar alguma modificação. Como</a:t>
            </a:r>
            <a:r>
              <a:rPr sz="1800" spc="-4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instalar:</a:t>
            </a:r>
            <a:endParaRPr sz="1800">
              <a:latin typeface="Arial"/>
              <a:cs typeface="Arial"/>
            </a:endParaRPr>
          </a:p>
          <a:p>
            <a:pPr marL="12700" marR="43815" algn="just">
              <a:lnSpc>
                <a:spcPct val="113900"/>
              </a:lnSpc>
              <a:spcBef>
                <a:spcPts val="1415"/>
              </a:spcBef>
            </a:pPr>
            <a:r>
              <a:rPr sz="1800" b="1" dirty="0">
                <a:solidFill>
                  <a:srgbClr val="575757"/>
                </a:solidFill>
                <a:latin typeface="Arial"/>
                <a:cs typeface="Arial"/>
              </a:rPr>
              <a:t>npm </a:t>
            </a:r>
            <a:r>
              <a:rPr sz="1800" b="1" spc="-5" dirty="0">
                <a:solidFill>
                  <a:srgbClr val="575757"/>
                </a:solidFill>
                <a:latin typeface="Arial"/>
                <a:cs typeface="Arial"/>
              </a:rPr>
              <a:t>install </a:t>
            </a:r>
            <a:r>
              <a:rPr sz="1800" b="1" dirty="0">
                <a:solidFill>
                  <a:srgbClr val="575757"/>
                </a:solidFill>
                <a:latin typeface="Arial"/>
                <a:cs typeface="Arial"/>
              </a:rPr>
              <a:t>nodemon -g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( -g,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significa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que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você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quer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instalar globalmente no seu  computador)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4837" y="47066"/>
            <a:ext cx="7998459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5155" marR="5080" indent="-1863089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Roboto"/>
                <a:cs typeface="Roboto"/>
              </a:rPr>
              <a:t>Como instalar o </a:t>
            </a:r>
            <a:r>
              <a:rPr spc="-10" dirty="0">
                <a:latin typeface="Roboto"/>
                <a:cs typeface="Roboto"/>
              </a:rPr>
              <a:t>Nodemon </a:t>
            </a:r>
            <a:r>
              <a:rPr spc="-5" dirty="0">
                <a:latin typeface="Roboto"/>
                <a:cs typeface="Roboto"/>
              </a:rPr>
              <a:t>no </a:t>
            </a:r>
            <a:r>
              <a:rPr spc="-10" dirty="0">
                <a:latin typeface="Roboto"/>
                <a:cs typeface="Roboto"/>
              </a:rPr>
              <a:t>Node.js </a:t>
            </a:r>
            <a:r>
              <a:rPr spc="-5" dirty="0">
                <a:latin typeface="Roboto"/>
                <a:cs typeface="Roboto"/>
              </a:rPr>
              <a:t>para o </a:t>
            </a:r>
            <a:r>
              <a:rPr spc="-10" dirty="0">
                <a:latin typeface="Roboto"/>
                <a:cs typeface="Roboto"/>
              </a:rPr>
              <a:t>servidor </a:t>
            </a:r>
            <a:r>
              <a:rPr spc="-15" dirty="0">
                <a:latin typeface="Roboto"/>
                <a:cs typeface="Roboto"/>
              </a:rPr>
              <a:t>ser  </a:t>
            </a:r>
            <a:r>
              <a:rPr spc="-20" dirty="0">
                <a:latin typeface="Roboto"/>
                <a:cs typeface="Roboto"/>
              </a:rPr>
              <a:t>recarregado</a:t>
            </a:r>
            <a:r>
              <a:rPr spc="100" dirty="0">
                <a:latin typeface="Roboto"/>
                <a:cs typeface="Roboto"/>
              </a:rPr>
              <a:t> </a:t>
            </a:r>
            <a:r>
              <a:rPr spc="-5" dirty="0">
                <a:latin typeface="Roboto"/>
                <a:cs typeface="Roboto"/>
              </a:rPr>
              <a:t>automaticamente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188" y="62306"/>
            <a:ext cx="33305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Carregando</a:t>
            </a:r>
            <a:r>
              <a:rPr spc="-105" dirty="0"/>
              <a:t> </a:t>
            </a:r>
            <a:r>
              <a:rPr spc="-5" dirty="0"/>
              <a:t>automático</a:t>
            </a:r>
          </a:p>
        </p:txBody>
      </p:sp>
      <p:sp>
        <p:nvSpPr>
          <p:cNvPr id="3" name="object 3"/>
          <p:cNvSpPr/>
          <p:nvPr/>
        </p:nvSpPr>
        <p:spPr>
          <a:xfrm>
            <a:off x="94488" y="696468"/>
            <a:ext cx="9049512" cy="30556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817458"/>
            <a:ext cx="7822565" cy="11163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Como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exibir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arquivos html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nas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suas rotas. Porque até agora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estamos</a:t>
            </a:r>
            <a:r>
              <a:rPr sz="1800" spc="1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75757"/>
                </a:solidFill>
                <a:latin typeface="Arial"/>
                <a:cs typeface="Arial"/>
              </a:rPr>
              <a:t>apenas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exibindo</a:t>
            </a:r>
            <a:r>
              <a:rPr sz="1800" spc="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textos.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800" spc="-30" dirty="0">
                <a:solidFill>
                  <a:srgbClr val="575757"/>
                </a:solidFill>
                <a:latin typeface="Arial"/>
                <a:cs typeface="Arial"/>
              </a:rPr>
              <a:t>Vamos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primeiro criar uma pasta para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deixar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os arquivos</a:t>
            </a:r>
            <a:r>
              <a:rPr sz="1800" spc="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html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7259" y="62306"/>
            <a:ext cx="217614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Exibindo</a:t>
            </a:r>
            <a:r>
              <a:rPr spc="-195" dirty="0"/>
              <a:t> </a:t>
            </a:r>
            <a:r>
              <a:rPr spc="-5" dirty="0"/>
              <a:t>HTML</a:t>
            </a:r>
          </a:p>
        </p:txBody>
      </p:sp>
      <p:sp>
        <p:nvSpPr>
          <p:cNvPr id="4" name="object 4"/>
          <p:cNvSpPr/>
          <p:nvPr/>
        </p:nvSpPr>
        <p:spPr>
          <a:xfrm>
            <a:off x="312420" y="2078735"/>
            <a:ext cx="8340852" cy="2875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664" y="62306"/>
            <a:ext cx="18072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Views</a:t>
            </a:r>
            <a:r>
              <a:rPr spc="-190" dirty="0"/>
              <a:t> </a:t>
            </a:r>
            <a:r>
              <a:rPr spc="-5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245" y="4375200"/>
            <a:ext cx="8110220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A variável dirname vai pegar o caminho que </a:t>
            </a:r>
            <a:r>
              <a:rPr sz="1700" spc="-5" dirty="0">
                <a:latin typeface="Arial"/>
                <a:cs typeface="Arial"/>
              </a:rPr>
              <a:t>está </a:t>
            </a:r>
            <a:r>
              <a:rPr sz="1700" dirty="0">
                <a:latin typeface="Arial"/>
                <a:cs typeface="Arial"/>
              </a:rPr>
              <a:t>a pasta e vai concatenar com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mais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Arial"/>
                <a:cs typeface="Arial"/>
              </a:rPr>
              <a:t>o caminho do meu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html.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34183" y="573023"/>
            <a:ext cx="4250436" cy="373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8A0FA3D-878C-C891-F2DA-44AE44A9C6CB}"/>
              </a:ext>
            </a:extLst>
          </p:cNvPr>
          <p:cNvCxnSpPr>
            <a:cxnSpLocks/>
          </p:cNvCxnSpPr>
          <p:nvPr/>
        </p:nvCxnSpPr>
        <p:spPr>
          <a:xfrm>
            <a:off x="4953000" y="1733550"/>
            <a:ext cx="7620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855" y="905306"/>
            <a:ext cx="8187690" cy="325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9420">
              <a:lnSpc>
                <a:spcPct val="117200"/>
              </a:lnSpc>
              <a:spcBef>
                <a:spcPts val="100"/>
              </a:spcBef>
            </a:pP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O </a:t>
            </a:r>
            <a:r>
              <a:rPr sz="1450" spc="-10" dirty="0">
                <a:solidFill>
                  <a:srgbClr val="202020"/>
                </a:solidFill>
                <a:latin typeface="Arial"/>
                <a:cs typeface="Arial"/>
              </a:rPr>
              <a:t>EJS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(Embedded JavaScript Templating)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é uma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Template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Engine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que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podemos utilizar com 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Node.js.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Chamamos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de template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engine, que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é um motor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de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templates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que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tem a função de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desenhar</a:t>
            </a:r>
            <a:r>
              <a:rPr sz="1450" spc="5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HTML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Existem diversas outras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bibliotecas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para desenhar HTML para exibir HTML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no</a:t>
            </a:r>
            <a:r>
              <a:rPr sz="1450" spc="33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Node.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EJS é o melhor,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porque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é simples e tem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todas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as funcionalidades que precisamos e permite</a:t>
            </a:r>
            <a:r>
              <a:rPr sz="1450" spc="3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usar</a:t>
            </a:r>
            <a:endParaRPr sz="1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código em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JavaScript dentro do</a:t>
            </a:r>
            <a:r>
              <a:rPr sz="1450" spc="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HTML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1º Para Iniciar um </a:t>
            </a:r>
            <a:r>
              <a:rPr sz="1450" spc="-20" dirty="0">
                <a:solidFill>
                  <a:srgbClr val="202020"/>
                </a:solidFill>
                <a:latin typeface="Arial"/>
                <a:cs typeface="Arial"/>
              </a:rPr>
              <a:t>novo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projeto node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temos que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digitar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=&gt;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</a:t>
            </a:r>
            <a:r>
              <a:rPr sz="1450" b="1" spc="14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init;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2º Instalar o </a:t>
            </a: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express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=&gt;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install express</a:t>
            </a:r>
            <a:r>
              <a:rPr sz="1450" b="1" spc="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b="1" spc="-5" dirty="0">
                <a:solidFill>
                  <a:srgbClr val="202020"/>
                </a:solidFill>
                <a:latin typeface="Arial"/>
                <a:cs typeface="Arial"/>
              </a:rPr>
              <a:t>--save;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50" spc="-5" dirty="0">
                <a:solidFill>
                  <a:srgbClr val="202020"/>
                </a:solidFill>
                <a:latin typeface="Arial"/>
                <a:cs typeface="Arial"/>
              </a:rPr>
              <a:t>3º </a:t>
            </a:r>
            <a:r>
              <a:rPr sz="1450" dirty="0">
                <a:solidFill>
                  <a:srgbClr val="202020"/>
                </a:solidFill>
                <a:latin typeface="Arial"/>
                <a:cs typeface="Arial"/>
              </a:rPr>
              <a:t>Instalar o EJS =&gt; </a:t>
            </a:r>
            <a:r>
              <a:rPr sz="1450" b="1" dirty="0">
                <a:solidFill>
                  <a:srgbClr val="202020"/>
                </a:solidFill>
                <a:latin typeface="Arial"/>
                <a:cs typeface="Arial"/>
              </a:rPr>
              <a:t>npm install ejs</a:t>
            </a:r>
            <a:r>
              <a:rPr sz="1450" b="1" spc="-1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1450" b="1" spc="-20" dirty="0">
                <a:solidFill>
                  <a:srgbClr val="202020"/>
                </a:solidFill>
                <a:latin typeface="Arial"/>
                <a:cs typeface="Arial"/>
              </a:rPr>
              <a:t>--save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8369" y="62306"/>
            <a:ext cx="62725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Utilizando template engine EJS com</a:t>
            </a:r>
            <a:r>
              <a:rPr spc="-55" dirty="0"/>
              <a:t> </a:t>
            </a:r>
            <a:r>
              <a:rPr spc="-5" dirty="0"/>
              <a:t>Node.js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3477895"/>
            <a:ext cx="81514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575757"/>
                </a:solidFill>
                <a:latin typeface="Arial"/>
                <a:cs typeface="Arial"/>
              </a:rPr>
              <a:t>Quero </a:t>
            </a:r>
            <a:r>
              <a:rPr sz="1500" spc="-5" dirty="0">
                <a:solidFill>
                  <a:srgbClr val="575757"/>
                </a:solidFill>
                <a:latin typeface="Arial"/>
                <a:cs typeface="Arial"/>
              </a:rPr>
              <a:t>que ele exiba HTML e é </a:t>
            </a:r>
            <a:r>
              <a:rPr sz="1500" dirty="0">
                <a:solidFill>
                  <a:srgbClr val="575757"/>
                </a:solidFill>
                <a:latin typeface="Arial"/>
                <a:cs typeface="Arial"/>
              </a:rPr>
              <a:t>por isso </a:t>
            </a:r>
            <a:r>
              <a:rPr sz="1500" spc="-5" dirty="0">
                <a:solidFill>
                  <a:srgbClr val="575757"/>
                </a:solidFill>
                <a:latin typeface="Arial"/>
                <a:cs typeface="Arial"/>
              </a:rPr>
              <a:t>que a gente </a:t>
            </a:r>
            <a:r>
              <a:rPr sz="1500" spc="-15" dirty="0">
                <a:solidFill>
                  <a:srgbClr val="575757"/>
                </a:solidFill>
                <a:latin typeface="Arial"/>
                <a:cs typeface="Arial"/>
              </a:rPr>
              <a:t>vai </a:t>
            </a:r>
            <a:r>
              <a:rPr sz="1500" dirty="0">
                <a:solidFill>
                  <a:srgbClr val="575757"/>
                </a:solidFill>
                <a:latin typeface="Arial"/>
                <a:cs typeface="Arial"/>
              </a:rPr>
              <a:t>aprender </a:t>
            </a:r>
            <a:r>
              <a:rPr sz="1500" spc="-5" dirty="0">
                <a:solidFill>
                  <a:srgbClr val="575757"/>
                </a:solidFill>
                <a:latin typeface="Arial"/>
                <a:cs typeface="Arial"/>
              </a:rPr>
              <a:t>a </a:t>
            </a:r>
            <a:r>
              <a:rPr sz="1500" dirty="0">
                <a:solidFill>
                  <a:srgbClr val="575757"/>
                </a:solidFill>
                <a:latin typeface="Arial"/>
                <a:cs typeface="Arial"/>
              </a:rPr>
              <a:t>configurar </a:t>
            </a:r>
            <a:r>
              <a:rPr sz="1500" spc="-5" dirty="0">
                <a:solidFill>
                  <a:srgbClr val="575757"/>
                </a:solidFill>
                <a:latin typeface="Arial"/>
                <a:cs typeface="Arial"/>
              </a:rPr>
              <a:t>o EJS </a:t>
            </a:r>
            <a:r>
              <a:rPr sz="1500" dirty="0">
                <a:solidFill>
                  <a:srgbClr val="575757"/>
                </a:solidFill>
                <a:latin typeface="Arial"/>
                <a:cs typeface="Arial"/>
              </a:rPr>
              <a:t>no</a:t>
            </a:r>
            <a:r>
              <a:rPr sz="1500" spc="-204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500" spc="-5" dirty="0">
                <a:solidFill>
                  <a:srgbClr val="575757"/>
                </a:solidFill>
                <a:latin typeface="Arial"/>
                <a:cs typeface="Arial"/>
              </a:rPr>
              <a:t>express.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4401" y="62306"/>
            <a:ext cx="57581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Configurando e exibindo HTML com</a:t>
            </a:r>
            <a:r>
              <a:rPr spc="-100" dirty="0"/>
              <a:t> </a:t>
            </a:r>
            <a:r>
              <a:rPr spc="-5" dirty="0"/>
              <a:t>EJS</a:t>
            </a:r>
          </a:p>
        </p:txBody>
      </p:sp>
      <p:sp>
        <p:nvSpPr>
          <p:cNvPr id="4" name="object 4"/>
          <p:cNvSpPr/>
          <p:nvPr/>
        </p:nvSpPr>
        <p:spPr>
          <a:xfrm>
            <a:off x="176784" y="778763"/>
            <a:ext cx="5311140" cy="1860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47944" y="778763"/>
            <a:ext cx="3496055" cy="5425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889253"/>
            <a:ext cx="3940175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1º Criar uma pasta chamado</a:t>
            </a:r>
            <a:r>
              <a:rPr sz="1800" spc="-8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75757"/>
                </a:solidFill>
                <a:latin typeface="Arial"/>
                <a:cs typeface="Arial"/>
              </a:rPr>
              <a:t>Views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2º Criar um arquivo chamado</a:t>
            </a:r>
            <a:r>
              <a:rPr sz="1800" spc="-9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index.ejs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4401" y="62306"/>
            <a:ext cx="57581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Configurando e exibindo HTML com</a:t>
            </a:r>
            <a:r>
              <a:rPr spc="-100" dirty="0"/>
              <a:t> </a:t>
            </a:r>
            <a:r>
              <a:rPr spc="-5" dirty="0"/>
              <a:t>EJS</a:t>
            </a:r>
          </a:p>
        </p:txBody>
      </p:sp>
      <p:sp>
        <p:nvSpPr>
          <p:cNvPr id="4" name="object 4"/>
          <p:cNvSpPr/>
          <p:nvPr/>
        </p:nvSpPr>
        <p:spPr>
          <a:xfrm>
            <a:off x="446531" y="1732788"/>
            <a:ext cx="7181088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4401" y="62306"/>
            <a:ext cx="57581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Configurando e exibindo HTML com</a:t>
            </a:r>
            <a:r>
              <a:rPr spc="-100" dirty="0"/>
              <a:t> </a:t>
            </a:r>
            <a:r>
              <a:rPr spc="-5" dirty="0"/>
              <a:t>EJS</a:t>
            </a:r>
          </a:p>
        </p:txBody>
      </p:sp>
      <p:sp>
        <p:nvSpPr>
          <p:cNvPr id="3" name="object 3"/>
          <p:cNvSpPr/>
          <p:nvPr/>
        </p:nvSpPr>
        <p:spPr>
          <a:xfrm>
            <a:off x="312420" y="626363"/>
            <a:ext cx="6362700" cy="2619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420" y="3300984"/>
            <a:ext cx="4674108" cy="11369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4401" y="62306"/>
            <a:ext cx="57581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Exibindo variáveis no HTML</a:t>
            </a:r>
            <a:r>
              <a:rPr spc="-5" dirty="0"/>
              <a:t> com</a:t>
            </a:r>
            <a:r>
              <a:rPr spc="-100" dirty="0"/>
              <a:t> </a:t>
            </a:r>
            <a:r>
              <a:rPr spc="-5" dirty="0"/>
              <a:t>EJS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A848D4-38DF-80CA-7D86-5C9678F61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590550"/>
            <a:ext cx="5562600" cy="4203378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C887A064-CDCE-28F6-18AB-DBB03FC5F90E}"/>
              </a:ext>
            </a:extLst>
          </p:cNvPr>
          <p:cNvCxnSpPr/>
          <p:nvPr/>
        </p:nvCxnSpPr>
        <p:spPr>
          <a:xfrm flipH="1">
            <a:off x="3657600" y="2266950"/>
            <a:ext cx="3429000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078C76-75C7-8CCE-75D5-ABCF587EB2EB}"/>
              </a:ext>
            </a:extLst>
          </p:cNvPr>
          <p:cNvSpPr txBox="1"/>
          <p:nvPr/>
        </p:nvSpPr>
        <p:spPr>
          <a:xfrm>
            <a:off x="6927396" y="2059202"/>
            <a:ext cx="19880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Passando variáveis para serem exibida no HTML</a:t>
            </a:r>
          </a:p>
        </p:txBody>
      </p:sp>
    </p:spTree>
    <p:extLst>
      <p:ext uri="{BB962C8B-B14F-4D97-AF65-F5344CB8AC3E}">
        <p14:creationId xmlns:p14="http://schemas.microsoft.com/office/powerpoint/2010/main" val="677201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4401" y="62306"/>
            <a:ext cx="575818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Exibindo variáveis no HTML</a:t>
            </a:r>
            <a:r>
              <a:rPr spc="-5" dirty="0"/>
              <a:t> com</a:t>
            </a:r>
            <a:r>
              <a:rPr spc="-100" dirty="0"/>
              <a:t> </a:t>
            </a:r>
            <a:r>
              <a:rPr spc="-5" dirty="0"/>
              <a:t>EJS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3E0B9E-0C3E-F241-11A4-FAF823C29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47750"/>
            <a:ext cx="6155409" cy="3584445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85527D3-7B68-48ED-B34A-935801D3F6F9}"/>
              </a:ext>
            </a:extLst>
          </p:cNvPr>
          <p:cNvCxnSpPr>
            <a:cxnSpLocks/>
          </p:cNvCxnSpPr>
          <p:nvPr/>
        </p:nvCxnSpPr>
        <p:spPr>
          <a:xfrm flipH="1">
            <a:off x="2819400" y="2495550"/>
            <a:ext cx="411480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A2BD1517-F6FA-8DDA-4170-ADE4D8C28156}"/>
              </a:ext>
            </a:extLst>
          </p:cNvPr>
          <p:cNvSpPr txBox="1"/>
          <p:nvPr/>
        </p:nvSpPr>
        <p:spPr>
          <a:xfrm>
            <a:off x="6858000" y="2280106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Exibir valor da variável uma a </a:t>
            </a:r>
            <a:r>
              <a:rPr lang="pt-BR" sz="1200" dirty="0" err="1"/>
              <a:t>tag</a:t>
            </a:r>
            <a:endParaRPr lang="pt-BR" sz="1200" dirty="0"/>
          </a:p>
          <a:p>
            <a:r>
              <a:rPr lang="pt-BR" sz="1200" dirty="0"/>
              <a:t>&lt;%=   %)</a:t>
            </a:r>
          </a:p>
        </p:txBody>
      </p:sp>
    </p:spTree>
    <p:extLst>
      <p:ext uri="{BB962C8B-B14F-4D97-AF65-F5344CB8AC3E}">
        <p14:creationId xmlns:p14="http://schemas.microsoft.com/office/powerpoint/2010/main" val="133958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62306"/>
            <a:ext cx="91440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Exemplo usando HTML</a:t>
            </a:r>
            <a:endParaRPr spc="-5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FE5ABF-3BBA-4947-6D58-FC3BFA8E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3199"/>
            <a:ext cx="4648200" cy="430437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070944D-A398-7463-6090-9E8B99D66B54}"/>
              </a:ext>
            </a:extLst>
          </p:cNvPr>
          <p:cNvSpPr txBox="1"/>
          <p:nvPr/>
        </p:nvSpPr>
        <p:spPr>
          <a:xfrm>
            <a:off x="7391400" y="150495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Arquivo</a:t>
            </a:r>
          </a:p>
          <a:p>
            <a:pPr algn="ctr"/>
            <a:r>
              <a:rPr lang="pt-BR" dirty="0"/>
              <a:t>App.js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5117D4-BF48-6637-55BF-5AEF169620A7}"/>
              </a:ext>
            </a:extLst>
          </p:cNvPr>
          <p:cNvSpPr txBox="1"/>
          <p:nvPr/>
        </p:nvSpPr>
        <p:spPr>
          <a:xfrm>
            <a:off x="0" y="4797579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Para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instalar</a:t>
            </a:r>
            <a:r>
              <a:rPr lang="en-US" dirty="0"/>
              <a:t>:&gt; </a:t>
            </a:r>
            <a:r>
              <a:rPr lang="en-US" dirty="0" err="1"/>
              <a:t>npm</a:t>
            </a:r>
            <a:r>
              <a:rPr lang="en-US" dirty="0"/>
              <a:t> install express </a:t>
            </a:r>
            <a:r>
              <a:rPr lang="en-US" dirty="0" err="1"/>
              <a:t>ejs</a:t>
            </a:r>
            <a:r>
              <a:rPr lang="en-US" dirty="0"/>
              <a:t> body-parser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1415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62306"/>
            <a:ext cx="91440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Exemplo usando HTML</a:t>
            </a:r>
            <a:endParaRPr spc="-5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70944D-A398-7463-6090-9E8B99D66B54}"/>
              </a:ext>
            </a:extLst>
          </p:cNvPr>
          <p:cNvSpPr txBox="1"/>
          <p:nvPr/>
        </p:nvSpPr>
        <p:spPr>
          <a:xfrm>
            <a:off x="7391400" y="150495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Arquivo</a:t>
            </a:r>
          </a:p>
          <a:p>
            <a:pPr algn="ctr"/>
            <a:r>
              <a:rPr lang="pt-BR" dirty="0" err="1"/>
              <a:t>formulario.ejs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0E95F6-000D-2595-A644-E29A3D48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843" y="692053"/>
            <a:ext cx="5826346" cy="416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94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62306"/>
            <a:ext cx="91440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Exemplo usando HTML</a:t>
            </a:r>
            <a:endParaRPr spc="-5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70944D-A398-7463-6090-9E8B99D66B54}"/>
              </a:ext>
            </a:extLst>
          </p:cNvPr>
          <p:cNvSpPr txBox="1"/>
          <p:nvPr/>
        </p:nvSpPr>
        <p:spPr>
          <a:xfrm>
            <a:off x="7391400" y="150495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Arquivo</a:t>
            </a:r>
          </a:p>
          <a:p>
            <a:pPr algn="ctr"/>
            <a:r>
              <a:rPr lang="pt-BR" dirty="0" err="1"/>
              <a:t>cadastro.ejs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D12C39-749C-7CAB-7D00-285672701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923806"/>
            <a:ext cx="5410200" cy="362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2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726" y="436600"/>
            <a:ext cx="5822950" cy="326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4450">
              <a:lnSpc>
                <a:spcPct val="154100"/>
              </a:lnSpc>
              <a:spcBef>
                <a:spcPts val="100"/>
              </a:spcBef>
            </a:pP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1º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Criar </a:t>
            </a:r>
            <a:r>
              <a:rPr sz="1700" spc="-10" dirty="0">
                <a:solidFill>
                  <a:srgbClr val="575757"/>
                </a:solidFill>
                <a:latin typeface="Arial"/>
                <a:cs typeface="Arial"/>
              </a:rPr>
              <a:t>uma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pasta </a:t>
            </a:r>
            <a:r>
              <a:rPr sz="1700" spc="-10" dirty="0">
                <a:solidFill>
                  <a:srgbClr val="575757"/>
                </a:solidFill>
                <a:latin typeface="Arial"/>
                <a:cs typeface="Arial"/>
              </a:rPr>
              <a:t>chamado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por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exemplo</a:t>
            </a:r>
            <a:r>
              <a:rPr sz="1700" spc="-12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575757"/>
                </a:solidFill>
                <a:latin typeface="Arial"/>
                <a:cs typeface="Arial"/>
              </a:rPr>
              <a:t>apps 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2º Entrar na pasta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-&gt; </a:t>
            </a:r>
            <a:r>
              <a:rPr sz="1700" b="1" dirty="0">
                <a:solidFill>
                  <a:srgbClr val="575757"/>
                </a:solidFill>
                <a:latin typeface="Arial"/>
                <a:cs typeface="Arial"/>
              </a:rPr>
              <a:t>cd</a:t>
            </a:r>
            <a:r>
              <a:rPr sz="1700" b="1" spc="-10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575757"/>
                </a:solidFill>
                <a:latin typeface="Arial"/>
                <a:cs typeface="Arial"/>
              </a:rPr>
              <a:t>apps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3º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digitar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- &gt; </a:t>
            </a:r>
            <a:r>
              <a:rPr sz="1700" b="1" spc="-5" dirty="0">
                <a:solidFill>
                  <a:srgbClr val="575757"/>
                </a:solidFill>
                <a:latin typeface="Arial"/>
                <a:cs typeface="Arial"/>
              </a:rPr>
              <a:t>npm </a:t>
            </a:r>
            <a:r>
              <a:rPr sz="1700" b="1" spc="-15" dirty="0">
                <a:solidFill>
                  <a:srgbClr val="575757"/>
                </a:solidFill>
                <a:latin typeface="Arial"/>
                <a:cs typeface="Arial"/>
              </a:rPr>
              <a:t>install </a:t>
            </a:r>
            <a:r>
              <a:rPr sz="1700" b="1" spc="-5" dirty="0">
                <a:solidFill>
                  <a:srgbClr val="575757"/>
                </a:solidFill>
                <a:latin typeface="Arial"/>
                <a:cs typeface="Arial"/>
              </a:rPr>
              <a:t>-g </a:t>
            </a:r>
            <a:r>
              <a:rPr sz="1700" b="1" spc="-10" dirty="0">
                <a:solidFill>
                  <a:srgbClr val="575757"/>
                </a:solidFill>
                <a:latin typeface="Arial"/>
                <a:cs typeface="Arial"/>
              </a:rPr>
              <a:t>-s </a:t>
            </a:r>
            <a:r>
              <a:rPr sz="1700" b="1" spc="-15" dirty="0">
                <a:solidFill>
                  <a:srgbClr val="575757"/>
                </a:solidFill>
                <a:latin typeface="Arial"/>
                <a:cs typeface="Arial"/>
              </a:rPr>
              <a:t>express</a:t>
            </a:r>
            <a:r>
              <a:rPr sz="1700" b="1" spc="10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b="1" spc="-15" dirty="0">
                <a:solidFill>
                  <a:srgbClr val="575757"/>
                </a:solidFill>
                <a:latin typeface="Arial"/>
                <a:cs typeface="Arial"/>
              </a:rPr>
              <a:t>express-generator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4º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digitar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-&gt; </a:t>
            </a:r>
            <a:r>
              <a:rPr sz="1700" b="1" spc="-15" dirty="0">
                <a:solidFill>
                  <a:srgbClr val="575757"/>
                </a:solidFill>
                <a:latin typeface="Arial"/>
                <a:cs typeface="Arial"/>
              </a:rPr>
              <a:t>express </a:t>
            </a:r>
            <a:r>
              <a:rPr sz="1700" b="1" spc="-5" dirty="0">
                <a:solidFill>
                  <a:srgbClr val="575757"/>
                </a:solidFill>
                <a:latin typeface="Arial"/>
                <a:cs typeface="Arial"/>
              </a:rPr>
              <a:t>--view=ejs</a:t>
            </a:r>
            <a:r>
              <a:rPr sz="1700" b="1" spc="-15" dirty="0">
                <a:solidFill>
                  <a:srgbClr val="575757"/>
                </a:solidFill>
                <a:latin typeface="Arial"/>
                <a:cs typeface="Arial"/>
              </a:rPr>
              <a:t> projeto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5º Entrar na pasta projeto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-&gt;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cd</a:t>
            </a:r>
            <a:r>
              <a:rPr sz="1700" spc="-16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projeto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54100"/>
              </a:lnSpc>
              <a:spcBef>
                <a:spcPts val="5"/>
              </a:spcBef>
            </a:pP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6º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digitar </a:t>
            </a:r>
            <a:r>
              <a:rPr sz="1700" spc="-10" dirty="0">
                <a:solidFill>
                  <a:srgbClr val="575757"/>
                </a:solidFill>
                <a:latin typeface="Arial"/>
                <a:cs typeface="Arial"/>
              </a:rPr>
              <a:t>-&gt; </a:t>
            </a:r>
            <a:r>
              <a:rPr sz="1700" b="1" spc="-5" dirty="0">
                <a:solidFill>
                  <a:srgbClr val="575757"/>
                </a:solidFill>
                <a:latin typeface="Arial"/>
                <a:cs typeface="Arial"/>
              </a:rPr>
              <a:t>npm </a:t>
            </a:r>
            <a:r>
              <a:rPr sz="1700" b="1" spc="-15" dirty="0">
                <a:solidFill>
                  <a:srgbClr val="575757"/>
                </a:solidFill>
                <a:latin typeface="Arial"/>
                <a:cs typeface="Arial"/>
              </a:rPr>
              <a:t>install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para instalar todas </a:t>
            </a:r>
            <a:r>
              <a:rPr sz="1700" spc="-10" dirty="0">
                <a:solidFill>
                  <a:srgbClr val="575757"/>
                </a:solidFill>
                <a:latin typeface="Arial"/>
                <a:cs typeface="Arial"/>
              </a:rPr>
              <a:t>as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dependências 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7º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digitar </a:t>
            </a:r>
            <a:r>
              <a:rPr sz="1700" spc="-5" dirty="0">
                <a:solidFill>
                  <a:srgbClr val="575757"/>
                </a:solidFill>
                <a:latin typeface="Arial"/>
                <a:cs typeface="Arial"/>
              </a:rPr>
              <a:t>-&gt; </a:t>
            </a:r>
            <a:r>
              <a:rPr sz="1700" b="1" spc="-5" dirty="0">
                <a:solidFill>
                  <a:srgbClr val="575757"/>
                </a:solidFill>
                <a:latin typeface="Arial"/>
                <a:cs typeface="Arial"/>
              </a:rPr>
              <a:t>npm</a:t>
            </a:r>
            <a:r>
              <a:rPr sz="1700" b="1" spc="-15" dirty="0">
                <a:solidFill>
                  <a:srgbClr val="575757"/>
                </a:solidFill>
                <a:latin typeface="Arial"/>
                <a:cs typeface="Arial"/>
              </a:rPr>
              <a:t> start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8º </a:t>
            </a:r>
            <a:r>
              <a:rPr sz="1700" spc="-10" dirty="0">
                <a:solidFill>
                  <a:srgbClr val="575757"/>
                </a:solidFill>
                <a:latin typeface="Arial"/>
                <a:cs typeface="Arial"/>
              </a:rPr>
              <a:t>digite </a:t>
            </a:r>
            <a:r>
              <a:rPr sz="1700" dirty="0">
                <a:solidFill>
                  <a:srgbClr val="575757"/>
                </a:solidFill>
                <a:latin typeface="Arial"/>
                <a:cs typeface="Arial"/>
              </a:rPr>
              <a:t>no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browser</a:t>
            </a:r>
            <a:r>
              <a:rPr sz="1700" spc="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700" spc="-15" dirty="0">
                <a:solidFill>
                  <a:srgbClr val="575757"/>
                </a:solidFill>
                <a:latin typeface="Arial"/>
                <a:cs typeface="Arial"/>
              </a:rPr>
              <a:t>localhos:3000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2650" y="62306"/>
            <a:ext cx="481774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Gerador de aplicativos do</a:t>
            </a:r>
            <a:r>
              <a:rPr spc="-55" dirty="0"/>
              <a:t> </a:t>
            </a:r>
            <a:r>
              <a:rPr spc="-20" dirty="0"/>
              <a:t>express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545" y="1233042"/>
            <a:ext cx="7575550" cy="1243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Para começar iremos instalar o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Handlebars,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pois ele </a:t>
            </a:r>
            <a:r>
              <a:rPr sz="1800" spc="-15" dirty="0">
                <a:solidFill>
                  <a:srgbClr val="575757"/>
                </a:solidFill>
                <a:latin typeface="Arial"/>
                <a:cs typeface="Arial"/>
              </a:rPr>
              <a:t>ajuda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a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trabalhar</a:t>
            </a:r>
            <a:r>
              <a:rPr sz="1800" spc="22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com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layout.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0095A7"/>
                  </a:solidFill>
                </a:uFill>
                <a:latin typeface="Arial"/>
                <a:cs typeface="Arial"/>
                <a:hlinkClick r:id="rId2"/>
              </a:rPr>
              <a:t>https://handlebarsjs.com/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npm install --save</a:t>
            </a:r>
            <a:r>
              <a:rPr sz="1800" spc="-55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express-handlebars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8405" y="56210"/>
            <a:ext cx="730948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Utilizando template engine Handlebars com</a:t>
            </a:r>
            <a:r>
              <a:rPr spc="-55" dirty="0"/>
              <a:t> </a:t>
            </a:r>
            <a:r>
              <a:rPr spc="-5" dirty="0"/>
              <a:t>Node.js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648" y="47066"/>
            <a:ext cx="8448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Roboto"/>
                <a:cs typeface="Roboto"/>
              </a:rPr>
              <a:t>Como instalar o </a:t>
            </a:r>
            <a:r>
              <a:rPr spc="-20" dirty="0">
                <a:latin typeface="Roboto"/>
                <a:cs typeface="Roboto"/>
              </a:rPr>
              <a:t>Handlebars </a:t>
            </a:r>
            <a:r>
              <a:rPr spc="-5" dirty="0">
                <a:latin typeface="Roboto"/>
                <a:cs typeface="Roboto"/>
              </a:rPr>
              <a:t>no Node e criar o </a:t>
            </a:r>
            <a:r>
              <a:rPr dirty="0">
                <a:latin typeface="Roboto"/>
                <a:cs typeface="Roboto"/>
              </a:rPr>
              <a:t>layout</a:t>
            </a:r>
            <a:r>
              <a:rPr spc="120" dirty="0">
                <a:latin typeface="Roboto"/>
                <a:cs typeface="Roboto"/>
              </a:rPr>
              <a:t> </a:t>
            </a:r>
            <a:r>
              <a:rPr spc="-5" dirty="0">
                <a:latin typeface="Roboto"/>
                <a:cs typeface="Roboto"/>
              </a:rPr>
              <a:t>padrão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6136" y="649223"/>
            <a:ext cx="5349240" cy="4200525"/>
            <a:chOff x="326136" y="649223"/>
            <a:chExt cx="5349240" cy="4200525"/>
          </a:xfrm>
        </p:grpSpPr>
        <p:sp>
          <p:nvSpPr>
            <p:cNvPr id="4" name="object 4"/>
            <p:cNvSpPr/>
            <p:nvPr/>
          </p:nvSpPr>
          <p:spPr>
            <a:xfrm>
              <a:off x="326136" y="649223"/>
              <a:ext cx="5215128" cy="42001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52900" y="1490598"/>
              <a:ext cx="84836" cy="711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21480" y="952499"/>
              <a:ext cx="1454150" cy="579755"/>
            </a:xfrm>
            <a:custGeom>
              <a:avLst/>
              <a:gdLst/>
              <a:ahLst/>
              <a:cxnLst/>
              <a:rect l="l" t="t" r="r" b="b"/>
              <a:pathLst>
                <a:path w="1454150" h="579755">
                  <a:moveTo>
                    <a:pt x="1449197" y="0"/>
                  </a:moveTo>
                  <a:lnTo>
                    <a:pt x="0" y="567816"/>
                  </a:lnTo>
                  <a:lnTo>
                    <a:pt x="4699" y="579627"/>
                  </a:lnTo>
                  <a:lnTo>
                    <a:pt x="1453769" y="11937"/>
                  </a:lnTo>
                  <a:lnTo>
                    <a:pt x="144919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30951" y="748664"/>
            <a:ext cx="3093085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0005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agora </a:t>
            </a:r>
            <a:r>
              <a:rPr sz="1400" spc="-5" dirty="0">
                <a:latin typeface="Arial"/>
                <a:cs typeface="Arial"/>
              </a:rPr>
              <a:t>vou informar </a:t>
            </a:r>
            <a:r>
              <a:rPr sz="1400" dirty="0">
                <a:latin typeface="Arial"/>
                <a:cs typeface="Arial"/>
              </a:rPr>
              <a:t>para o </a:t>
            </a:r>
            <a:r>
              <a:rPr sz="1400" spc="-5" dirty="0">
                <a:latin typeface="Arial"/>
                <a:cs typeface="Arial"/>
              </a:rPr>
              <a:t>express</a:t>
            </a:r>
            <a:r>
              <a:rPr sz="1400" spc="-2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que  ele </a:t>
            </a:r>
            <a:r>
              <a:rPr sz="1400" dirty="0">
                <a:latin typeface="Arial"/>
                <a:cs typeface="Arial"/>
              </a:rPr>
              <a:t>utilize o template</a:t>
            </a:r>
            <a:r>
              <a:rPr sz="1400" spc="-2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Handlebars.</a:t>
            </a:r>
            <a:endParaRPr sz="1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spc="-30" dirty="0">
                <a:latin typeface="Arial"/>
                <a:cs typeface="Arial"/>
              </a:rPr>
              <a:t>Vou </a:t>
            </a:r>
            <a:r>
              <a:rPr sz="1400" spc="-10" dirty="0">
                <a:latin typeface="Arial"/>
                <a:cs typeface="Arial"/>
              </a:rPr>
              <a:t>criar uma </a:t>
            </a:r>
            <a:r>
              <a:rPr sz="1400" spc="-15" dirty="0">
                <a:latin typeface="Arial"/>
                <a:cs typeface="Arial"/>
              </a:rPr>
              <a:t>pasta </a:t>
            </a:r>
            <a:r>
              <a:rPr sz="1400" spc="-10" dirty="0">
                <a:latin typeface="Arial"/>
                <a:cs typeface="Arial"/>
              </a:rPr>
              <a:t>chamado </a:t>
            </a:r>
            <a:r>
              <a:rPr sz="1400" spc="-20" dirty="0">
                <a:latin typeface="Arial"/>
                <a:cs typeface="Arial"/>
              </a:rPr>
              <a:t>views </a:t>
            </a:r>
            <a:r>
              <a:rPr sz="1400" dirty="0">
                <a:latin typeface="Arial"/>
                <a:cs typeface="Arial"/>
              </a:rPr>
              <a:t>e  </a:t>
            </a:r>
            <a:r>
              <a:rPr sz="1400" spc="-10" dirty="0">
                <a:latin typeface="Arial"/>
                <a:cs typeface="Arial"/>
              </a:rPr>
              <a:t>dentro dessa </a:t>
            </a:r>
            <a:r>
              <a:rPr sz="1400" spc="-15" dirty="0">
                <a:latin typeface="Arial"/>
                <a:cs typeface="Arial"/>
              </a:rPr>
              <a:t>pasta </a:t>
            </a:r>
            <a:r>
              <a:rPr sz="1400" spc="-10" dirty="0">
                <a:latin typeface="Arial"/>
                <a:cs typeface="Arial"/>
              </a:rPr>
              <a:t>criar uma pasta  </a:t>
            </a:r>
            <a:r>
              <a:rPr sz="1400" dirty="0">
                <a:latin typeface="Arial"/>
                <a:cs typeface="Arial"/>
              </a:rPr>
              <a:t>chamado</a:t>
            </a:r>
            <a:endParaRPr sz="1400">
              <a:latin typeface="Arial"/>
              <a:cs typeface="Arial"/>
            </a:endParaRPr>
          </a:p>
          <a:p>
            <a:pPr marL="12700" marR="574675" algn="just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layout </a:t>
            </a:r>
            <a:r>
              <a:rPr sz="1400" dirty="0">
                <a:latin typeface="Arial"/>
                <a:cs typeface="Arial"/>
              </a:rPr>
              <a:t>e </a:t>
            </a:r>
            <a:r>
              <a:rPr sz="1400" spc="-5" dirty="0">
                <a:latin typeface="Arial"/>
                <a:cs typeface="Arial"/>
              </a:rPr>
              <a:t>agora </a:t>
            </a:r>
            <a:r>
              <a:rPr sz="1400" dirty="0">
                <a:latin typeface="Arial"/>
                <a:cs typeface="Arial"/>
              </a:rPr>
              <a:t>sim </a:t>
            </a:r>
            <a:r>
              <a:rPr sz="1400" spc="-5" dirty="0">
                <a:latin typeface="Arial"/>
                <a:cs typeface="Arial"/>
              </a:rPr>
              <a:t>vou utilizar </a:t>
            </a:r>
            <a:r>
              <a:rPr sz="1400" dirty="0">
                <a:latin typeface="Arial"/>
                <a:cs typeface="Arial"/>
              </a:rPr>
              <a:t>o  Handlebars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648" y="47066"/>
            <a:ext cx="8448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Roboto"/>
                <a:cs typeface="Roboto"/>
              </a:rPr>
              <a:t>Como instalar o </a:t>
            </a:r>
            <a:r>
              <a:rPr spc="-20" dirty="0">
                <a:latin typeface="Roboto"/>
                <a:cs typeface="Roboto"/>
              </a:rPr>
              <a:t>Handlebars </a:t>
            </a:r>
            <a:r>
              <a:rPr spc="-5" dirty="0">
                <a:latin typeface="Roboto"/>
                <a:cs typeface="Roboto"/>
              </a:rPr>
              <a:t>no Node e criar o </a:t>
            </a:r>
            <a:r>
              <a:rPr dirty="0">
                <a:latin typeface="Roboto"/>
                <a:cs typeface="Roboto"/>
              </a:rPr>
              <a:t>layout</a:t>
            </a:r>
            <a:r>
              <a:rPr spc="120" dirty="0">
                <a:latin typeface="Roboto"/>
                <a:cs typeface="Roboto"/>
              </a:rPr>
              <a:t> </a:t>
            </a:r>
            <a:r>
              <a:rPr spc="-5" dirty="0">
                <a:latin typeface="Roboto"/>
                <a:cs typeface="Roboto"/>
              </a:rPr>
              <a:t>padrão</a:t>
            </a:r>
          </a:p>
        </p:txBody>
      </p:sp>
      <p:sp>
        <p:nvSpPr>
          <p:cNvPr id="3" name="object 3"/>
          <p:cNvSpPr/>
          <p:nvPr/>
        </p:nvSpPr>
        <p:spPr>
          <a:xfrm>
            <a:off x="362711" y="679704"/>
            <a:ext cx="8205216" cy="226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3372" y="3669538"/>
            <a:ext cx="11493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Layout</a:t>
            </a:r>
            <a:r>
              <a:rPr sz="1400" spc="-1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padrão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0040" y="495300"/>
            <a:ext cx="8823960" cy="4648200"/>
            <a:chOff x="320040" y="495300"/>
            <a:chExt cx="8823960" cy="4648200"/>
          </a:xfrm>
        </p:grpSpPr>
        <p:sp>
          <p:nvSpPr>
            <p:cNvPr id="3" name="object 3"/>
            <p:cNvSpPr/>
            <p:nvPr/>
          </p:nvSpPr>
          <p:spPr>
            <a:xfrm>
              <a:off x="320040" y="495300"/>
              <a:ext cx="5497068" cy="29108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34611" y="3009899"/>
              <a:ext cx="5009388" cy="21335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9648" y="47066"/>
            <a:ext cx="8448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Roboto"/>
                <a:cs typeface="Roboto"/>
              </a:rPr>
              <a:t>Como instalar o </a:t>
            </a:r>
            <a:r>
              <a:rPr spc="-20" dirty="0">
                <a:latin typeface="Roboto"/>
                <a:cs typeface="Roboto"/>
              </a:rPr>
              <a:t>Handlebars </a:t>
            </a:r>
            <a:r>
              <a:rPr spc="-5" dirty="0">
                <a:latin typeface="Roboto"/>
                <a:cs typeface="Roboto"/>
              </a:rPr>
              <a:t>no Node e criar o </a:t>
            </a:r>
            <a:r>
              <a:rPr dirty="0">
                <a:latin typeface="Roboto"/>
                <a:cs typeface="Roboto"/>
              </a:rPr>
              <a:t>layout</a:t>
            </a:r>
            <a:r>
              <a:rPr spc="120" dirty="0">
                <a:latin typeface="Roboto"/>
                <a:cs typeface="Roboto"/>
              </a:rPr>
              <a:t> </a:t>
            </a:r>
            <a:r>
              <a:rPr spc="-5" dirty="0">
                <a:latin typeface="Roboto"/>
                <a:cs typeface="Roboto"/>
              </a:rPr>
              <a:t>padrão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8929" y="62306"/>
            <a:ext cx="80727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Top 14 Templating Engines for JavaScript 2022 -</a:t>
            </a:r>
            <a:r>
              <a:rPr dirty="0"/>
              <a:t> </a:t>
            </a:r>
            <a:r>
              <a:rPr spc="-5" dirty="0"/>
              <a:t>Colorlib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545" y="1232738"/>
            <a:ext cx="6433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Char char="●"/>
              <a:tabLst>
                <a:tab pos="354965" algn="l"/>
                <a:tab pos="355600" algn="l"/>
              </a:tabLst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95A7"/>
                  </a:solidFill>
                </a:uFill>
                <a:latin typeface="Arial"/>
                <a:cs typeface="Arial"/>
                <a:hlinkClick r:id="rId2"/>
              </a:rPr>
              <a:t>https://colorlib.com/wp/top-templating-engines-for-javascript/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584961"/>
            <a:ext cx="766635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Parâmetros são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formas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passar valores dinâmicos direto na sua rota.</a:t>
            </a:r>
            <a:r>
              <a:rPr sz="1800" spc="-204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Iremos 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adicionar mais poder ainda nas rotas trabalhando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com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 parâmetros.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Precisamos definir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quais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parâmetros </a:t>
            </a:r>
            <a:r>
              <a:rPr sz="1800" spc="-20" dirty="0">
                <a:solidFill>
                  <a:srgbClr val="575757"/>
                </a:solidFill>
                <a:latin typeface="Arial"/>
                <a:cs typeface="Arial"/>
              </a:rPr>
              <a:t>quer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receber na sua</a:t>
            </a:r>
            <a:r>
              <a:rPr sz="1800" spc="1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rota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9388" y="62306"/>
            <a:ext cx="16656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Parâmetros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2420" y="1726691"/>
            <a:ext cx="8831580" cy="3416935"/>
            <a:chOff x="312420" y="1726691"/>
            <a:chExt cx="8831580" cy="3416935"/>
          </a:xfrm>
        </p:grpSpPr>
        <p:sp>
          <p:nvSpPr>
            <p:cNvPr id="5" name="object 5"/>
            <p:cNvSpPr/>
            <p:nvPr/>
          </p:nvSpPr>
          <p:spPr>
            <a:xfrm>
              <a:off x="312420" y="1726691"/>
              <a:ext cx="5195316" cy="34168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07735" y="2101596"/>
              <a:ext cx="3636264" cy="50139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245" y="653541"/>
            <a:ext cx="2487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Passando </a:t>
            </a:r>
            <a:r>
              <a:rPr sz="1800" dirty="0">
                <a:solidFill>
                  <a:srgbClr val="575757"/>
                </a:solidFill>
                <a:latin typeface="Arial"/>
                <a:cs typeface="Arial"/>
              </a:rPr>
              <a:t>com</a:t>
            </a:r>
            <a:r>
              <a:rPr sz="1800" spc="-15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75757"/>
                </a:solidFill>
                <a:latin typeface="Arial"/>
                <a:cs typeface="Arial"/>
              </a:rPr>
              <a:t>variáveis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Parâmetros</a:t>
            </a:r>
          </a:p>
        </p:txBody>
      </p:sp>
      <p:sp>
        <p:nvSpPr>
          <p:cNvPr id="4" name="object 4"/>
          <p:cNvSpPr/>
          <p:nvPr/>
        </p:nvSpPr>
        <p:spPr>
          <a:xfrm>
            <a:off x="3279647" y="891539"/>
            <a:ext cx="5551932" cy="38389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9388" y="62306"/>
            <a:ext cx="16656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Parâmetros</a:t>
            </a:r>
          </a:p>
        </p:txBody>
      </p:sp>
      <p:sp>
        <p:nvSpPr>
          <p:cNvPr id="3" name="object 3"/>
          <p:cNvSpPr/>
          <p:nvPr/>
        </p:nvSpPr>
        <p:spPr>
          <a:xfrm>
            <a:off x="1708404" y="573023"/>
            <a:ext cx="5771388" cy="44683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E2240932-7D3E-A823-C9F1-E7C71B02D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1913"/>
            <a:ext cx="91440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b="1" dirty="0"/>
              <a:t>Crud </a:t>
            </a:r>
            <a:r>
              <a:rPr lang="en-US" b="1" dirty="0" err="1"/>
              <a:t>usando</a:t>
            </a:r>
            <a:r>
              <a:rPr lang="en-US" b="1" dirty="0"/>
              <a:t> GET,POST,PUT e DELETE</a:t>
            </a:r>
            <a:endParaRPr b="1" spc="-5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0B7FC6C0-3CE4-2510-4529-B25210B57BDA}"/>
              </a:ext>
            </a:extLst>
          </p:cNvPr>
          <p:cNvSpPr txBox="1">
            <a:spLocks/>
          </p:cNvSpPr>
          <p:nvPr/>
        </p:nvSpPr>
        <p:spPr>
          <a:xfrm>
            <a:off x="381000" y="819150"/>
            <a:ext cx="8153400" cy="138499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kern="0" dirty="0">
                <a:solidFill>
                  <a:srgbClr val="000000"/>
                </a:solidFill>
                <a:latin typeface="Verdana" panose="020B0604030504040204" pitchFamily="34" charset="0"/>
                <a:hlinkClick r:id="rId2"/>
              </a:rPr>
              <a:t>https://tourmaline-apparatus-8f7.notion.site/Crud-usando-GET-POST-PUT-e-DELETE-25e8ea637e254d2b960510f21feaeb24?pvs=4</a:t>
            </a:r>
            <a:endParaRPr lang="pt-BR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2490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AA23A-C213-D6E2-82B9-D52393C2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15608"/>
          </a:xfrm>
        </p:spPr>
        <p:txBody>
          <a:bodyPr/>
          <a:lstStyle/>
          <a:p>
            <a:pPr algn="ctr"/>
            <a:r>
              <a:rPr lang="pt-BR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Banco de dados MySQL</a:t>
            </a:r>
            <a:b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ECEC89-F788-A0A5-5700-86E03717A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819150"/>
            <a:ext cx="8153400" cy="1384995"/>
          </a:xfrm>
        </p:spPr>
        <p:txBody>
          <a:bodyPr/>
          <a:lstStyle/>
          <a:p>
            <a:pPr algn="just"/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Node.js pode ser usado em aplicativos de banco de dados. Para poder experimentar os exemplos de código, você deve ter o MySQL instalado no seu computador.</a:t>
            </a:r>
          </a:p>
          <a:p>
            <a:endParaRPr lang="pt-BR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82973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545" y="621563"/>
            <a:ext cx="5116195" cy="11029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600" spc="-5" dirty="0">
                <a:solidFill>
                  <a:srgbClr val="575757"/>
                </a:solidFill>
                <a:latin typeface="Arial"/>
                <a:cs typeface="Arial"/>
              </a:rPr>
              <a:t>1º Acessar</a:t>
            </a:r>
            <a:r>
              <a:rPr sz="1600" spc="-12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600" u="heavy" spc="-10" dirty="0">
                <a:solidFill>
                  <a:srgbClr val="0000FF"/>
                </a:solidFill>
                <a:uFill>
                  <a:solidFill>
                    <a:srgbClr val="0095A7"/>
                  </a:solidFill>
                </a:uFill>
                <a:latin typeface="Arial"/>
                <a:cs typeface="Arial"/>
                <a:hlinkClick r:id="rId2"/>
              </a:rPr>
              <a:t>https://www.mysql.com/downloads/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575757"/>
                </a:solidFill>
                <a:latin typeface="Arial"/>
                <a:cs typeface="Arial"/>
              </a:rPr>
              <a:t>2º Clicar no link </a:t>
            </a:r>
            <a:r>
              <a:rPr sz="1600" spc="-15" dirty="0">
                <a:solidFill>
                  <a:srgbClr val="0074A1"/>
                </a:solidFill>
                <a:latin typeface="Noto Sans"/>
                <a:cs typeface="Noto Sans"/>
              </a:rPr>
              <a:t>MySQL </a:t>
            </a:r>
            <a:r>
              <a:rPr sz="1600" spc="-20" dirty="0">
                <a:solidFill>
                  <a:srgbClr val="0074A1"/>
                </a:solidFill>
                <a:latin typeface="Noto Sans"/>
                <a:cs typeface="Noto Sans"/>
              </a:rPr>
              <a:t>Community </a:t>
            </a:r>
            <a:r>
              <a:rPr sz="1600" spc="20" dirty="0">
                <a:solidFill>
                  <a:srgbClr val="0074A1"/>
                </a:solidFill>
                <a:latin typeface="Noto Sans"/>
                <a:cs typeface="Noto Sans"/>
              </a:rPr>
              <a:t>(GPL) </a:t>
            </a:r>
            <a:r>
              <a:rPr sz="1600" spc="-20" dirty="0">
                <a:solidFill>
                  <a:srgbClr val="0074A1"/>
                </a:solidFill>
                <a:latin typeface="Noto Sans"/>
                <a:cs typeface="Noto Sans"/>
              </a:rPr>
              <a:t>Downloads</a:t>
            </a:r>
            <a:r>
              <a:rPr sz="1600" spc="-5" dirty="0">
                <a:solidFill>
                  <a:srgbClr val="0074A1"/>
                </a:solidFill>
                <a:latin typeface="Noto Sans"/>
                <a:cs typeface="Noto Sans"/>
              </a:rPr>
              <a:t> »</a:t>
            </a:r>
            <a:endParaRPr sz="1600">
              <a:latin typeface="Noto Sans"/>
              <a:cs typeface="Noto Sans"/>
            </a:endParaRPr>
          </a:p>
          <a:p>
            <a:pPr marL="12700">
              <a:lnSpc>
                <a:spcPts val="1895"/>
              </a:lnSpc>
              <a:spcBef>
                <a:spcPts val="345"/>
              </a:spcBef>
            </a:pPr>
            <a:r>
              <a:rPr sz="1600" spc="-5" dirty="0">
                <a:solidFill>
                  <a:srgbClr val="575757"/>
                </a:solidFill>
                <a:latin typeface="Arial"/>
                <a:cs typeface="Arial"/>
              </a:rPr>
              <a:t>3º Clicar no</a:t>
            </a:r>
            <a:r>
              <a:rPr sz="1600" spc="-60" dirty="0">
                <a:solidFill>
                  <a:srgbClr val="575757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75757"/>
                </a:solidFill>
                <a:latin typeface="Arial"/>
                <a:cs typeface="Arial"/>
              </a:rPr>
              <a:t>link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95"/>
              </a:lnSpc>
              <a:tabLst>
                <a:tab pos="3988435" algn="l"/>
              </a:tabLst>
            </a:pPr>
            <a:r>
              <a:rPr sz="1600" u="sng" spc="-15" dirty="0">
                <a:solidFill>
                  <a:srgbClr val="0000FF"/>
                </a:solidFill>
                <a:uFill>
                  <a:solidFill>
                    <a:srgbClr val="0095A7"/>
                  </a:solidFill>
                </a:uFill>
                <a:latin typeface="Noto Sans"/>
                <a:cs typeface="Noto Sans"/>
                <a:hlinkClick r:id="rId3"/>
              </a:rPr>
              <a:t>htt	</a:t>
            </a:r>
            <a:endParaRPr sz="1600">
              <a:latin typeface="Noto Sans"/>
              <a:cs typeface="Noto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785" y="1454547"/>
            <a:ext cx="4169215" cy="2700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ps</a:t>
            </a:r>
            <a:r>
              <a:rPr sz="1600" spc="2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:</a:t>
            </a:r>
            <a:r>
              <a:rPr sz="1600" spc="7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//</a:t>
            </a: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d</a:t>
            </a:r>
            <a:r>
              <a:rPr sz="1600" spc="-2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e</a:t>
            </a: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v.</a:t>
            </a:r>
            <a:r>
              <a:rPr sz="1600" spc="-2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m</a:t>
            </a: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ysq</a:t>
            </a:r>
            <a:r>
              <a:rPr sz="1600" spc="-2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l</a:t>
            </a: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.c</a:t>
            </a:r>
            <a:r>
              <a:rPr sz="1600" spc="-2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o</a:t>
            </a:r>
            <a:r>
              <a:rPr sz="1600" spc="5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m</a:t>
            </a:r>
            <a:r>
              <a:rPr sz="160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/</a:t>
            </a: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d</a:t>
            </a:r>
            <a:r>
              <a:rPr sz="1600" spc="-1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o</a:t>
            </a: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w</a:t>
            </a:r>
            <a:r>
              <a:rPr sz="1600" spc="-1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n</a:t>
            </a:r>
            <a:r>
              <a:rPr sz="1600" spc="-2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lo</a:t>
            </a:r>
            <a:r>
              <a:rPr sz="1600" spc="-1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ad</a:t>
            </a: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s</a:t>
            </a:r>
            <a:r>
              <a:rPr sz="1600" spc="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/</a:t>
            </a:r>
            <a:r>
              <a:rPr sz="1600" spc="4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m</a:t>
            </a:r>
            <a:r>
              <a:rPr sz="1600" spc="-1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ys</a:t>
            </a:r>
            <a:r>
              <a:rPr sz="1600" spc="-1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q</a:t>
            </a:r>
            <a:r>
              <a:rPr sz="1600" spc="-20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l</a:t>
            </a:r>
            <a:r>
              <a:rPr sz="1600" spc="85" dirty="0">
                <a:solidFill>
                  <a:srgbClr val="0000FF"/>
                </a:solidFill>
                <a:latin typeface="Noto Sans"/>
                <a:cs typeface="Noto Sans"/>
                <a:hlinkClick r:id="rId3"/>
              </a:rPr>
              <a:t>/</a:t>
            </a:r>
            <a:endParaRPr sz="1600" dirty="0">
              <a:latin typeface="Noto Sans"/>
              <a:cs typeface="Noto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02873" y="1962150"/>
            <a:ext cx="5743728" cy="3140346"/>
            <a:chOff x="848867" y="1575816"/>
            <a:chExt cx="6073648" cy="3395472"/>
          </a:xfrm>
        </p:grpSpPr>
        <p:sp>
          <p:nvSpPr>
            <p:cNvPr id="5" name="object 5"/>
            <p:cNvSpPr/>
            <p:nvPr/>
          </p:nvSpPr>
          <p:spPr>
            <a:xfrm>
              <a:off x="848867" y="1575816"/>
              <a:ext cx="5375148" cy="33954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07379" y="4663490"/>
              <a:ext cx="84836" cy="7110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76340" y="4258055"/>
              <a:ext cx="1146175" cy="447040"/>
            </a:xfrm>
            <a:custGeom>
              <a:avLst/>
              <a:gdLst/>
              <a:ahLst/>
              <a:cxnLst/>
              <a:rect l="l" t="t" r="r" b="b"/>
              <a:pathLst>
                <a:path w="1146175" h="447039">
                  <a:moveTo>
                    <a:pt x="1141094" y="0"/>
                  </a:moveTo>
                  <a:lnTo>
                    <a:pt x="0" y="435025"/>
                  </a:lnTo>
                  <a:lnTo>
                    <a:pt x="4572" y="446887"/>
                  </a:lnTo>
                  <a:lnTo>
                    <a:pt x="1145666" y="11849"/>
                  </a:lnTo>
                  <a:lnTo>
                    <a:pt x="114109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46601" y="4323155"/>
            <a:ext cx="520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C</a:t>
            </a:r>
            <a:r>
              <a:rPr sz="1400" b="1" dirty="0">
                <a:latin typeface="Arial"/>
                <a:cs typeface="Arial"/>
              </a:rPr>
              <a:t>licar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63648" y="62306"/>
            <a:ext cx="560133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Tutorial </a:t>
            </a:r>
            <a:r>
              <a:rPr spc="-5" dirty="0"/>
              <a:t>de instalação do SGBD</a:t>
            </a:r>
            <a:r>
              <a:rPr spc="-130" dirty="0"/>
              <a:t> </a:t>
            </a:r>
            <a:r>
              <a:rPr spc="-5" dirty="0"/>
              <a:t>MySQL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545" y="653541"/>
            <a:ext cx="531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575757"/>
              </a:buClr>
              <a:buChar char="●"/>
              <a:tabLst>
                <a:tab pos="354965" algn="l"/>
                <a:tab pos="355600" algn="l"/>
              </a:tabLst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95A7"/>
                  </a:solidFill>
                </a:uFill>
                <a:latin typeface="Arial"/>
                <a:cs typeface="Arial"/>
                <a:hlinkClick r:id="rId2"/>
              </a:rPr>
              <a:t>https://dev.mysql.com/downloads/file/?id=510039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3648" y="62306"/>
            <a:ext cx="560133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Tutorial </a:t>
            </a:r>
            <a:r>
              <a:rPr spc="-5" dirty="0"/>
              <a:t>de instalação do SGBD</a:t>
            </a:r>
            <a:r>
              <a:rPr spc="-130" dirty="0"/>
              <a:t> </a:t>
            </a:r>
            <a:r>
              <a:rPr spc="-5" dirty="0"/>
              <a:t>MySQL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99032" y="1130806"/>
            <a:ext cx="7080884" cy="4010025"/>
            <a:chOff x="1399032" y="1130806"/>
            <a:chExt cx="7080884" cy="4010025"/>
          </a:xfrm>
        </p:grpSpPr>
        <p:sp>
          <p:nvSpPr>
            <p:cNvPr id="5" name="object 5"/>
            <p:cNvSpPr/>
            <p:nvPr/>
          </p:nvSpPr>
          <p:spPr>
            <a:xfrm>
              <a:off x="1399032" y="1130806"/>
              <a:ext cx="5020056" cy="395782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39667" y="4558283"/>
              <a:ext cx="3255264" cy="5791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58539" y="4954803"/>
              <a:ext cx="80518" cy="755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32454" y="4581144"/>
              <a:ext cx="3024505" cy="424180"/>
            </a:xfrm>
            <a:custGeom>
              <a:avLst/>
              <a:gdLst/>
              <a:ahLst/>
              <a:cxnLst/>
              <a:rect l="l" t="t" r="r" b="b"/>
              <a:pathLst>
                <a:path w="3024504" h="424179">
                  <a:moveTo>
                    <a:pt x="3020949" y="0"/>
                  </a:moveTo>
                  <a:lnTo>
                    <a:pt x="0" y="398843"/>
                  </a:lnTo>
                  <a:lnTo>
                    <a:pt x="3301" y="424014"/>
                  </a:lnTo>
                  <a:lnTo>
                    <a:pt x="3024251" y="25171"/>
                  </a:lnTo>
                  <a:lnTo>
                    <a:pt x="3020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09588" y="3771899"/>
              <a:ext cx="1869948" cy="13685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60108" y="4216908"/>
              <a:ext cx="1283207" cy="3444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58228" y="4399787"/>
              <a:ext cx="844296" cy="3444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046468" y="4251452"/>
            <a:ext cx="1043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820" marR="5080" indent="-19812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Para </a:t>
            </a:r>
            <a:r>
              <a:rPr sz="1200" b="1" dirty="0">
                <a:latin typeface="Arial"/>
                <a:cs typeface="Arial"/>
              </a:rPr>
              <a:t>ignorar</a:t>
            </a:r>
            <a:r>
              <a:rPr sz="1200" b="1" spc="-204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  </a:t>
            </a:r>
            <a:r>
              <a:rPr sz="1200" b="1" spc="-5" dirty="0">
                <a:latin typeface="Arial"/>
                <a:cs typeface="Arial"/>
              </a:rPr>
              <a:t>cadastro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77722"/>
            <a:ext cx="6573011" cy="4988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6047" y="39622"/>
            <a:ext cx="6851904" cy="5090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6047" y="0"/>
            <a:ext cx="6851904" cy="51434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5003" y="86867"/>
            <a:ext cx="6734556" cy="5056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9763" y="30479"/>
            <a:ext cx="6783324" cy="51130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4430" y="48590"/>
            <a:ext cx="27673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Acessando o</a:t>
            </a:r>
            <a:r>
              <a:rPr spc="-110" dirty="0"/>
              <a:t> </a:t>
            </a:r>
            <a:r>
              <a:rPr spc="-5" dirty="0"/>
              <a:t>Mysql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1048511"/>
            <a:ext cx="5229743" cy="601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4428" y="584453"/>
            <a:ext cx="904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01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Opção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428" y="1980692"/>
            <a:ext cx="7151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02 </a:t>
            </a:r>
            <a:r>
              <a:rPr sz="1800" spc="-5" dirty="0">
                <a:latin typeface="Carlito"/>
                <a:cs typeface="Carlito"/>
              </a:rPr>
              <a:t>Opção: </a:t>
            </a:r>
            <a:r>
              <a:rPr sz="1800" dirty="0">
                <a:latin typeface="Carlito"/>
                <a:cs typeface="Carlito"/>
              </a:rPr>
              <a:t>Ir </a:t>
            </a:r>
            <a:r>
              <a:rPr sz="1800" spc="-5" dirty="0">
                <a:latin typeface="Carlito"/>
                <a:cs typeface="Carlito"/>
              </a:rPr>
              <a:t>no </a:t>
            </a:r>
            <a:r>
              <a:rPr sz="1800" spc="-10" dirty="0">
                <a:latin typeface="Carlito"/>
                <a:cs typeface="Carlito"/>
              </a:rPr>
              <a:t>prompt </a:t>
            </a:r>
            <a:r>
              <a:rPr sz="1800" spc="-5" dirty="0">
                <a:latin typeface="Carlito"/>
                <a:cs typeface="Carlito"/>
              </a:rPr>
              <a:t>de </a:t>
            </a:r>
            <a:r>
              <a:rPr sz="1800" spc="-10" dirty="0">
                <a:latin typeface="Carlito"/>
                <a:cs typeface="Carlito"/>
              </a:rPr>
              <a:t>comando </a:t>
            </a:r>
            <a:r>
              <a:rPr sz="1800" dirty="0">
                <a:latin typeface="Carlito"/>
                <a:cs typeface="Carlito"/>
              </a:rPr>
              <a:t>e </a:t>
            </a:r>
            <a:r>
              <a:rPr sz="1800" spc="-5" dirty="0">
                <a:latin typeface="Carlito"/>
                <a:cs typeface="Carlito"/>
              </a:rPr>
              <a:t>digitar-&gt; </a:t>
            </a:r>
            <a:r>
              <a:rPr sz="1800" spc="-10" dirty="0">
                <a:latin typeface="Carlito"/>
                <a:cs typeface="Carlito"/>
              </a:rPr>
              <a:t>mysql </a:t>
            </a:r>
            <a:r>
              <a:rPr sz="1800" spc="-55" dirty="0">
                <a:latin typeface="Arial"/>
                <a:cs typeface="Arial"/>
              </a:rPr>
              <a:t>–</a:t>
            </a:r>
            <a:r>
              <a:rPr sz="1800" spc="-55" dirty="0">
                <a:latin typeface="Carlito"/>
                <a:cs typeface="Carlito"/>
              </a:rPr>
              <a:t>h </a:t>
            </a:r>
            <a:r>
              <a:rPr sz="1800" spc="-5" dirty="0">
                <a:latin typeface="Carlito"/>
                <a:cs typeface="Carlito"/>
              </a:rPr>
              <a:t>localhost </a:t>
            </a:r>
            <a:r>
              <a:rPr sz="1800" spc="-55" dirty="0">
                <a:latin typeface="Arial"/>
                <a:cs typeface="Arial"/>
              </a:rPr>
              <a:t>–</a:t>
            </a:r>
            <a:r>
              <a:rPr sz="1800" spc="-55" dirty="0">
                <a:latin typeface="Carlito"/>
                <a:cs typeface="Carlito"/>
              </a:rPr>
              <a:t>u </a:t>
            </a:r>
            <a:r>
              <a:rPr sz="1800" spc="-10" dirty="0">
                <a:latin typeface="Carlito"/>
                <a:cs typeface="Carlito"/>
              </a:rPr>
              <a:t>root</a:t>
            </a:r>
            <a:r>
              <a:rPr sz="1800" spc="229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-p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846836"/>
            <a:ext cx="2402205" cy="86614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sz="2900" spc="-15" dirty="0">
                <a:latin typeface="Carlito"/>
                <a:cs typeface="Carlito"/>
              </a:rPr>
              <a:t>Estrutura </a:t>
            </a:r>
            <a:r>
              <a:rPr sz="2900" spc="-5" dirty="0">
                <a:latin typeface="Carlito"/>
                <a:cs typeface="Carlito"/>
              </a:rPr>
              <a:t>da  tabela no</a:t>
            </a:r>
            <a:r>
              <a:rPr sz="2900" spc="-170" dirty="0">
                <a:latin typeface="Carlito"/>
                <a:cs typeface="Carlito"/>
              </a:rPr>
              <a:t> </a:t>
            </a:r>
            <a:r>
              <a:rPr sz="2900" spc="-10" dirty="0">
                <a:latin typeface="Carlito"/>
                <a:cs typeface="Carlito"/>
              </a:rPr>
              <a:t>Mysql</a:t>
            </a:r>
            <a:endParaRPr sz="29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4464" y="1894948"/>
            <a:ext cx="2478405" cy="92710"/>
            <a:chOff x="464464" y="1894948"/>
            <a:chExt cx="2478405" cy="92710"/>
          </a:xfrm>
        </p:grpSpPr>
        <p:sp>
          <p:nvSpPr>
            <p:cNvPr id="4" name="object 4"/>
            <p:cNvSpPr/>
            <p:nvPr/>
          </p:nvSpPr>
          <p:spPr>
            <a:xfrm>
              <a:off x="483869" y="1918696"/>
              <a:ext cx="2440305" cy="45085"/>
            </a:xfrm>
            <a:custGeom>
              <a:avLst/>
              <a:gdLst/>
              <a:ahLst/>
              <a:cxnLst/>
              <a:rect l="l" t="t" r="r" b="b"/>
              <a:pathLst>
                <a:path w="2440305" h="45085">
                  <a:moveTo>
                    <a:pt x="1600870" y="0"/>
                  </a:moveTo>
                  <a:lnTo>
                    <a:pt x="1552636" y="1041"/>
                  </a:lnTo>
                  <a:lnTo>
                    <a:pt x="1503153" y="3052"/>
                  </a:lnTo>
                  <a:lnTo>
                    <a:pt x="1347287" y="11175"/>
                  </a:lnTo>
                  <a:lnTo>
                    <a:pt x="1292882" y="13337"/>
                  </a:lnTo>
                  <a:lnTo>
                    <a:pt x="1237266" y="14605"/>
                  </a:lnTo>
                  <a:lnTo>
                    <a:pt x="1180444" y="14608"/>
                  </a:lnTo>
                  <a:lnTo>
                    <a:pt x="1122426" y="12973"/>
                  </a:lnTo>
                  <a:lnTo>
                    <a:pt x="1058143" y="5991"/>
                  </a:lnTo>
                  <a:lnTo>
                    <a:pt x="997941" y="2631"/>
                  </a:lnTo>
                  <a:lnTo>
                    <a:pt x="941491" y="2152"/>
                  </a:lnTo>
                  <a:lnTo>
                    <a:pt x="888465" y="3811"/>
                  </a:lnTo>
                  <a:lnTo>
                    <a:pt x="838535" y="6867"/>
                  </a:lnTo>
                  <a:lnTo>
                    <a:pt x="746649" y="14199"/>
                  </a:lnTo>
                  <a:lnTo>
                    <a:pt x="704037" y="16992"/>
                  </a:lnTo>
                  <a:lnTo>
                    <a:pt x="663208" y="18213"/>
                  </a:lnTo>
                  <a:lnTo>
                    <a:pt x="623833" y="17120"/>
                  </a:lnTo>
                  <a:lnTo>
                    <a:pt x="585584" y="12973"/>
                  </a:lnTo>
                  <a:lnTo>
                    <a:pt x="548086" y="10322"/>
                  </a:lnTo>
                  <a:lnTo>
                    <a:pt x="507302" y="8201"/>
                  </a:lnTo>
                  <a:lnTo>
                    <a:pt x="463602" y="6597"/>
                  </a:lnTo>
                  <a:lnTo>
                    <a:pt x="417354" y="5494"/>
                  </a:lnTo>
                  <a:lnTo>
                    <a:pt x="368929" y="4877"/>
                  </a:lnTo>
                  <a:lnTo>
                    <a:pt x="318695" y="4733"/>
                  </a:lnTo>
                  <a:lnTo>
                    <a:pt x="267022" y="5047"/>
                  </a:lnTo>
                  <a:lnTo>
                    <a:pt x="214279" y="5804"/>
                  </a:lnTo>
                  <a:lnTo>
                    <a:pt x="160836" y="6990"/>
                  </a:lnTo>
                  <a:lnTo>
                    <a:pt x="107062" y="8589"/>
                  </a:lnTo>
                  <a:lnTo>
                    <a:pt x="53327" y="10588"/>
                  </a:lnTo>
                  <a:lnTo>
                    <a:pt x="0" y="12973"/>
                  </a:lnTo>
                  <a:lnTo>
                    <a:pt x="393" y="16021"/>
                  </a:lnTo>
                  <a:lnTo>
                    <a:pt x="0" y="26689"/>
                  </a:lnTo>
                  <a:lnTo>
                    <a:pt x="55736" y="31100"/>
                  </a:lnTo>
                  <a:lnTo>
                    <a:pt x="110026" y="34433"/>
                  </a:lnTo>
                  <a:lnTo>
                    <a:pt x="163035" y="36782"/>
                  </a:lnTo>
                  <a:lnTo>
                    <a:pt x="214927" y="38238"/>
                  </a:lnTo>
                  <a:lnTo>
                    <a:pt x="265865" y="38897"/>
                  </a:lnTo>
                  <a:lnTo>
                    <a:pt x="316015" y="38852"/>
                  </a:lnTo>
                  <a:lnTo>
                    <a:pt x="365540" y="38197"/>
                  </a:lnTo>
                  <a:lnTo>
                    <a:pt x="414605" y="37024"/>
                  </a:lnTo>
                  <a:lnTo>
                    <a:pt x="463374" y="35429"/>
                  </a:lnTo>
                  <a:lnTo>
                    <a:pt x="512011" y="33504"/>
                  </a:lnTo>
                  <a:lnTo>
                    <a:pt x="658774" y="26689"/>
                  </a:lnTo>
                  <a:lnTo>
                    <a:pt x="713354" y="28412"/>
                  </a:lnTo>
                  <a:lnTo>
                    <a:pt x="765428" y="30824"/>
                  </a:lnTo>
                  <a:lnTo>
                    <a:pt x="815503" y="33660"/>
                  </a:lnTo>
                  <a:lnTo>
                    <a:pt x="911675" y="39535"/>
                  </a:lnTo>
                  <a:lnTo>
                    <a:pt x="958785" y="42042"/>
                  </a:lnTo>
                  <a:lnTo>
                    <a:pt x="1005916" y="43907"/>
                  </a:lnTo>
                  <a:lnTo>
                    <a:pt x="1053576" y="44863"/>
                  </a:lnTo>
                  <a:lnTo>
                    <a:pt x="1102270" y="44644"/>
                  </a:lnTo>
                  <a:lnTo>
                    <a:pt x="1152504" y="42983"/>
                  </a:lnTo>
                  <a:lnTo>
                    <a:pt x="1204782" y="39614"/>
                  </a:lnTo>
                  <a:lnTo>
                    <a:pt x="1259612" y="34272"/>
                  </a:lnTo>
                  <a:lnTo>
                    <a:pt x="1317498" y="26689"/>
                  </a:lnTo>
                  <a:lnTo>
                    <a:pt x="1378272" y="21061"/>
                  </a:lnTo>
                  <a:lnTo>
                    <a:pt x="1434252" y="17481"/>
                  </a:lnTo>
                  <a:lnTo>
                    <a:pt x="1486384" y="15642"/>
                  </a:lnTo>
                  <a:lnTo>
                    <a:pt x="1535617" y="15235"/>
                  </a:lnTo>
                  <a:lnTo>
                    <a:pt x="1582899" y="15954"/>
                  </a:lnTo>
                  <a:lnTo>
                    <a:pt x="1629178" y="17491"/>
                  </a:lnTo>
                  <a:lnTo>
                    <a:pt x="1771478" y="23937"/>
                  </a:lnTo>
                  <a:lnTo>
                    <a:pt x="1823226" y="25672"/>
                  </a:lnTo>
                  <a:lnTo>
                    <a:pt x="1878711" y="26689"/>
                  </a:lnTo>
                  <a:lnTo>
                    <a:pt x="1931968" y="23912"/>
                  </a:lnTo>
                  <a:lnTo>
                    <a:pt x="1981100" y="22190"/>
                  </a:lnTo>
                  <a:lnTo>
                    <a:pt x="2027331" y="21357"/>
                  </a:lnTo>
                  <a:lnTo>
                    <a:pt x="2071888" y="21246"/>
                  </a:lnTo>
                  <a:lnTo>
                    <a:pt x="2115997" y="21691"/>
                  </a:lnTo>
                  <a:lnTo>
                    <a:pt x="2312483" y="25689"/>
                  </a:lnTo>
                  <a:lnTo>
                    <a:pt x="2372748" y="26411"/>
                  </a:lnTo>
                  <a:lnTo>
                    <a:pt x="2439924" y="26689"/>
                  </a:lnTo>
                  <a:lnTo>
                    <a:pt x="2439670" y="21736"/>
                  </a:lnTo>
                  <a:lnTo>
                    <a:pt x="2439924" y="12973"/>
                  </a:lnTo>
                  <a:lnTo>
                    <a:pt x="2368149" y="9876"/>
                  </a:lnTo>
                  <a:lnTo>
                    <a:pt x="2302272" y="7669"/>
                  </a:lnTo>
                  <a:lnTo>
                    <a:pt x="2241643" y="6251"/>
                  </a:lnTo>
                  <a:lnTo>
                    <a:pt x="2185614" y="5518"/>
                  </a:lnTo>
                  <a:lnTo>
                    <a:pt x="2133534" y="5370"/>
                  </a:lnTo>
                  <a:lnTo>
                    <a:pt x="2084755" y="5704"/>
                  </a:lnTo>
                  <a:lnTo>
                    <a:pt x="2038627" y="6417"/>
                  </a:lnTo>
                  <a:lnTo>
                    <a:pt x="1994501" y="7409"/>
                  </a:lnTo>
                  <a:lnTo>
                    <a:pt x="1825030" y="12119"/>
                  </a:lnTo>
                  <a:lnTo>
                    <a:pt x="1781175" y="12973"/>
                  </a:lnTo>
                  <a:lnTo>
                    <a:pt x="1738008" y="6413"/>
                  </a:lnTo>
                  <a:lnTo>
                    <a:pt x="1693563" y="2313"/>
                  </a:lnTo>
                  <a:lnTo>
                    <a:pt x="1647848" y="299"/>
                  </a:lnTo>
                  <a:lnTo>
                    <a:pt x="160087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3514" y="1913998"/>
              <a:ext cx="2440305" cy="54610"/>
            </a:xfrm>
            <a:custGeom>
              <a:avLst/>
              <a:gdLst/>
              <a:ahLst/>
              <a:cxnLst/>
              <a:rect l="l" t="t" r="r" b="b"/>
              <a:pathLst>
                <a:path w="2440305" h="54610">
                  <a:moveTo>
                    <a:pt x="355" y="17671"/>
                  </a:moveTo>
                  <a:lnTo>
                    <a:pt x="66474" y="16379"/>
                  </a:lnTo>
                  <a:lnTo>
                    <a:pt x="125544" y="15722"/>
                  </a:lnTo>
                  <a:lnTo>
                    <a:pt x="178733" y="15582"/>
                  </a:lnTo>
                  <a:lnTo>
                    <a:pt x="227213" y="15837"/>
                  </a:lnTo>
                  <a:lnTo>
                    <a:pt x="272154" y="16367"/>
                  </a:lnTo>
                  <a:lnTo>
                    <a:pt x="314726" y="17052"/>
                  </a:lnTo>
                  <a:lnTo>
                    <a:pt x="356099" y="17772"/>
                  </a:lnTo>
                  <a:lnTo>
                    <a:pt x="397444" y="18405"/>
                  </a:lnTo>
                  <a:lnTo>
                    <a:pt x="439930" y="18832"/>
                  </a:lnTo>
                  <a:lnTo>
                    <a:pt x="484728" y="18933"/>
                  </a:lnTo>
                  <a:lnTo>
                    <a:pt x="533007" y="18586"/>
                  </a:lnTo>
                  <a:lnTo>
                    <a:pt x="585939" y="17671"/>
                  </a:lnTo>
                  <a:lnTo>
                    <a:pt x="645867" y="14882"/>
                  </a:lnTo>
                  <a:lnTo>
                    <a:pt x="702787" y="11762"/>
                  </a:lnTo>
                  <a:lnTo>
                    <a:pt x="757105" y="8563"/>
                  </a:lnTo>
                  <a:lnTo>
                    <a:pt x="809228" y="5536"/>
                  </a:lnTo>
                  <a:lnTo>
                    <a:pt x="859563" y="2932"/>
                  </a:lnTo>
                  <a:lnTo>
                    <a:pt x="908515" y="1003"/>
                  </a:lnTo>
                  <a:lnTo>
                    <a:pt x="956490" y="0"/>
                  </a:lnTo>
                  <a:lnTo>
                    <a:pt x="1003895" y="174"/>
                  </a:lnTo>
                  <a:lnTo>
                    <a:pt x="1051135" y="1777"/>
                  </a:lnTo>
                  <a:lnTo>
                    <a:pt x="1098618" y="5060"/>
                  </a:lnTo>
                  <a:lnTo>
                    <a:pt x="1146748" y="10274"/>
                  </a:lnTo>
                  <a:lnTo>
                    <a:pt x="1195933" y="17671"/>
                  </a:lnTo>
                  <a:lnTo>
                    <a:pt x="1237291" y="20955"/>
                  </a:lnTo>
                  <a:lnTo>
                    <a:pt x="1280875" y="22681"/>
                  </a:lnTo>
                  <a:lnTo>
                    <a:pt x="1326533" y="23136"/>
                  </a:lnTo>
                  <a:lnTo>
                    <a:pt x="1374114" y="22610"/>
                  </a:lnTo>
                  <a:lnTo>
                    <a:pt x="1423468" y="21391"/>
                  </a:lnTo>
                  <a:lnTo>
                    <a:pt x="1474444" y="19767"/>
                  </a:lnTo>
                  <a:lnTo>
                    <a:pt x="1526891" y="18026"/>
                  </a:lnTo>
                  <a:lnTo>
                    <a:pt x="1580658" y="16458"/>
                  </a:lnTo>
                  <a:lnTo>
                    <a:pt x="1635595" y="15350"/>
                  </a:lnTo>
                  <a:lnTo>
                    <a:pt x="1691551" y="14990"/>
                  </a:lnTo>
                  <a:lnTo>
                    <a:pt x="1748374" y="15668"/>
                  </a:lnTo>
                  <a:lnTo>
                    <a:pt x="1805914" y="17671"/>
                  </a:lnTo>
                  <a:lnTo>
                    <a:pt x="1858589" y="17557"/>
                  </a:lnTo>
                  <a:lnTo>
                    <a:pt x="1911695" y="17151"/>
                  </a:lnTo>
                  <a:lnTo>
                    <a:pt x="1965113" y="16546"/>
                  </a:lnTo>
                  <a:lnTo>
                    <a:pt x="2018724" y="15837"/>
                  </a:lnTo>
                  <a:lnTo>
                    <a:pt x="2072409" y="15117"/>
                  </a:lnTo>
                  <a:lnTo>
                    <a:pt x="2126049" y="14481"/>
                  </a:lnTo>
                  <a:lnTo>
                    <a:pt x="2179526" y="14021"/>
                  </a:lnTo>
                  <a:lnTo>
                    <a:pt x="2232719" y="13833"/>
                  </a:lnTo>
                  <a:lnTo>
                    <a:pt x="2285510" y="14010"/>
                  </a:lnTo>
                  <a:lnTo>
                    <a:pt x="2337780" y="14646"/>
                  </a:lnTo>
                  <a:lnTo>
                    <a:pt x="2389409" y="15835"/>
                  </a:lnTo>
                  <a:lnTo>
                    <a:pt x="2440279" y="17671"/>
                  </a:lnTo>
                  <a:lnTo>
                    <a:pt x="2439898" y="21354"/>
                  </a:lnTo>
                  <a:lnTo>
                    <a:pt x="2439644" y="27069"/>
                  </a:lnTo>
                  <a:lnTo>
                    <a:pt x="2373343" y="38368"/>
                  </a:lnTo>
                  <a:lnTo>
                    <a:pt x="2312757" y="43964"/>
                  </a:lnTo>
                  <a:lnTo>
                    <a:pt x="2257494" y="48211"/>
                  </a:lnTo>
                  <a:lnTo>
                    <a:pt x="2206529" y="51143"/>
                  </a:lnTo>
                  <a:lnTo>
                    <a:pt x="2158833" y="52794"/>
                  </a:lnTo>
                  <a:lnTo>
                    <a:pt x="2113381" y="53200"/>
                  </a:lnTo>
                  <a:lnTo>
                    <a:pt x="2069146" y="52393"/>
                  </a:lnTo>
                  <a:lnTo>
                    <a:pt x="2025102" y="50409"/>
                  </a:lnTo>
                  <a:lnTo>
                    <a:pt x="1980222" y="47282"/>
                  </a:lnTo>
                  <a:lnTo>
                    <a:pt x="1933479" y="43047"/>
                  </a:lnTo>
                  <a:lnTo>
                    <a:pt x="1883846" y="37737"/>
                  </a:lnTo>
                  <a:lnTo>
                    <a:pt x="1830298" y="31387"/>
                  </a:lnTo>
                  <a:lnTo>
                    <a:pt x="1774447" y="28419"/>
                  </a:lnTo>
                  <a:lnTo>
                    <a:pt x="1723334" y="25519"/>
                  </a:lnTo>
                  <a:lnTo>
                    <a:pt x="1675701" y="22862"/>
                  </a:lnTo>
                  <a:lnTo>
                    <a:pt x="1630292" y="20623"/>
                  </a:lnTo>
                  <a:lnTo>
                    <a:pt x="1585850" y="18978"/>
                  </a:lnTo>
                  <a:lnTo>
                    <a:pt x="1541117" y="18103"/>
                  </a:lnTo>
                  <a:lnTo>
                    <a:pt x="1494835" y="18171"/>
                  </a:lnTo>
                  <a:lnTo>
                    <a:pt x="1445749" y="19358"/>
                  </a:lnTo>
                  <a:lnTo>
                    <a:pt x="1392600" y="21840"/>
                  </a:lnTo>
                  <a:lnTo>
                    <a:pt x="1334131" y="25791"/>
                  </a:lnTo>
                  <a:lnTo>
                    <a:pt x="1269085" y="31387"/>
                  </a:lnTo>
                  <a:lnTo>
                    <a:pt x="1203770" y="39972"/>
                  </a:lnTo>
                  <a:lnTo>
                    <a:pt x="1143526" y="46366"/>
                  </a:lnTo>
                  <a:lnTo>
                    <a:pt x="1087614" y="50727"/>
                  </a:lnTo>
                  <a:lnTo>
                    <a:pt x="1035299" y="53212"/>
                  </a:lnTo>
                  <a:lnTo>
                    <a:pt x="985844" y="53981"/>
                  </a:lnTo>
                  <a:lnTo>
                    <a:pt x="938513" y="53191"/>
                  </a:lnTo>
                  <a:lnTo>
                    <a:pt x="892570" y="51000"/>
                  </a:lnTo>
                  <a:lnTo>
                    <a:pt x="847276" y="47566"/>
                  </a:lnTo>
                  <a:lnTo>
                    <a:pt x="801897" y="43048"/>
                  </a:lnTo>
                  <a:lnTo>
                    <a:pt x="755696" y="37602"/>
                  </a:lnTo>
                  <a:lnTo>
                    <a:pt x="707936" y="31387"/>
                  </a:lnTo>
                  <a:lnTo>
                    <a:pt x="667916" y="33281"/>
                  </a:lnTo>
                  <a:lnTo>
                    <a:pt x="626813" y="35066"/>
                  </a:lnTo>
                  <a:lnTo>
                    <a:pt x="584494" y="36698"/>
                  </a:lnTo>
                  <a:lnTo>
                    <a:pt x="540824" y="38130"/>
                  </a:lnTo>
                  <a:lnTo>
                    <a:pt x="495669" y="39316"/>
                  </a:lnTo>
                  <a:lnTo>
                    <a:pt x="448896" y="40212"/>
                  </a:lnTo>
                  <a:lnTo>
                    <a:pt x="400370" y="40770"/>
                  </a:lnTo>
                  <a:lnTo>
                    <a:pt x="349957" y="40945"/>
                  </a:lnTo>
                  <a:lnTo>
                    <a:pt x="297524" y="40691"/>
                  </a:lnTo>
                  <a:lnTo>
                    <a:pt x="242936" y="39963"/>
                  </a:lnTo>
                  <a:lnTo>
                    <a:pt x="186059" y="38714"/>
                  </a:lnTo>
                  <a:lnTo>
                    <a:pt x="126759" y="36899"/>
                  </a:lnTo>
                  <a:lnTo>
                    <a:pt x="64903" y="34472"/>
                  </a:lnTo>
                  <a:lnTo>
                    <a:pt x="355" y="31387"/>
                  </a:lnTo>
                  <a:lnTo>
                    <a:pt x="0" y="25418"/>
                  </a:lnTo>
                  <a:lnTo>
                    <a:pt x="76" y="20338"/>
                  </a:lnTo>
                  <a:lnTo>
                    <a:pt x="355" y="17671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094" y="2099564"/>
            <a:ext cx="2176780" cy="14471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63500">
              <a:lnSpc>
                <a:spcPts val="1839"/>
              </a:lnSpc>
              <a:spcBef>
                <a:spcPts val="33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dirty="0">
                <a:latin typeface="Carlito"/>
                <a:cs typeface="Carlito"/>
              </a:rPr>
              <a:t>01 </a:t>
            </a:r>
            <a:r>
              <a:rPr sz="1700" spc="-100" dirty="0">
                <a:latin typeface="Arial"/>
                <a:cs typeface="Arial"/>
              </a:rPr>
              <a:t>– </a:t>
            </a:r>
            <a:r>
              <a:rPr sz="1700" dirty="0">
                <a:latin typeface="Carlito"/>
                <a:cs typeface="Carlito"/>
              </a:rPr>
              <a:t>Criar o </a:t>
            </a:r>
            <a:r>
              <a:rPr sz="1700" spc="-5" dirty="0">
                <a:latin typeface="Carlito"/>
                <a:cs typeface="Carlito"/>
              </a:rPr>
              <a:t>Banco</a:t>
            </a:r>
            <a:r>
              <a:rPr sz="1700" spc="-8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de  dados chamado</a:t>
            </a:r>
            <a:r>
              <a:rPr sz="1700" spc="-6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Crud</a:t>
            </a:r>
            <a:endParaRPr sz="17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spc="-10" dirty="0">
                <a:latin typeface="Carlito"/>
                <a:cs typeface="Carlito"/>
              </a:rPr>
              <a:t>Create </a:t>
            </a:r>
            <a:r>
              <a:rPr sz="1700" spc="-5" dirty="0">
                <a:latin typeface="Carlito"/>
                <a:cs typeface="Carlito"/>
              </a:rPr>
              <a:t>database</a:t>
            </a:r>
            <a:r>
              <a:rPr sz="1700" spc="-90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crud;</a:t>
            </a:r>
            <a:endParaRPr sz="17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dirty="0">
                <a:latin typeface="Carlito"/>
                <a:cs typeface="Carlito"/>
              </a:rPr>
              <a:t>Use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crud;</a:t>
            </a:r>
            <a:endParaRPr sz="17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dirty="0">
                <a:latin typeface="Carlito"/>
                <a:cs typeface="Carlito"/>
              </a:rPr>
              <a:t>02 </a:t>
            </a:r>
            <a:r>
              <a:rPr sz="1700" spc="-100" dirty="0">
                <a:latin typeface="Arial"/>
                <a:cs typeface="Arial"/>
              </a:rPr>
              <a:t>– </a:t>
            </a:r>
            <a:r>
              <a:rPr sz="1700" dirty="0">
                <a:latin typeface="Carlito"/>
                <a:cs typeface="Carlito"/>
              </a:rPr>
              <a:t>Criar a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tabela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76600" y="1088137"/>
            <a:ext cx="5487924" cy="1464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5FDA0E9-7D03-C299-C71D-5F3301AC01F9}"/>
              </a:ext>
            </a:extLst>
          </p:cNvPr>
          <p:cNvSpPr txBox="1"/>
          <p:nvPr/>
        </p:nvSpPr>
        <p:spPr>
          <a:xfrm>
            <a:off x="3276600" y="272415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CREATE TABLE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clientes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id INT NOT NULL AUTO_INCREMENT,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VARCHAR(255) NOT NULL,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idade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int NOT NULL,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uf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VARCHAR(20) NOT NULL,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PRIMARY KEY (id)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9610" y="48590"/>
            <a:ext cx="36988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</a:t>
            </a:r>
            <a:r>
              <a:rPr spc="-110" dirty="0"/>
              <a:t> </a:t>
            </a:r>
            <a:r>
              <a:rPr spc="-5" dirty="0"/>
              <a:t>Mysql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682828"/>
            <a:ext cx="8688070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6390" indent="-314325" algn="just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27025" algn="l"/>
              </a:tabLst>
            </a:pPr>
            <a:r>
              <a:rPr sz="2000" spc="-5" dirty="0" err="1">
                <a:latin typeface="Carlito"/>
                <a:cs typeface="Carlito"/>
              </a:rPr>
              <a:t>Crie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uma </a:t>
            </a:r>
            <a:r>
              <a:rPr sz="2000" spc="-10" dirty="0">
                <a:latin typeface="Carlito"/>
                <a:cs typeface="Carlito"/>
              </a:rPr>
              <a:t>pasta para </a:t>
            </a:r>
            <a:r>
              <a:rPr sz="2000" dirty="0">
                <a:latin typeface="Carlito"/>
                <a:cs typeface="Carlito"/>
              </a:rPr>
              <a:t>o </a:t>
            </a:r>
            <a:r>
              <a:rPr sz="2000" spc="-15" dirty="0">
                <a:latin typeface="Carlito"/>
                <a:cs typeface="Carlito"/>
              </a:rPr>
              <a:t>projeto, </a:t>
            </a:r>
            <a:r>
              <a:rPr sz="2000" spc="-5" dirty="0">
                <a:latin typeface="Carlito"/>
                <a:cs typeface="Carlito"/>
              </a:rPr>
              <a:t>com </a:t>
            </a:r>
            <a:r>
              <a:rPr sz="2000" dirty="0">
                <a:latin typeface="Carlito"/>
                <a:cs typeface="Carlito"/>
              </a:rPr>
              <a:t>o nome que</a:t>
            </a:r>
            <a:r>
              <a:rPr sz="2000" spc="-7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quiser</a:t>
            </a:r>
            <a:endParaRPr sz="2000" dirty="0">
              <a:latin typeface="Carlito"/>
              <a:cs typeface="Carlito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27025" algn="l"/>
              </a:tabLst>
            </a:pPr>
            <a:r>
              <a:rPr lang="pt-BR" sz="2000" spc="-10" dirty="0">
                <a:latin typeface="Carlito"/>
                <a:cs typeface="Carlito"/>
              </a:rPr>
              <a:t>  </a:t>
            </a:r>
            <a:r>
              <a:rPr sz="2000" spc="-10" dirty="0" err="1">
                <a:latin typeface="Carlito"/>
                <a:cs typeface="Carlito"/>
              </a:rPr>
              <a:t>Abra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 </a:t>
            </a:r>
            <a:r>
              <a:rPr sz="2000" spc="-5" dirty="0">
                <a:latin typeface="Carlito"/>
                <a:cs typeface="Carlito"/>
              </a:rPr>
              <a:t>terminal </a:t>
            </a:r>
            <a:r>
              <a:rPr sz="2000" dirty="0">
                <a:latin typeface="Carlito"/>
                <a:cs typeface="Carlito"/>
              </a:rPr>
              <a:t>e </a:t>
            </a:r>
            <a:r>
              <a:rPr sz="2000" spc="-10" dirty="0">
                <a:latin typeface="Carlito"/>
                <a:cs typeface="Carlito"/>
              </a:rPr>
              <a:t>dentro </a:t>
            </a:r>
            <a:r>
              <a:rPr sz="2000" spc="-5" dirty="0">
                <a:latin typeface="Carlito"/>
                <a:cs typeface="Carlito"/>
              </a:rPr>
              <a:t>dessa </a:t>
            </a:r>
            <a:r>
              <a:rPr sz="2000" spc="-15" dirty="0">
                <a:latin typeface="Carlito"/>
                <a:cs typeface="Carlito"/>
              </a:rPr>
              <a:t>pasta rode </a:t>
            </a:r>
            <a:r>
              <a:rPr sz="2000" spc="5" dirty="0">
                <a:latin typeface="Carlito"/>
                <a:cs typeface="Carlito"/>
              </a:rPr>
              <a:t>um </a:t>
            </a:r>
            <a:r>
              <a:rPr sz="2000" b="1" dirty="0">
                <a:latin typeface="Carlito"/>
                <a:cs typeface="Carlito"/>
              </a:rPr>
              <a:t>npm init </a:t>
            </a:r>
            <a:r>
              <a:rPr sz="2000" spc="-15" dirty="0">
                <a:latin typeface="Carlito"/>
                <a:cs typeface="Carlito"/>
              </a:rPr>
              <a:t>para </a:t>
            </a:r>
            <a:r>
              <a:rPr sz="2000" spc="-5" dirty="0">
                <a:latin typeface="Carlito"/>
                <a:cs typeface="Carlito"/>
              </a:rPr>
              <a:t>inicializar </a:t>
            </a:r>
            <a:r>
              <a:rPr sz="2000" dirty="0">
                <a:latin typeface="Carlito"/>
                <a:cs typeface="Carlito"/>
              </a:rPr>
              <a:t>o </a:t>
            </a:r>
            <a:r>
              <a:rPr sz="2000" spc="-15" dirty="0">
                <a:latin typeface="Carlito"/>
                <a:cs typeface="Carlito"/>
              </a:rPr>
              <a:t>projeto  </a:t>
            </a:r>
            <a:r>
              <a:rPr sz="2000" dirty="0">
                <a:latin typeface="Carlito"/>
                <a:cs typeface="Carlito"/>
              </a:rPr>
              <a:t>e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dirty="0" err="1">
                <a:latin typeface="Carlito"/>
                <a:cs typeface="Carlito"/>
              </a:rPr>
              <a:t>criar</a:t>
            </a:r>
            <a:r>
              <a:rPr lang="pt-BR" sz="200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package.json</a:t>
            </a:r>
            <a:endParaRPr sz="2000" dirty="0">
              <a:latin typeface="Carlito"/>
              <a:cs typeface="Carlito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03- Ainda </a:t>
            </a:r>
            <a:r>
              <a:rPr sz="2000" spc="-5" dirty="0">
                <a:latin typeface="Carlito"/>
                <a:cs typeface="Carlito"/>
              </a:rPr>
              <a:t>no terminal, </a:t>
            </a:r>
            <a:r>
              <a:rPr sz="2000" dirty="0">
                <a:latin typeface="Carlito"/>
                <a:cs typeface="Carlito"/>
              </a:rPr>
              <a:t>mande </a:t>
            </a:r>
            <a:r>
              <a:rPr sz="2000" spc="-5" dirty="0">
                <a:latin typeface="Carlito"/>
                <a:cs typeface="Carlito"/>
              </a:rPr>
              <a:t>instalar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dependência </a:t>
            </a:r>
            <a:r>
              <a:rPr sz="2000" spc="-15" dirty="0">
                <a:latin typeface="Carlito"/>
                <a:cs typeface="Carlito"/>
              </a:rPr>
              <a:t>mysql2, </a:t>
            </a:r>
            <a:r>
              <a:rPr sz="2000" spc="-5" dirty="0">
                <a:latin typeface="Carlito"/>
                <a:cs typeface="Carlito"/>
              </a:rPr>
              <a:t>como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10" dirty="0" err="1">
                <a:latin typeface="Carlito"/>
                <a:cs typeface="Carlito"/>
              </a:rPr>
              <a:t>abaixo</a:t>
            </a:r>
            <a:r>
              <a:rPr sz="2000" spc="-10" dirty="0">
                <a:latin typeface="Carlito"/>
                <a:cs typeface="Carlito"/>
              </a:rPr>
              <a:t>.</a:t>
            </a:r>
            <a:endParaRPr lang="pt-BR" sz="2000" dirty="0">
              <a:latin typeface="Carlito"/>
              <a:cs typeface="Carlito"/>
            </a:endParaRPr>
          </a:p>
          <a:p>
            <a:pPr marL="927100" algn="just">
              <a:lnSpc>
                <a:spcPct val="100000"/>
              </a:lnSpc>
            </a:pPr>
            <a:r>
              <a:rPr lang="pt-BR" sz="2000" b="1" dirty="0" err="1">
                <a:solidFill>
                  <a:srgbClr val="800080"/>
                </a:solidFill>
                <a:latin typeface="Carlito"/>
                <a:cs typeface="Carlito"/>
              </a:rPr>
              <a:t>npm</a:t>
            </a:r>
            <a:r>
              <a:rPr lang="pt-BR" sz="2000" b="1" dirty="0">
                <a:solidFill>
                  <a:srgbClr val="800080"/>
                </a:solidFill>
                <a:latin typeface="Carlito"/>
                <a:cs typeface="Carlito"/>
              </a:rPr>
              <a:t> </a:t>
            </a:r>
            <a:r>
              <a:rPr lang="pt-BR" sz="2000" spc="-10" dirty="0" err="1">
                <a:latin typeface="Carlito"/>
                <a:cs typeface="Carlito"/>
              </a:rPr>
              <a:t>install</a:t>
            </a:r>
            <a:r>
              <a:rPr lang="pt-BR" sz="2000" spc="-10" dirty="0">
                <a:latin typeface="Carlito"/>
                <a:cs typeface="Carlito"/>
              </a:rPr>
              <a:t> </a:t>
            </a:r>
            <a:r>
              <a:rPr lang="pt-BR" sz="2000" spc="-15" dirty="0">
                <a:latin typeface="Carlito"/>
                <a:cs typeface="Carlito"/>
              </a:rPr>
              <a:t>mysql2</a:t>
            </a:r>
            <a:r>
              <a:rPr lang="pt-BR" sz="2000" spc="-5" dirty="0">
                <a:latin typeface="Carlito"/>
                <a:cs typeface="Carlito"/>
              </a:rPr>
              <a:t> </a:t>
            </a:r>
            <a:r>
              <a:rPr lang="pt-BR" sz="2000" spc="-40" dirty="0">
                <a:latin typeface="Arial"/>
                <a:cs typeface="Arial"/>
              </a:rPr>
              <a:t>–</a:t>
            </a:r>
            <a:r>
              <a:rPr lang="pt-BR" sz="2000" spc="-40" dirty="0" err="1">
                <a:latin typeface="Carlito"/>
                <a:cs typeface="Carlito"/>
              </a:rPr>
              <a:t>save</a:t>
            </a:r>
            <a:endParaRPr lang="pt-BR"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119519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Comece criando uma conexão com o banco de dados.</a:t>
            </a:r>
          </a:p>
          <a:p>
            <a:pPr algn="just">
              <a:lnSpc>
                <a:spcPct val="150000"/>
              </a:lnSpc>
            </a:pP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 o nome de usuário e a senha do seu banco de dados MySQL.</a:t>
            </a:r>
          </a:p>
          <a:p>
            <a:pPr algn="just">
              <a:lnSpc>
                <a:spcPct val="150000"/>
              </a:lnSpc>
            </a:pPr>
            <a:endParaRPr lang="pt-BR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6616" y="48590"/>
            <a:ext cx="670369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Criando a</a:t>
            </a:r>
            <a:r>
              <a:rPr spc="-135" dirty="0"/>
              <a:t> </a:t>
            </a:r>
            <a:r>
              <a:rPr spc="-5" dirty="0"/>
              <a:t>conexão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BF89982-F15D-E60B-506B-59682F595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81150"/>
            <a:ext cx="4339175" cy="342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631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36330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Para criar um banco de dados no MySQL, use a instrução "CREATE DATABASE: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Criando um banco de dados</a:t>
            </a:r>
            <a:endParaRPr spc="-5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08FD89-C550-E19E-0298-E12F13F2E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23950"/>
            <a:ext cx="5715109" cy="387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280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36330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Para criar uma tabela no MySQL, use a instrução "CREATE TABLE: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Criando uma tabela</a:t>
            </a:r>
            <a:endParaRPr spc="-5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AEDD4F-B52C-4264-D2D8-74343E923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09123"/>
            <a:ext cx="8302463" cy="37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910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36330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Para preencher uma tabela no MySQL, use a instrução "INSERT INTO"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Inserir na Tabela</a:t>
            </a:r>
            <a:endParaRPr spc="-5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3D01D1-4D7A-76E4-ED7B-AC898E0F5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3950"/>
            <a:ext cx="7429501" cy="381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7582BEB-93D4-E8AF-11E2-671B3C190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369448"/>
            <a:ext cx="1676400" cy="22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846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36330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/>
              <a:t>Para selecionar dados de uma tabela no MySQL, use a instrução "SELECT".</a:t>
            </a:r>
            <a:endParaRPr lang="pt-BR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/>
              <a:t>CRUD Node.js com Mysql – Seleção de uma Tabela</a:t>
            </a:r>
            <a:endParaRPr lang="pt-BR" spc="-5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6FAE33-8391-F78C-6A3C-A346B73F3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23950"/>
            <a:ext cx="6945769" cy="37338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F386D7E-3E47-F82C-7001-579A2100E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455464"/>
            <a:ext cx="1752600" cy="23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317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784" y="186028"/>
            <a:ext cx="8314416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2800" kern="1200" spc="-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CRUD Node.js com </a:t>
            </a:r>
            <a:r>
              <a:rPr lang="en-US" sz="2800" kern="1200" spc="-5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Mysql</a:t>
            </a:r>
            <a:r>
              <a:rPr lang="en-US" sz="2800" kern="1200" spc="-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sz="2800" kern="1200" spc="-5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Selecione</a:t>
            </a:r>
            <a:r>
              <a:rPr lang="en-US" sz="2800" kern="1200" spc="-5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com um </a:t>
            </a:r>
            <a:r>
              <a:rPr lang="en-US" sz="2800" kern="1200" spc="-5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filtro</a:t>
            </a:r>
            <a:endParaRPr lang="en-US" sz="2800" kern="1200" spc="-5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848" y="948646"/>
            <a:ext cx="8268152" cy="9220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 rtl="0"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selecionar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registros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uma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tabela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você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pode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filtrar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seleção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usando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instrução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"WHERE":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3E2A68F-5939-F6B4-820A-91DF09F96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41" y="1637402"/>
            <a:ext cx="7104514" cy="333912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3174E97-F092-60E1-84F7-25AC44859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819370"/>
            <a:ext cx="1584527" cy="21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775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77970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Use a instrução ORDER BY para classificar o resultado em ordem crescente ou decrescente “DESC”.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Ordenar o resultado</a:t>
            </a:r>
            <a:endParaRPr spc="-5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F6EBA6-B41F-B90E-791C-190383DD1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020536"/>
            <a:ext cx="6057205" cy="40471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DE99DEC-9280-D81E-37B2-8DE752012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081" y="2049950"/>
            <a:ext cx="1339919" cy="17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036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77970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Você pode excluir registros de uma tabela existente usando a instrução "DELETE FROM":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Apagar registro</a:t>
            </a:r>
            <a:endParaRPr spc="-5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6EA688-82FE-9C62-70E1-99D5B4CB1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047750"/>
            <a:ext cx="4935736" cy="39709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D3F1F12-440D-20E5-DC3B-88FD6F9F2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1" y="2186937"/>
            <a:ext cx="1371599" cy="18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73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36420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Você pode excluir uma tabela existente usando a instrução "DROP TABLE":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Excluir tabela</a:t>
            </a:r>
            <a:endParaRPr spc="-5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E6F4D9-13AF-CA80-C661-1158868F9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909858"/>
            <a:ext cx="4876800" cy="420540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D9BB415-C699-3C41-0B02-3D4B94307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2114550"/>
            <a:ext cx="1447800" cy="1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360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77970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Você pode atualizar os registros existentes em uma tabela usando a instrução "UPDATE":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Atualizar tabela</a:t>
            </a:r>
            <a:endParaRPr spc="-5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29E98C5-E37C-A0E2-C6A5-E2EBFB9F7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25357"/>
            <a:ext cx="674099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596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77970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Você pode limitar o número de registros retornados da consulta, usando a instrução "LIMIT":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Limite o resultado</a:t>
            </a:r>
            <a:endParaRPr spc="-5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E49087-1547-B159-70DF-548F798AA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145128"/>
            <a:ext cx="5029200" cy="393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954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77970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Você pode combinar linhas de duas ou mais tabelas, com base em uma coluna relacionada entre elas, usando uma instrução JOIN.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Juntar duas ou mais tabela</a:t>
            </a:r>
            <a:endParaRPr spc="-5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B1EECA0-DE95-E2F3-6D8F-ABB8E1C6B0BF}"/>
              </a:ext>
            </a:extLst>
          </p:cNvPr>
          <p:cNvSpPr txBox="1"/>
          <p:nvPr/>
        </p:nvSpPr>
        <p:spPr>
          <a:xfrm>
            <a:off x="4176678" y="1885950"/>
            <a:ext cx="49673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CREATE TABLE pedidos (</a:t>
            </a:r>
          </a:p>
          <a:p>
            <a:r>
              <a:rPr lang="pt-BR" dirty="0"/>
              <a:t>  id INT PRIMARY KEY,</a:t>
            </a:r>
          </a:p>
          <a:p>
            <a:r>
              <a:rPr lang="pt-BR" dirty="0"/>
              <a:t>  </a:t>
            </a:r>
            <a:r>
              <a:rPr lang="pt-BR" dirty="0" err="1"/>
              <a:t>cliente_id</a:t>
            </a:r>
            <a:r>
              <a:rPr lang="pt-BR" dirty="0"/>
              <a:t> INT,</a:t>
            </a:r>
          </a:p>
          <a:p>
            <a:r>
              <a:rPr lang="pt-BR" dirty="0"/>
              <a:t>  produto VARCHAR(100),</a:t>
            </a:r>
          </a:p>
          <a:p>
            <a:r>
              <a:rPr lang="pt-BR" dirty="0"/>
              <a:t>  quantidade INT,</a:t>
            </a:r>
          </a:p>
          <a:p>
            <a:r>
              <a:rPr lang="pt-BR" dirty="0"/>
              <a:t>  </a:t>
            </a:r>
            <a:r>
              <a:rPr lang="pt-BR" dirty="0" err="1"/>
              <a:t>valor_unitario</a:t>
            </a:r>
            <a:r>
              <a:rPr lang="pt-BR" dirty="0"/>
              <a:t> DECIMAL(10, 2),</a:t>
            </a:r>
          </a:p>
          <a:p>
            <a:r>
              <a:rPr lang="pt-BR" dirty="0"/>
              <a:t>  FOREIGN KEY (</a:t>
            </a:r>
            <a:r>
              <a:rPr lang="pt-BR" dirty="0" err="1"/>
              <a:t>cliente_id</a:t>
            </a:r>
            <a:r>
              <a:rPr lang="pt-BR" dirty="0"/>
              <a:t>) REFERENCES clientes(id)</a:t>
            </a:r>
          </a:p>
          <a:p>
            <a:r>
              <a:rPr lang="pt-BR" dirty="0"/>
              <a:t>);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1FE193-889D-7B76-7E91-490A8152A5DF}"/>
              </a:ext>
            </a:extLst>
          </p:cNvPr>
          <p:cNvSpPr txBox="1"/>
          <p:nvPr/>
        </p:nvSpPr>
        <p:spPr>
          <a:xfrm>
            <a:off x="0" y="186690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CREATE TABLE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clientes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id INT NOT NULL AUTO_INCREMENT,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VARCHAR(255) NOT NULL,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idade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int NOT NULL,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6A9955"/>
                </a:solidFill>
                <a:latin typeface="Consolas" panose="020B0609020204030204" pitchFamily="49" charset="0"/>
              </a:rPr>
              <a:t>uf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VARCHAR(20) NOT NULL,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PRIMARY KEY (id)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3398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545656"/>
            <a:ext cx="8610600" cy="77970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Você pode combinar linhas de duas ou mais tabelas, com base em uma coluna relacionada entre elas, usando uma instrução JOIN.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</a:t>
            </a:r>
            <a:r>
              <a:rPr lang="pt-BR" spc="-5" dirty="0"/>
              <a:t>Juntar duas ou mais tabela</a:t>
            </a:r>
            <a:endParaRPr spc="-5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3A26EF-1BA4-AEBE-748C-860295C9C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43" y="1425519"/>
            <a:ext cx="8795992" cy="31723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C80F484-5DD9-1FEB-A92D-5272D529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88079"/>
            <a:ext cx="1524078" cy="20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121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D92E3-EB61-8B06-46B8-BF227A97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06"/>
            <a:ext cx="9143999" cy="384721"/>
          </a:xfrm>
        </p:spPr>
        <p:txBody>
          <a:bodyPr/>
          <a:lstStyle/>
          <a:p>
            <a:pPr algn="ctr"/>
            <a:r>
              <a:rPr lang="pt-BR" spc="-5" dirty="0"/>
              <a:t>Fazendo Requisições para testar usando Thunder </a:t>
            </a:r>
            <a:r>
              <a:rPr lang="pt-BR" spc="-5" dirty="0" err="1"/>
              <a:t>Client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485BB3-D0CD-F392-B76C-954A366AF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2850"/>
            <a:ext cx="8458200" cy="553998"/>
          </a:xfrm>
        </p:spPr>
        <p:txBody>
          <a:bodyPr/>
          <a:lstStyle/>
          <a:p>
            <a:pPr algn="ctr"/>
            <a:r>
              <a:rPr lang="pt-BR" dirty="0">
                <a:hlinkClick r:id="rId2"/>
              </a:rPr>
              <a:t>https://tourmaline-apparatus-8f7.notion.site/Fazendo-Requisi-es-para-testar-usando-Thunder-Client-67b8cfa0ca0841d3a0550698aad5f459?pvs=4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5961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ão em um Tablet com sinais digitais">
            <a:extLst>
              <a:ext uri="{FF2B5EF4-FFF2-40B4-BE49-F238E27FC236}">
                <a16:creationId xmlns:a16="http://schemas.microsoft.com/office/drawing/2014/main" id="{69B130DA-873D-97CE-80E2-F77463E28A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67"/>
          <a:stretch/>
        </p:blipFill>
        <p:spPr>
          <a:xfrm>
            <a:off x="20" y="10"/>
            <a:ext cx="4587406" cy="51434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DDEA15-9A7E-5634-2D7C-44D61DB1F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5800" y="1749972"/>
            <a:ext cx="4648199" cy="28827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sz="2400" b="1" dirty="0"/>
              <a:t>Exemplo de um CRUD simples com Front e Back</a:t>
            </a:r>
          </a:p>
        </p:txBody>
      </p:sp>
    </p:spTree>
    <p:extLst>
      <p:ext uri="{BB962C8B-B14F-4D97-AF65-F5344CB8AC3E}">
        <p14:creationId xmlns:p14="http://schemas.microsoft.com/office/powerpoint/2010/main" val="7233400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742950"/>
            <a:ext cx="8610600" cy="285719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b="1" dirty="0"/>
              <a:t>Estrutura da Tabela usuários</a:t>
            </a:r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r>
              <a:rPr lang="en-US" dirty="0"/>
              <a:t>CREATE TABLE </a:t>
            </a:r>
            <a:r>
              <a:rPr lang="en-US" dirty="0" err="1"/>
              <a:t>usuarios</a:t>
            </a:r>
            <a:r>
              <a:rPr lang="en-US" dirty="0"/>
              <a:t> (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id INT AUTO_INCREMENT PRIMARY KEY,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</a:t>
            </a:r>
            <a:r>
              <a:rPr lang="en-US" dirty="0" err="1"/>
              <a:t>nome</a:t>
            </a:r>
            <a:r>
              <a:rPr lang="en-US" dirty="0"/>
              <a:t> VARCHAR(50) NOT NULL,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email VARCHAR(100) NOT NULL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);</a:t>
            </a:r>
            <a:endParaRPr lang="pt-BR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</a:t>
            </a:r>
            <a:r>
              <a:rPr spc="-5" dirty="0" err="1"/>
              <a:t>Mysql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1950392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742950"/>
            <a:ext cx="8610600" cy="327269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b="1" i="0" dirty="0">
                <a:effectLst/>
                <a:latin typeface="Söhne"/>
              </a:rPr>
              <a:t>Passo 1: Configurar o ambiente e instalar as dependências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Söhne"/>
              </a:rPr>
              <a:t>	Crie uma pasta para o seu projeto e execute o seguinte comando na linha de comando para criar um arquivo </a:t>
            </a:r>
            <a:r>
              <a:rPr lang="pt-BR" dirty="0" err="1">
                <a:latin typeface="Söhne"/>
              </a:rPr>
              <a:t>package.json</a:t>
            </a:r>
            <a:r>
              <a:rPr lang="pt-BR" dirty="0">
                <a:latin typeface="Söhne"/>
              </a:rPr>
              <a:t> e instalar as dependências necessárias:</a:t>
            </a:r>
          </a:p>
          <a:p>
            <a:pPr algn="just">
              <a:lnSpc>
                <a:spcPct val="150000"/>
              </a:lnSpc>
            </a:pPr>
            <a:r>
              <a:rPr lang="pt-BR" b="1" dirty="0" err="1">
                <a:latin typeface="Söhne"/>
              </a:rPr>
              <a:t>npm</a:t>
            </a:r>
            <a:r>
              <a:rPr lang="pt-BR" b="1" dirty="0">
                <a:latin typeface="Söhne"/>
              </a:rPr>
              <a:t> </a:t>
            </a:r>
            <a:r>
              <a:rPr lang="pt-BR" b="1" dirty="0" err="1">
                <a:latin typeface="Söhne"/>
              </a:rPr>
              <a:t>init</a:t>
            </a:r>
            <a:r>
              <a:rPr lang="pt-BR" b="1" dirty="0">
                <a:latin typeface="Söhne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pt-BR" b="1" dirty="0" err="1">
                <a:latin typeface="Söhne"/>
              </a:rPr>
              <a:t>npm</a:t>
            </a:r>
            <a:r>
              <a:rPr lang="pt-BR" b="1" dirty="0">
                <a:latin typeface="Söhne"/>
              </a:rPr>
              <a:t> </a:t>
            </a:r>
            <a:r>
              <a:rPr lang="pt-BR" b="1" dirty="0" err="1">
                <a:latin typeface="Söhne"/>
              </a:rPr>
              <a:t>install</a:t>
            </a:r>
            <a:r>
              <a:rPr lang="pt-BR" b="1" dirty="0">
                <a:latin typeface="Söhne"/>
              </a:rPr>
              <a:t> </a:t>
            </a:r>
            <a:r>
              <a:rPr lang="pt-BR" b="1" dirty="0" err="1">
                <a:latin typeface="Söhne"/>
              </a:rPr>
              <a:t>express</a:t>
            </a:r>
            <a:r>
              <a:rPr lang="pt-BR" b="1" dirty="0">
                <a:latin typeface="Söhne"/>
              </a:rPr>
              <a:t> mysql2 body-parser </a:t>
            </a:r>
            <a:r>
              <a:rPr lang="pt-BR" b="1" dirty="0" err="1">
                <a:latin typeface="Söhne"/>
              </a:rPr>
              <a:t>ejs</a:t>
            </a:r>
            <a:endParaRPr lang="pt-BR" b="1" dirty="0">
              <a:latin typeface="Söhne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latin typeface="Söhne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endParaRPr lang="pt-BR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</a:t>
            </a:r>
            <a:r>
              <a:rPr spc="-5" dirty="0" err="1"/>
              <a:t>Mysql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8856628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742950"/>
            <a:ext cx="8610600" cy="36881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b="1" i="0" dirty="0">
                <a:effectLst/>
                <a:latin typeface="Söhne"/>
              </a:rPr>
              <a:t>Passo 2: Criar a estrutura do projeto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Söhne"/>
              </a:rPr>
              <a:t>Crie os seguintes arquivos na pasta do seu projeto: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latin typeface="Söhne"/>
              </a:rPr>
              <a:t>app.js: </a:t>
            </a:r>
            <a:r>
              <a:rPr lang="pt-BR" dirty="0">
                <a:latin typeface="Söhne"/>
              </a:rPr>
              <a:t>O arquivo principal do aplicativo.</a:t>
            </a:r>
          </a:p>
          <a:p>
            <a:pPr algn="just">
              <a:lnSpc>
                <a:spcPct val="150000"/>
              </a:lnSpc>
            </a:pPr>
            <a:r>
              <a:rPr lang="pt-BR" b="1" dirty="0" err="1">
                <a:latin typeface="Söhne"/>
              </a:rPr>
              <a:t>views</a:t>
            </a:r>
            <a:r>
              <a:rPr lang="pt-BR" b="1" dirty="0">
                <a:latin typeface="Söhne"/>
              </a:rPr>
              <a:t>/: </a:t>
            </a:r>
            <a:r>
              <a:rPr lang="pt-BR" dirty="0">
                <a:latin typeface="Söhne"/>
              </a:rPr>
              <a:t>Uma pasta para armazenar os arquivos de visualização.</a:t>
            </a:r>
          </a:p>
          <a:p>
            <a:pPr algn="just">
              <a:lnSpc>
                <a:spcPct val="150000"/>
              </a:lnSpc>
            </a:pPr>
            <a:r>
              <a:rPr lang="pt-BR" b="1" dirty="0" err="1">
                <a:latin typeface="Söhne"/>
              </a:rPr>
              <a:t>views</a:t>
            </a:r>
            <a:r>
              <a:rPr lang="pt-BR" b="1" dirty="0">
                <a:latin typeface="Söhne"/>
              </a:rPr>
              <a:t>/</a:t>
            </a:r>
            <a:r>
              <a:rPr lang="pt-BR" b="1" dirty="0" err="1">
                <a:latin typeface="Söhne"/>
              </a:rPr>
              <a:t>index.ejs</a:t>
            </a:r>
            <a:r>
              <a:rPr lang="pt-BR" b="1" dirty="0">
                <a:latin typeface="Söhne"/>
              </a:rPr>
              <a:t>: </a:t>
            </a:r>
            <a:r>
              <a:rPr lang="pt-BR" dirty="0">
                <a:latin typeface="Söhne"/>
              </a:rPr>
              <a:t>A visualização para listar registros.</a:t>
            </a:r>
          </a:p>
          <a:p>
            <a:pPr algn="just">
              <a:lnSpc>
                <a:spcPct val="150000"/>
              </a:lnSpc>
            </a:pPr>
            <a:r>
              <a:rPr lang="pt-BR" b="1" dirty="0" err="1">
                <a:latin typeface="Söhne"/>
              </a:rPr>
              <a:t>views</a:t>
            </a:r>
            <a:r>
              <a:rPr lang="pt-BR" b="1" dirty="0">
                <a:latin typeface="Söhne"/>
              </a:rPr>
              <a:t>/</a:t>
            </a:r>
            <a:r>
              <a:rPr lang="pt-BR" b="1" dirty="0" err="1">
                <a:latin typeface="Söhne"/>
              </a:rPr>
              <a:t>create.ejs</a:t>
            </a:r>
            <a:r>
              <a:rPr lang="pt-BR" dirty="0">
                <a:latin typeface="Söhne"/>
              </a:rPr>
              <a:t>: A visualização para criar registros.</a:t>
            </a:r>
          </a:p>
          <a:p>
            <a:pPr algn="just">
              <a:lnSpc>
                <a:spcPct val="150000"/>
              </a:lnSpc>
            </a:pPr>
            <a:r>
              <a:rPr lang="pt-BR" b="1" dirty="0" err="1">
                <a:latin typeface="Söhne"/>
              </a:rPr>
              <a:t>views</a:t>
            </a:r>
            <a:r>
              <a:rPr lang="pt-BR" b="1" dirty="0">
                <a:latin typeface="Söhne"/>
              </a:rPr>
              <a:t>/</a:t>
            </a:r>
            <a:r>
              <a:rPr lang="pt-BR" b="1" dirty="0" err="1">
                <a:latin typeface="Söhne"/>
              </a:rPr>
              <a:t>edit.ejs</a:t>
            </a:r>
            <a:r>
              <a:rPr lang="pt-BR" dirty="0">
                <a:latin typeface="Söhne"/>
              </a:rPr>
              <a:t>: A visualização para editar registros.</a:t>
            </a:r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endParaRPr lang="pt-BR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</a:t>
            </a:r>
            <a:r>
              <a:rPr spc="-5" dirty="0" err="1"/>
              <a:t>Mysql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86962926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A9F7C-A1A3-A44D-5DBD-2EBA137B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590550"/>
            <a:ext cx="8610600" cy="281102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b="1" i="0" dirty="0">
                <a:effectLst/>
                <a:latin typeface="Söhne"/>
              </a:rPr>
              <a:t>Passo 3: App.js, </a:t>
            </a:r>
            <a:r>
              <a:rPr lang="pt-BR" b="1" i="0" dirty="0" err="1">
                <a:solidFill>
                  <a:srgbClr val="111827"/>
                </a:solidFill>
                <a:effectLst/>
                <a:latin typeface="Söhne Mono"/>
              </a:rPr>
              <a:t>views</a:t>
            </a:r>
            <a:r>
              <a:rPr lang="pt-BR" b="1" i="0" dirty="0">
                <a:solidFill>
                  <a:srgbClr val="111827"/>
                </a:solidFill>
                <a:effectLst/>
                <a:latin typeface="Söhne Mono"/>
              </a:rPr>
              <a:t>/</a:t>
            </a:r>
            <a:r>
              <a:rPr lang="pt-BR" b="1" i="0" dirty="0" err="1">
                <a:solidFill>
                  <a:srgbClr val="111827"/>
                </a:solidFill>
                <a:effectLst/>
                <a:latin typeface="Söhne Mono"/>
              </a:rPr>
              <a:t>index.ejs</a:t>
            </a:r>
            <a:r>
              <a:rPr lang="pt-BR" b="1" i="0" dirty="0">
                <a:solidFill>
                  <a:srgbClr val="111827"/>
                </a:solidFill>
                <a:effectLst/>
                <a:latin typeface="Söhne Mono"/>
              </a:rPr>
              <a:t>, </a:t>
            </a:r>
            <a:r>
              <a:rPr lang="pt-BR" b="1" i="0" dirty="0" err="1">
                <a:solidFill>
                  <a:srgbClr val="111827"/>
                </a:solidFill>
                <a:effectLst/>
                <a:latin typeface="Söhne Mono"/>
              </a:rPr>
              <a:t>views</a:t>
            </a:r>
            <a:r>
              <a:rPr lang="pt-BR" b="1" i="0" dirty="0">
                <a:solidFill>
                  <a:srgbClr val="111827"/>
                </a:solidFill>
                <a:effectLst/>
                <a:latin typeface="Söhne Mono"/>
              </a:rPr>
              <a:t>/</a:t>
            </a:r>
            <a:r>
              <a:rPr lang="pt-BR" b="1" i="0" dirty="0" err="1">
                <a:solidFill>
                  <a:srgbClr val="111827"/>
                </a:solidFill>
                <a:effectLst/>
                <a:latin typeface="Söhne Mono"/>
              </a:rPr>
              <a:t>create.ejs</a:t>
            </a:r>
            <a:r>
              <a:rPr lang="pt-BR" b="1" i="0" dirty="0">
                <a:solidFill>
                  <a:srgbClr val="111827"/>
                </a:solidFill>
                <a:effectLst/>
                <a:latin typeface="Söhne Mono"/>
              </a:rPr>
              <a:t>, </a:t>
            </a:r>
            <a:r>
              <a:rPr lang="pt-BR" b="1" i="0" dirty="0" err="1">
                <a:solidFill>
                  <a:srgbClr val="111827"/>
                </a:solidFill>
                <a:effectLst/>
                <a:latin typeface="Söhne Mono"/>
              </a:rPr>
              <a:t>views</a:t>
            </a:r>
            <a:r>
              <a:rPr lang="pt-BR" b="1" i="0" dirty="0">
                <a:solidFill>
                  <a:srgbClr val="111827"/>
                </a:solidFill>
                <a:effectLst/>
                <a:latin typeface="Söhne Mono"/>
              </a:rPr>
              <a:t>/</a:t>
            </a:r>
            <a:r>
              <a:rPr lang="pt-BR" b="1" i="0" dirty="0" err="1">
                <a:solidFill>
                  <a:srgbClr val="111827"/>
                </a:solidFill>
                <a:effectLst/>
                <a:latin typeface="Söhne Mono"/>
              </a:rPr>
              <a:t>edit.ejs</a:t>
            </a:r>
            <a:endParaRPr lang="pt-BR" b="1" i="0" dirty="0">
              <a:effectLst/>
              <a:latin typeface="Söhne"/>
            </a:endParaRPr>
          </a:p>
          <a:p>
            <a:pPr algn="just">
              <a:lnSpc>
                <a:spcPct val="150000"/>
              </a:lnSpc>
            </a:pPr>
            <a:r>
              <a:rPr lang="pt-BR" sz="1600" i="0" dirty="0">
                <a:effectLst/>
                <a:latin typeface="Söhne"/>
                <a:hlinkClick r:id="rId2"/>
              </a:rPr>
              <a:t>https://drive.google.com/drive/folders/1Bs7YfStXPCzryZU7O2iVEuaQEAbXS_AG?usp=sharing</a:t>
            </a:r>
            <a:endParaRPr lang="pt-BR" sz="1600" i="0" dirty="0">
              <a:effectLst/>
              <a:latin typeface="Söhne"/>
            </a:endParaRPr>
          </a:p>
          <a:p>
            <a:pPr algn="just">
              <a:lnSpc>
                <a:spcPct val="150000"/>
              </a:lnSpc>
            </a:pPr>
            <a:endParaRPr lang="pt-BR" b="1" i="0" dirty="0">
              <a:effectLst/>
              <a:latin typeface="Söhne"/>
            </a:endParaRPr>
          </a:p>
          <a:p>
            <a:pPr algn="just">
              <a:lnSpc>
                <a:spcPct val="150000"/>
              </a:lnSpc>
            </a:pPr>
            <a:endParaRPr lang="pt-BR" b="1" i="0" dirty="0">
              <a:effectLst/>
              <a:latin typeface="Söhne"/>
            </a:endParaRPr>
          </a:p>
          <a:p>
            <a:pPr algn="just">
              <a:lnSpc>
                <a:spcPct val="150000"/>
              </a:lnSpc>
            </a:pPr>
            <a:endParaRPr lang="pt-BR" b="1" i="0" dirty="0">
              <a:effectLst/>
              <a:latin typeface="Söhne"/>
            </a:endParaRPr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endParaRPr lang="pt-BR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CE1BA3E-8689-3A92-564C-FB9A42B16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</a:t>
            </a:r>
            <a:r>
              <a:rPr spc="-5" dirty="0" err="1"/>
              <a:t>Mysql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4763552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ão em um Tablet com sinais digitais">
            <a:extLst>
              <a:ext uri="{FF2B5EF4-FFF2-40B4-BE49-F238E27FC236}">
                <a16:creationId xmlns:a16="http://schemas.microsoft.com/office/drawing/2014/main" id="{69B130DA-873D-97CE-80E2-F77463E28A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67"/>
          <a:stretch/>
        </p:blipFill>
        <p:spPr>
          <a:xfrm>
            <a:off x="20" y="10"/>
            <a:ext cx="4587406" cy="51434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DDEA15-9A7E-5634-2D7C-44D61DB1F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5800" y="1749972"/>
            <a:ext cx="4648199" cy="28827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sz="2400" b="1" dirty="0"/>
              <a:t>CRUD Trabalhando com função</a:t>
            </a:r>
          </a:p>
        </p:txBody>
      </p:sp>
    </p:spTree>
    <p:extLst>
      <p:ext uri="{BB962C8B-B14F-4D97-AF65-F5344CB8AC3E}">
        <p14:creationId xmlns:p14="http://schemas.microsoft.com/office/powerpoint/2010/main" val="23898440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616" y="48590"/>
            <a:ext cx="670369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Criando a</a:t>
            </a:r>
            <a:r>
              <a:rPr spc="-135" dirty="0"/>
              <a:t> </a:t>
            </a:r>
            <a:r>
              <a:rPr spc="-5" dirty="0"/>
              <a:t>conexão</a:t>
            </a:r>
          </a:p>
        </p:txBody>
      </p:sp>
      <p:sp>
        <p:nvSpPr>
          <p:cNvPr id="3" name="object 3"/>
          <p:cNvSpPr/>
          <p:nvPr/>
        </p:nvSpPr>
        <p:spPr>
          <a:xfrm>
            <a:off x="62484" y="1312162"/>
            <a:ext cx="6297168" cy="3814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4939" y="682828"/>
            <a:ext cx="8837295" cy="3368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rlito"/>
                <a:cs typeface="Carlito"/>
              </a:rPr>
              <a:t>Crie </a:t>
            </a:r>
            <a:r>
              <a:rPr sz="2000" dirty="0">
                <a:latin typeface="Carlito"/>
                <a:cs typeface="Carlito"/>
              </a:rPr>
              <a:t>um </a:t>
            </a:r>
            <a:r>
              <a:rPr sz="2000" b="1" spc="-10" dirty="0">
                <a:latin typeface="Carlito"/>
                <a:cs typeface="Carlito"/>
              </a:rPr>
              <a:t>arquivo </a:t>
            </a:r>
            <a:r>
              <a:rPr sz="2000" b="1" dirty="0">
                <a:latin typeface="Carlito"/>
                <a:cs typeface="Carlito"/>
              </a:rPr>
              <a:t>db.js </a:t>
            </a:r>
            <a:r>
              <a:rPr sz="2000" spc="-10" dirty="0">
                <a:latin typeface="Carlito"/>
                <a:cs typeface="Carlito"/>
              </a:rPr>
              <a:t>para </a:t>
            </a:r>
            <a:r>
              <a:rPr sz="2000" spc="-5" dirty="0">
                <a:latin typeface="Carlito"/>
                <a:cs typeface="Carlito"/>
              </a:rPr>
              <a:t>criarmos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5" dirty="0">
                <a:latin typeface="Carlito"/>
                <a:cs typeface="Carlito"/>
              </a:rPr>
              <a:t>conexão </a:t>
            </a:r>
            <a:r>
              <a:rPr sz="2000" spc="-5" dirty="0">
                <a:latin typeface="Carlito"/>
                <a:cs typeface="Carlito"/>
              </a:rPr>
              <a:t>com nossos banco </a:t>
            </a:r>
            <a:r>
              <a:rPr sz="2000" dirty="0">
                <a:latin typeface="Carlito"/>
                <a:cs typeface="Carlito"/>
              </a:rPr>
              <a:t>de </a:t>
            </a:r>
            <a:r>
              <a:rPr sz="2000" spc="-5" dirty="0">
                <a:latin typeface="Carlito"/>
                <a:cs typeface="Carlito"/>
              </a:rPr>
              <a:t>dados, usando</a:t>
            </a:r>
            <a:r>
              <a:rPr sz="2000" spc="1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rlito"/>
                <a:cs typeface="Carlito"/>
              </a:rPr>
              <a:t>pacote </a:t>
            </a:r>
            <a:r>
              <a:rPr sz="2000" spc="-15" dirty="0">
                <a:latin typeface="Carlito"/>
                <a:cs typeface="Carlito"/>
              </a:rPr>
              <a:t>mysql2 </a:t>
            </a:r>
            <a:r>
              <a:rPr sz="2000" dirty="0">
                <a:latin typeface="Carlito"/>
                <a:cs typeface="Carlito"/>
              </a:rPr>
              <a:t>que acabamos </a:t>
            </a:r>
            <a:r>
              <a:rPr sz="2000" spc="-5" dirty="0">
                <a:latin typeface="Carlito"/>
                <a:cs typeface="Carlito"/>
              </a:rPr>
              <a:t>de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30" dirty="0">
                <a:latin typeface="Carlito"/>
                <a:cs typeface="Carlito"/>
              </a:rPr>
              <a:t>instalar.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000">
              <a:latin typeface="Carlito"/>
              <a:cs typeface="Carlito"/>
            </a:endParaRPr>
          </a:p>
          <a:p>
            <a:pPr marL="6309995" marR="5080" algn="just">
              <a:lnSpc>
                <a:spcPct val="100000"/>
              </a:lnSpc>
              <a:spcBef>
                <a:spcPts val="1785"/>
              </a:spcBef>
            </a:pPr>
            <a:r>
              <a:rPr sz="1600" spc="-15" dirty="0">
                <a:latin typeface="Carlito"/>
                <a:cs typeface="Carlito"/>
              </a:rPr>
              <a:t>palavra </a:t>
            </a:r>
            <a:r>
              <a:rPr sz="1600" spc="-5" dirty="0">
                <a:latin typeface="Carlito"/>
                <a:cs typeface="Carlito"/>
              </a:rPr>
              <a:t>reservada </a:t>
            </a:r>
            <a:r>
              <a:rPr sz="1600" b="1" spc="-10" dirty="0">
                <a:latin typeface="Carlito"/>
                <a:cs typeface="Carlito"/>
              </a:rPr>
              <a:t>await </a:t>
            </a:r>
            <a:r>
              <a:rPr sz="1600" spc="-10" dirty="0">
                <a:latin typeface="Carlito"/>
                <a:cs typeface="Carlito"/>
              </a:rPr>
              <a:t>antes  </a:t>
            </a:r>
            <a:r>
              <a:rPr sz="1600" spc="-5" dirty="0">
                <a:latin typeface="Carlito"/>
                <a:cs typeface="Carlito"/>
              </a:rPr>
              <a:t>do createConnection. </a:t>
            </a:r>
            <a:r>
              <a:rPr sz="1600" spc="-10" dirty="0">
                <a:latin typeface="Carlito"/>
                <a:cs typeface="Carlito"/>
              </a:rPr>
              <a:t>Isso  porque </a:t>
            </a:r>
            <a:r>
              <a:rPr sz="1600" spc="-5" dirty="0">
                <a:latin typeface="Carlito"/>
                <a:cs typeface="Carlito"/>
              </a:rPr>
              <a:t>o createConnection é  </a:t>
            </a:r>
            <a:r>
              <a:rPr sz="1600" spc="-10" dirty="0">
                <a:latin typeface="Carlito"/>
                <a:cs typeface="Carlito"/>
              </a:rPr>
              <a:t>assíncrono, </a:t>
            </a:r>
            <a:r>
              <a:rPr sz="1600" spc="-5" dirty="0">
                <a:latin typeface="Carlito"/>
                <a:cs typeface="Carlito"/>
              </a:rPr>
              <a:t>o que </a:t>
            </a:r>
            <a:r>
              <a:rPr sz="1600" spc="-10" dirty="0">
                <a:latin typeface="Carlito"/>
                <a:cs typeface="Carlito"/>
              </a:rPr>
              <a:t>me obriga </a:t>
            </a:r>
            <a:r>
              <a:rPr sz="1600" spc="-5" dirty="0">
                <a:latin typeface="Carlito"/>
                <a:cs typeface="Carlito"/>
              </a:rPr>
              <a:t>a  usar callback, </a:t>
            </a:r>
            <a:r>
              <a:rPr sz="1600" spc="-10" dirty="0">
                <a:latin typeface="Carlito"/>
                <a:cs typeface="Carlito"/>
              </a:rPr>
              <a:t>promise ou  </a:t>
            </a:r>
            <a:r>
              <a:rPr sz="1600" spc="-15" dirty="0">
                <a:latin typeface="Carlito"/>
                <a:cs typeface="Carlito"/>
              </a:rPr>
              <a:t>async/await </a:t>
            </a:r>
            <a:r>
              <a:rPr sz="1600" spc="-20" dirty="0">
                <a:latin typeface="Carlito"/>
                <a:cs typeface="Carlito"/>
              </a:rPr>
              <a:t>para </a:t>
            </a:r>
            <a:r>
              <a:rPr sz="1600" spc="-15" dirty="0">
                <a:latin typeface="Carlito"/>
                <a:cs typeface="Carlito"/>
              </a:rPr>
              <a:t>garantir </a:t>
            </a:r>
            <a:r>
              <a:rPr sz="1600" spc="-5" dirty="0">
                <a:latin typeface="Carlito"/>
                <a:cs typeface="Carlito"/>
              </a:rPr>
              <a:t>que  a </a:t>
            </a:r>
            <a:r>
              <a:rPr sz="1600" spc="-10" dirty="0">
                <a:latin typeface="Carlito"/>
                <a:cs typeface="Carlito"/>
              </a:rPr>
              <a:t>instrução </a:t>
            </a:r>
            <a:r>
              <a:rPr sz="1600" spc="-5" dirty="0">
                <a:latin typeface="Carlito"/>
                <a:cs typeface="Carlito"/>
              </a:rPr>
              <a:t>a seguir </a:t>
            </a:r>
            <a:r>
              <a:rPr sz="1600" spc="-10" dirty="0">
                <a:latin typeface="Carlito"/>
                <a:cs typeface="Carlito"/>
              </a:rPr>
              <a:t>só  aconteça </a:t>
            </a:r>
            <a:r>
              <a:rPr sz="1600" spc="-5" dirty="0">
                <a:latin typeface="Carlito"/>
                <a:cs typeface="Carlito"/>
              </a:rPr>
              <a:t>depois </a:t>
            </a:r>
            <a:r>
              <a:rPr sz="1600" spc="-10" dirty="0">
                <a:latin typeface="Carlito"/>
                <a:cs typeface="Carlito"/>
              </a:rPr>
              <a:t>da </a:t>
            </a:r>
            <a:r>
              <a:rPr sz="1600" spc="-15" dirty="0">
                <a:latin typeface="Carlito"/>
                <a:cs typeface="Carlito"/>
              </a:rPr>
              <a:t>conexão </a:t>
            </a:r>
            <a:r>
              <a:rPr sz="1600" spc="-5" dirty="0">
                <a:latin typeface="Carlito"/>
                <a:cs typeface="Carlito"/>
              </a:rPr>
              <a:t>já  estabelecida.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616" y="48590"/>
            <a:ext cx="670369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CRUD Node.js com Mysql – Criando a</a:t>
            </a:r>
            <a:r>
              <a:rPr spc="-135" dirty="0"/>
              <a:t> </a:t>
            </a:r>
            <a:r>
              <a:rPr spc="-5" dirty="0"/>
              <a:t>conexão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682828"/>
            <a:ext cx="8585835" cy="1551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rlito"/>
                <a:cs typeface="Carlito"/>
              </a:rPr>
              <a:t>Para </a:t>
            </a:r>
            <a:r>
              <a:rPr sz="2000" spc="-15" dirty="0">
                <a:latin typeface="Carlito"/>
                <a:cs typeface="Carlito"/>
              </a:rPr>
              <a:t>testar este </a:t>
            </a:r>
            <a:r>
              <a:rPr sz="2000" spc="-5" dirty="0">
                <a:latin typeface="Carlito"/>
                <a:cs typeface="Carlito"/>
              </a:rPr>
              <a:t>código db.js, crie </a:t>
            </a:r>
            <a:r>
              <a:rPr sz="2000" dirty="0">
                <a:latin typeface="Carlito"/>
                <a:cs typeface="Carlito"/>
              </a:rPr>
              <a:t>uma chamada a </a:t>
            </a:r>
            <a:r>
              <a:rPr sz="2000" spc="-15" dirty="0">
                <a:latin typeface="Carlito"/>
                <a:cs typeface="Carlito"/>
              </a:rPr>
              <a:t>esta conexão </a:t>
            </a:r>
            <a:r>
              <a:rPr sz="2000" dirty="0">
                <a:latin typeface="Carlito"/>
                <a:cs typeface="Carlito"/>
              </a:rPr>
              <a:t>ao </a:t>
            </a:r>
            <a:r>
              <a:rPr sz="2000" spc="-5" dirty="0">
                <a:latin typeface="Carlito"/>
                <a:cs typeface="Carlito"/>
              </a:rPr>
              <a:t>fim </a:t>
            </a:r>
            <a:r>
              <a:rPr sz="2000" dirty="0">
                <a:latin typeface="Carlito"/>
                <a:cs typeface="Carlito"/>
              </a:rPr>
              <a:t>do </a:t>
            </a:r>
            <a:r>
              <a:rPr sz="2000" spc="-5" dirty="0">
                <a:latin typeface="Carlito"/>
                <a:cs typeface="Carlito"/>
              </a:rPr>
              <a:t>módulo</a:t>
            </a:r>
            <a:r>
              <a:rPr sz="2000" spc="11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rlito"/>
                <a:cs typeface="Carlito"/>
              </a:rPr>
              <a:t>importe-o </a:t>
            </a:r>
            <a:r>
              <a:rPr sz="2000" dirty="0">
                <a:latin typeface="Carlito"/>
                <a:cs typeface="Carlito"/>
              </a:rPr>
              <a:t>no </a:t>
            </a:r>
            <a:r>
              <a:rPr sz="2000" b="1" spc="-5" dirty="0">
                <a:latin typeface="Carlito"/>
                <a:cs typeface="Carlito"/>
              </a:rPr>
              <a:t>index.js</a:t>
            </a:r>
            <a:r>
              <a:rPr sz="2000" spc="-5" dirty="0">
                <a:latin typeface="Carlito"/>
                <a:cs typeface="Carlito"/>
              </a:rPr>
              <a:t>, </a:t>
            </a:r>
            <a:r>
              <a:rPr sz="2000" spc="-15" dirty="0">
                <a:latin typeface="Carlito"/>
                <a:cs typeface="Carlito"/>
              </a:rPr>
              <a:t>para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dispará-la.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097009"/>
                </a:solidFill>
                <a:latin typeface="Carlito"/>
                <a:cs typeface="Carlito"/>
              </a:rPr>
              <a:t>//index.js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800080"/>
                </a:solidFill>
                <a:latin typeface="Carlito"/>
                <a:cs typeface="Carlito"/>
              </a:rPr>
              <a:t>const </a:t>
            </a:r>
            <a:r>
              <a:rPr sz="2000" dirty="0">
                <a:latin typeface="Carlito"/>
                <a:cs typeface="Carlito"/>
              </a:rPr>
              <a:t>db =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require(</a:t>
            </a:r>
            <a:r>
              <a:rPr sz="2000" spc="-5" dirty="0">
                <a:solidFill>
                  <a:srgbClr val="0828FA"/>
                </a:solidFill>
                <a:latin typeface="Carlito"/>
                <a:cs typeface="Carlito"/>
              </a:rPr>
              <a:t>"./db"</a:t>
            </a:r>
            <a:r>
              <a:rPr sz="2000" spc="-5" dirty="0">
                <a:latin typeface="Carlito"/>
                <a:cs typeface="Carlito"/>
              </a:rPr>
              <a:t>)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448513"/>
            <a:ext cx="2099945" cy="12642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sz="2900" spc="-5" dirty="0">
                <a:latin typeface="Carlito"/>
                <a:cs typeface="Carlito"/>
              </a:rPr>
              <a:t>CRUD</a:t>
            </a:r>
            <a:r>
              <a:rPr sz="2900" spc="-95" dirty="0">
                <a:latin typeface="Carlito"/>
                <a:cs typeface="Carlito"/>
              </a:rPr>
              <a:t> </a:t>
            </a:r>
            <a:r>
              <a:rPr sz="2900" spc="-5" dirty="0">
                <a:latin typeface="Carlito"/>
                <a:cs typeface="Carlito"/>
              </a:rPr>
              <a:t>Node.js  </a:t>
            </a:r>
            <a:r>
              <a:rPr sz="2900" spc="-10" dirty="0">
                <a:latin typeface="Carlito"/>
                <a:cs typeface="Carlito"/>
              </a:rPr>
              <a:t>com </a:t>
            </a:r>
            <a:r>
              <a:rPr sz="2900" spc="-5" dirty="0">
                <a:latin typeface="Carlito"/>
                <a:cs typeface="Carlito"/>
              </a:rPr>
              <a:t>Mysql </a:t>
            </a:r>
            <a:r>
              <a:rPr sz="2900" spc="-170" dirty="0"/>
              <a:t>–  </a:t>
            </a:r>
            <a:r>
              <a:rPr sz="2900" spc="-5" dirty="0">
                <a:latin typeface="Carlito"/>
                <a:cs typeface="Carlito"/>
              </a:rPr>
              <a:t>Select</a:t>
            </a:r>
            <a:endParaRPr sz="29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4464" y="1894948"/>
            <a:ext cx="2478405" cy="92710"/>
            <a:chOff x="464464" y="1894948"/>
            <a:chExt cx="2478405" cy="92710"/>
          </a:xfrm>
        </p:grpSpPr>
        <p:sp>
          <p:nvSpPr>
            <p:cNvPr id="4" name="object 4"/>
            <p:cNvSpPr/>
            <p:nvPr/>
          </p:nvSpPr>
          <p:spPr>
            <a:xfrm>
              <a:off x="483869" y="1918696"/>
              <a:ext cx="2440305" cy="45085"/>
            </a:xfrm>
            <a:custGeom>
              <a:avLst/>
              <a:gdLst/>
              <a:ahLst/>
              <a:cxnLst/>
              <a:rect l="l" t="t" r="r" b="b"/>
              <a:pathLst>
                <a:path w="2440305" h="45085">
                  <a:moveTo>
                    <a:pt x="1600870" y="0"/>
                  </a:moveTo>
                  <a:lnTo>
                    <a:pt x="1552636" y="1041"/>
                  </a:lnTo>
                  <a:lnTo>
                    <a:pt x="1503153" y="3052"/>
                  </a:lnTo>
                  <a:lnTo>
                    <a:pt x="1347287" y="11175"/>
                  </a:lnTo>
                  <a:lnTo>
                    <a:pt x="1292882" y="13337"/>
                  </a:lnTo>
                  <a:lnTo>
                    <a:pt x="1237266" y="14605"/>
                  </a:lnTo>
                  <a:lnTo>
                    <a:pt x="1180444" y="14608"/>
                  </a:lnTo>
                  <a:lnTo>
                    <a:pt x="1122426" y="12973"/>
                  </a:lnTo>
                  <a:lnTo>
                    <a:pt x="1058143" y="5991"/>
                  </a:lnTo>
                  <a:lnTo>
                    <a:pt x="997941" y="2631"/>
                  </a:lnTo>
                  <a:lnTo>
                    <a:pt x="941491" y="2152"/>
                  </a:lnTo>
                  <a:lnTo>
                    <a:pt x="888465" y="3811"/>
                  </a:lnTo>
                  <a:lnTo>
                    <a:pt x="838535" y="6867"/>
                  </a:lnTo>
                  <a:lnTo>
                    <a:pt x="746649" y="14199"/>
                  </a:lnTo>
                  <a:lnTo>
                    <a:pt x="704037" y="16992"/>
                  </a:lnTo>
                  <a:lnTo>
                    <a:pt x="663208" y="18213"/>
                  </a:lnTo>
                  <a:lnTo>
                    <a:pt x="623833" y="17120"/>
                  </a:lnTo>
                  <a:lnTo>
                    <a:pt x="585584" y="12973"/>
                  </a:lnTo>
                  <a:lnTo>
                    <a:pt x="548086" y="10322"/>
                  </a:lnTo>
                  <a:lnTo>
                    <a:pt x="507302" y="8201"/>
                  </a:lnTo>
                  <a:lnTo>
                    <a:pt x="463602" y="6597"/>
                  </a:lnTo>
                  <a:lnTo>
                    <a:pt x="417354" y="5494"/>
                  </a:lnTo>
                  <a:lnTo>
                    <a:pt x="368929" y="4877"/>
                  </a:lnTo>
                  <a:lnTo>
                    <a:pt x="318695" y="4733"/>
                  </a:lnTo>
                  <a:lnTo>
                    <a:pt x="267022" y="5047"/>
                  </a:lnTo>
                  <a:lnTo>
                    <a:pt x="214279" y="5804"/>
                  </a:lnTo>
                  <a:lnTo>
                    <a:pt x="160836" y="6990"/>
                  </a:lnTo>
                  <a:lnTo>
                    <a:pt x="107062" y="8589"/>
                  </a:lnTo>
                  <a:lnTo>
                    <a:pt x="53327" y="10588"/>
                  </a:lnTo>
                  <a:lnTo>
                    <a:pt x="0" y="12973"/>
                  </a:lnTo>
                  <a:lnTo>
                    <a:pt x="393" y="16021"/>
                  </a:lnTo>
                  <a:lnTo>
                    <a:pt x="0" y="26689"/>
                  </a:lnTo>
                  <a:lnTo>
                    <a:pt x="55736" y="31100"/>
                  </a:lnTo>
                  <a:lnTo>
                    <a:pt x="110026" y="34433"/>
                  </a:lnTo>
                  <a:lnTo>
                    <a:pt x="163035" y="36782"/>
                  </a:lnTo>
                  <a:lnTo>
                    <a:pt x="214927" y="38238"/>
                  </a:lnTo>
                  <a:lnTo>
                    <a:pt x="265865" y="38897"/>
                  </a:lnTo>
                  <a:lnTo>
                    <a:pt x="316015" y="38852"/>
                  </a:lnTo>
                  <a:lnTo>
                    <a:pt x="365540" y="38197"/>
                  </a:lnTo>
                  <a:lnTo>
                    <a:pt x="414605" y="37024"/>
                  </a:lnTo>
                  <a:lnTo>
                    <a:pt x="463374" y="35429"/>
                  </a:lnTo>
                  <a:lnTo>
                    <a:pt x="512011" y="33504"/>
                  </a:lnTo>
                  <a:lnTo>
                    <a:pt x="658774" y="26689"/>
                  </a:lnTo>
                  <a:lnTo>
                    <a:pt x="713354" y="28412"/>
                  </a:lnTo>
                  <a:lnTo>
                    <a:pt x="765428" y="30824"/>
                  </a:lnTo>
                  <a:lnTo>
                    <a:pt x="815503" y="33660"/>
                  </a:lnTo>
                  <a:lnTo>
                    <a:pt x="911675" y="39535"/>
                  </a:lnTo>
                  <a:lnTo>
                    <a:pt x="958785" y="42042"/>
                  </a:lnTo>
                  <a:lnTo>
                    <a:pt x="1005916" y="43907"/>
                  </a:lnTo>
                  <a:lnTo>
                    <a:pt x="1053576" y="44863"/>
                  </a:lnTo>
                  <a:lnTo>
                    <a:pt x="1102270" y="44644"/>
                  </a:lnTo>
                  <a:lnTo>
                    <a:pt x="1152504" y="42983"/>
                  </a:lnTo>
                  <a:lnTo>
                    <a:pt x="1204782" y="39614"/>
                  </a:lnTo>
                  <a:lnTo>
                    <a:pt x="1259612" y="34272"/>
                  </a:lnTo>
                  <a:lnTo>
                    <a:pt x="1317498" y="26689"/>
                  </a:lnTo>
                  <a:lnTo>
                    <a:pt x="1378272" y="21061"/>
                  </a:lnTo>
                  <a:lnTo>
                    <a:pt x="1434252" y="17481"/>
                  </a:lnTo>
                  <a:lnTo>
                    <a:pt x="1486384" y="15642"/>
                  </a:lnTo>
                  <a:lnTo>
                    <a:pt x="1535617" y="15235"/>
                  </a:lnTo>
                  <a:lnTo>
                    <a:pt x="1582899" y="15954"/>
                  </a:lnTo>
                  <a:lnTo>
                    <a:pt x="1629178" y="17491"/>
                  </a:lnTo>
                  <a:lnTo>
                    <a:pt x="1771478" y="23937"/>
                  </a:lnTo>
                  <a:lnTo>
                    <a:pt x="1823226" y="25672"/>
                  </a:lnTo>
                  <a:lnTo>
                    <a:pt x="1878711" y="26689"/>
                  </a:lnTo>
                  <a:lnTo>
                    <a:pt x="1931968" y="23912"/>
                  </a:lnTo>
                  <a:lnTo>
                    <a:pt x="1981100" y="22190"/>
                  </a:lnTo>
                  <a:lnTo>
                    <a:pt x="2027331" y="21357"/>
                  </a:lnTo>
                  <a:lnTo>
                    <a:pt x="2071888" y="21246"/>
                  </a:lnTo>
                  <a:lnTo>
                    <a:pt x="2115997" y="21691"/>
                  </a:lnTo>
                  <a:lnTo>
                    <a:pt x="2312483" y="25689"/>
                  </a:lnTo>
                  <a:lnTo>
                    <a:pt x="2372748" y="26411"/>
                  </a:lnTo>
                  <a:lnTo>
                    <a:pt x="2439924" y="26689"/>
                  </a:lnTo>
                  <a:lnTo>
                    <a:pt x="2439670" y="21736"/>
                  </a:lnTo>
                  <a:lnTo>
                    <a:pt x="2439924" y="12973"/>
                  </a:lnTo>
                  <a:lnTo>
                    <a:pt x="2368149" y="9876"/>
                  </a:lnTo>
                  <a:lnTo>
                    <a:pt x="2302272" y="7669"/>
                  </a:lnTo>
                  <a:lnTo>
                    <a:pt x="2241643" y="6251"/>
                  </a:lnTo>
                  <a:lnTo>
                    <a:pt x="2185614" y="5518"/>
                  </a:lnTo>
                  <a:lnTo>
                    <a:pt x="2133534" y="5370"/>
                  </a:lnTo>
                  <a:lnTo>
                    <a:pt x="2084755" y="5704"/>
                  </a:lnTo>
                  <a:lnTo>
                    <a:pt x="2038627" y="6417"/>
                  </a:lnTo>
                  <a:lnTo>
                    <a:pt x="1994501" y="7409"/>
                  </a:lnTo>
                  <a:lnTo>
                    <a:pt x="1825030" y="12119"/>
                  </a:lnTo>
                  <a:lnTo>
                    <a:pt x="1781175" y="12973"/>
                  </a:lnTo>
                  <a:lnTo>
                    <a:pt x="1738008" y="6413"/>
                  </a:lnTo>
                  <a:lnTo>
                    <a:pt x="1693563" y="2313"/>
                  </a:lnTo>
                  <a:lnTo>
                    <a:pt x="1647848" y="299"/>
                  </a:lnTo>
                  <a:lnTo>
                    <a:pt x="160087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3514" y="1913998"/>
              <a:ext cx="2440305" cy="54610"/>
            </a:xfrm>
            <a:custGeom>
              <a:avLst/>
              <a:gdLst/>
              <a:ahLst/>
              <a:cxnLst/>
              <a:rect l="l" t="t" r="r" b="b"/>
              <a:pathLst>
                <a:path w="2440305" h="54610">
                  <a:moveTo>
                    <a:pt x="355" y="17671"/>
                  </a:moveTo>
                  <a:lnTo>
                    <a:pt x="66474" y="16379"/>
                  </a:lnTo>
                  <a:lnTo>
                    <a:pt x="125544" y="15722"/>
                  </a:lnTo>
                  <a:lnTo>
                    <a:pt x="178733" y="15582"/>
                  </a:lnTo>
                  <a:lnTo>
                    <a:pt x="227213" y="15837"/>
                  </a:lnTo>
                  <a:lnTo>
                    <a:pt x="272154" y="16367"/>
                  </a:lnTo>
                  <a:lnTo>
                    <a:pt x="314726" y="17052"/>
                  </a:lnTo>
                  <a:lnTo>
                    <a:pt x="356099" y="17772"/>
                  </a:lnTo>
                  <a:lnTo>
                    <a:pt x="397444" y="18405"/>
                  </a:lnTo>
                  <a:lnTo>
                    <a:pt x="439930" y="18832"/>
                  </a:lnTo>
                  <a:lnTo>
                    <a:pt x="484728" y="18933"/>
                  </a:lnTo>
                  <a:lnTo>
                    <a:pt x="533007" y="18586"/>
                  </a:lnTo>
                  <a:lnTo>
                    <a:pt x="585939" y="17671"/>
                  </a:lnTo>
                  <a:lnTo>
                    <a:pt x="645867" y="14882"/>
                  </a:lnTo>
                  <a:lnTo>
                    <a:pt x="702787" y="11762"/>
                  </a:lnTo>
                  <a:lnTo>
                    <a:pt x="757105" y="8563"/>
                  </a:lnTo>
                  <a:lnTo>
                    <a:pt x="809228" y="5536"/>
                  </a:lnTo>
                  <a:lnTo>
                    <a:pt x="859563" y="2932"/>
                  </a:lnTo>
                  <a:lnTo>
                    <a:pt x="908515" y="1003"/>
                  </a:lnTo>
                  <a:lnTo>
                    <a:pt x="956490" y="0"/>
                  </a:lnTo>
                  <a:lnTo>
                    <a:pt x="1003895" y="174"/>
                  </a:lnTo>
                  <a:lnTo>
                    <a:pt x="1051135" y="1777"/>
                  </a:lnTo>
                  <a:lnTo>
                    <a:pt x="1098618" y="5060"/>
                  </a:lnTo>
                  <a:lnTo>
                    <a:pt x="1146748" y="10274"/>
                  </a:lnTo>
                  <a:lnTo>
                    <a:pt x="1195933" y="17671"/>
                  </a:lnTo>
                  <a:lnTo>
                    <a:pt x="1237291" y="20955"/>
                  </a:lnTo>
                  <a:lnTo>
                    <a:pt x="1280875" y="22681"/>
                  </a:lnTo>
                  <a:lnTo>
                    <a:pt x="1326533" y="23136"/>
                  </a:lnTo>
                  <a:lnTo>
                    <a:pt x="1374114" y="22610"/>
                  </a:lnTo>
                  <a:lnTo>
                    <a:pt x="1423468" y="21391"/>
                  </a:lnTo>
                  <a:lnTo>
                    <a:pt x="1474444" y="19767"/>
                  </a:lnTo>
                  <a:lnTo>
                    <a:pt x="1526891" y="18026"/>
                  </a:lnTo>
                  <a:lnTo>
                    <a:pt x="1580658" y="16458"/>
                  </a:lnTo>
                  <a:lnTo>
                    <a:pt x="1635595" y="15350"/>
                  </a:lnTo>
                  <a:lnTo>
                    <a:pt x="1691551" y="14990"/>
                  </a:lnTo>
                  <a:lnTo>
                    <a:pt x="1748374" y="15668"/>
                  </a:lnTo>
                  <a:lnTo>
                    <a:pt x="1805914" y="17671"/>
                  </a:lnTo>
                  <a:lnTo>
                    <a:pt x="1858589" y="17557"/>
                  </a:lnTo>
                  <a:lnTo>
                    <a:pt x="1911695" y="17151"/>
                  </a:lnTo>
                  <a:lnTo>
                    <a:pt x="1965113" y="16546"/>
                  </a:lnTo>
                  <a:lnTo>
                    <a:pt x="2018724" y="15837"/>
                  </a:lnTo>
                  <a:lnTo>
                    <a:pt x="2072409" y="15117"/>
                  </a:lnTo>
                  <a:lnTo>
                    <a:pt x="2126049" y="14481"/>
                  </a:lnTo>
                  <a:lnTo>
                    <a:pt x="2179526" y="14021"/>
                  </a:lnTo>
                  <a:lnTo>
                    <a:pt x="2232719" y="13833"/>
                  </a:lnTo>
                  <a:lnTo>
                    <a:pt x="2285510" y="14010"/>
                  </a:lnTo>
                  <a:lnTo>
                    <a:pt x="2337780" y="14646"/>
                  </a:lnTo>
                  <a:lnTo>
                    <a:pt x="2389409" y="15835"/>
                  </a:lnTo>
                  <a:lnTo>
                    <a:pt x="2440279" y="17671"/>
                  </a:lnTo>
                  <a:lnTo>
                    <a:pt x="2439898" y="21354"/>
                  </a:lnTo>
                  <a:lnTo>
                    <a:pt x="2439644" y="27069"/>
                  </a:lnTo>
                  <a:lnTo>
                    <a:pt x="2373343" y="38368"/>
                  </a:lnTo>
                  <a:lnTo>
                    <a:pt x="2312757" y="43964"/>
                  </a:lnTo>
                  <a:lnTo>
                    <a:pt x="2257494" y="48211"/>
                  </a:lnTo>
                  <a:lnTo>
                    <a:pt x="2206529" y="51143"/>
                  </a:lnTo>
                  <a:lnTo>
                    <a:pt x="2158833" y="52794"/>
                  </a:lnTo>
                  <a:lnTo>
                    <a:pt x="2113381" y="53200"/>
                  </a:lnTo>
                  <a:lnTo>
                    <a:pt x="2069146" y="52393"/>
                  </a:lnTo>
                  <a:lnTo>
                    <a:pt x="2025102" y="50409"/>
                  </a:lnTo>
                  <a:lnTo>
                    <a:pt x="1980222" y="47282"/>
                  </a:lnTo>
                  <a:lnTo>
                    <a:pt x="1933479" y="43047"/>
                  </a:lnTo>
                  <a:lnTo>
                    <a:pt x="1883846" y="37737"/>
                  </a:lnTo>
                  <a:lnTo>
                    <a:pt x="1830298" y="31387"/>
                  </a:lnTo>
                  <a:lnTo>
                    <a:pt x="1774447" y="28419"/>
                  </a:lnTo>
                  <a:lnTo>
                    <a:pt x="1723334" y="25519"/>
                  </a:lnTo>
                  <a:lnTo>
                    <a:pt x="1675701" y="22862"/>
                  </a:lnTo>
                  <a:lnTo>
                    <a:pt x="1630292" y="20623"/>
                  </a:lnTo>
                  <a:lnTo>
                    <a:pt x="1585850" y="18978"/>
                  </a:lnTo>
                  <a:lnTo>
                    <a:pt x="1541117" y="18103"/>
                  </a:lnTo>
                  <a:lnTo>
                    <a:pt x="1494835" y="18171"/>
                  </a:lnTo>
                  <a:lnTo>
                    <a:pt x="1445749" y="19358"/>
                  </a:lnTo>
                  <a:lnTo>
                    <a:pt x="1392600" y="21840"/>
                  </a:lnTo>
                  <a:lnTo>
                    <a:pt x="1334131" y="25791"/>
                  </a:lnTo>
                  <a:lnTo>
                    <a:pt x="1269085" y="31387"/>
                  </a:lnTo>
                  <a:lnTo>
                    <a:pt x="1203770" y="39972"/>
                  </a:lnTo>
                  <a:lnTo>
                    <a:pt x="1143526" y="46366"/>
                  </a:lnTo>
                  <a:lnTo>
                    <a:pt x="1087614" y="50727"/>
                  </a:lnTo>
                  <a:lnTo>
                    <a:pt x="1035299" y="53212"/>
                  </a:lnTo>
                  <a:lnTo>
                    <a:pt x="985844" y="53981"/>
                  </a:lnTo>
                  <a:lnTo>
                    <a:pt x="938513" y="53191"/>
                  </a:lnTo>
                  <a:lnTo>
                    <a:pt x="892570" y="51000"/>
                  </a:lnTo>
                  <a:lnTo>
                    <a:pt x="847276" y="47566"/>
                  </a:lnTo>
                  <a:lnTo>
                    <a:pt x="801897" y="43048"/>
                  </a:lnTo>
                  <a:lnTo>
                    <a:pt x="755696" y="37602"/>
                  </a:lnTo>
                  <a:lnTo>
                    <a:pt x="707936" y="31387"/>
                  </a:lnTo>
                  <a:lnTo>
                    <a:pt x="667916" y="33281"/>
                  </a:lnTo>
                  <a:lnTo>
                    <a:pt x="626813" y="35066"/>
                  </a:lnTo>
                  <a:lnTo>
                    <a:pt x="584494" y="36698"/>
                  </a:lnTo>
                  <a:lnTo>
                    <a:pt x="540824" y="38130"/>
                  </a:lnTo>
                  <a:lnTo>
                    <a:pt x="495669" y="39316"/>
                  </a:lnTo>
                  <a:lnTo>
                    <a:pt x="448896" y="40212"/>
                  </a:lnTo>
                  <a:lnTo>
                    <a:pt x="400370" y="40770"/>
                  </a:lnTo>
                  <a:lnTo>
                    <a:pt x="349957" y="40945"/>
                  </a:lnTo>
                  <a:lnTo>
                    <a:pt x="297524" y="40691"/>
                  </a:lnTo>
                  <a:lnTo>
                    <a:pt x="242936" y="39963"/>
                  </a:lnTo>
                  <a:lnTo>
                    <a:pt x="186059" y="38714"/>
                  </a:lnTo>
                  <a:lnTo>
                    <a:pt x="126759" y="36899"/>
                  </a:lnTo>
                  <a:lnTo>
                    <a:pt x="64903" y="34472"/>
                  </a:lnTo>
                  <a:lnTo>
                    <a:pt x="355" y="31387"/>
                  </a:lnTo>
                  <a:lnTo>
                    <a:pt x="0" y="25418"/>
                  </a:lnTo>
                  <a:lnTo>
                    <a:pt x="76" y="20338"/>
                  </a:lnTo>
                  <a:lnTo>
                    <a:pt x="355" y="17671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4939" y="2099564"/>
            <a:ext cx="2811780" cy="152781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ts val="1839"/>
              </a:lnSpc>
              <a:spcBef>
                <a:spcPts val="330"/>
              </a:spcBef>
              <a:buFont typeface="Arial"/>
              <a:buChar char="•"/>
              <a:tabLst>
                <a:tab pos="241300" algn="l"/>
              </a:tabLst>
            </a:pPr>
            <a:r>
              <a:rPr sz="1700" spc="-10" dirty="0">
                <a:latin typeface="Carlito"/>
                <a:cs typeface="Carlito"/>
              </a:rPr>
              <a:t>Fizemos </a:t>
            </a:r>
            <a:r>
              <a:rPr sz="1700" dirty="0">
                <a:latin typeface="Carlito"/>
                <a:cs typeface="Carlito"/>
              </a:rPr>
              <a:t>a </a:t>
            </a:r>
            <a:r>
              <a:rPr sz="1700" spc="-15" dirty="0">
                <a:latin typeface="Carlito"/>
                <a:cs typeface="Carlito"/>
              </a:rPr>
              <a:t>conexão, </a:t>
            </a:r>
            <a:r>
              <a:rPr sz="1700" dirty="0">
                <a:latin typeface="Carlito"/>
                <a:cs typeface="Carlito"/>
              </a:rPr>
              <a:t>e </a:t>
            </a:r>
            <a:r>
              <a:rPr sz="1700" spc="-10" dirty="0">
                <a:latin typeface="Carlito"/>
                <a:cs typeface="Carlito"/>
              </a:rPr>
              <a:t>agora  </a:t>
            </a:r>
            <a:r>
              <a:rPr sz="1700" spc="-5" dirty="0">
                <a:latin typeface="Carlito"/>
                <a:cs typeface="Carlito"/>
              </a:rPr>
              <a:t>como vamos </a:t>
            </a:r>
            <a:r>
              <a:rPr sz="1700" spc="-10" dirty="0">
                <a:latin typeface="Carlito"/>
                <a:cs typeface="Carlito"/>
              </a:rPr>
              <a:t>utilizá-la </a:t>
            </a:r>
            <a:r>
              <a:rPr sz="1700" spc="-15" dirty="0">
                <a:latin typeface="Carlito"/>
                <a:cs typeface="Carlito"/>
              </a:rPr>
              <a:t>para  fazer </a:t>
            </a:r>
            <a:r>
              <a:rPr sz="1700" dirty="0">
                <a:latin typeface="Carlito"/>
                <a:cs typeface="Carlito"/>
              </a:rPr>
              <a:t>um </a:t>
            </a:r>
            <a:r>
              <a:rPr sz="1700" spc="-5" dirty="0">
                <a:latin typeface="Carlito"/>
                <a:cs typeface="Carlito"/>
              </a:rPr>
              <a:t>CRUD </a:t>
            </a:r>
            <a:r>
              <a:rPr sz="1700" dirty="0">
                <a:latin typeface="Carlito"/>
                <a:cs typeface="Carlito"/>
              </a:rPr>
              <a:t>no</a:t>
            </a:r>
            <a:r>
              <a:rPr sz="1700" spc="-15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MySQL.</a:t>
            </a:r>
            <a:endParaRPr sz="1700">
              <a:latin typeface="Carlito"/>
              <a:cs typeface="Carlito"/>
            </a:endParaRPr>
          </a:p>
          <a:p>
            <a:pPr marL="12700" marR="5080" algn="just">
              <a:lnSpc>
                <a:spcPct val="90000"/>
              </a:lnSpc>
              <a:spcBef>
                <a:spcPts val="565"/>
              </a:spcBef>
              <a:buFont typeface="Arial"/>
              <a:buChar char="•"/>
              <a:tabLst>
                <a:tab pos="241300" algn="l"/>
              </a:tabLst>
            </a:pPr>
            <a:r>
              <a:rPr sz="1700" dirty="0">
                <a:latin typeface="Carlito"/>
                <a:cs typeface="Carlito"/>
              </a:rPr>
              <a:t>Mesmo </a:t>
            </a:r>
            <a:r>
              <a:rPr sz="1700" spc="-5" dirty="0">
                <a:latin typeface="Carlito"/>
                <a:cs typeface="Carlito"/>
              </a:rPr>
              <a:t>módulo </a:t>
            </a:r>
            <a:r>
              <a:rPr sz="1700" b="1" spc="-5" dirty="0">
                <a:latin typeface="Carlito"/>
                <a:cs typeface="Carlito"/>
              </a:rPr>
              <a:t>db.js</a:t>
            </a:r>
            <a:r>
              <a:rPr sz="1700" spc="-5" dirty="0">
                <a:latin typeface="Carlito"/>
                <a:cs typeface="Carlito"/>
              </a:rPr>
              <a:t>, </a:t>
            </a:r>
            <a:r>
              <a:rPr sz="1700" dirty="0">
                <a:latin typeface="Carlito"/>
                <a:cs typeface="Carlito"/>
              </a:rPr>
              <a:t>cria  </a:t>
            </a:r>
            <a:r>
              <a:rPr sz="1700" spc="-10" dirty="0">
                <a:latin typeface="Carlito"/>
                <a:cs typeface="Carlito"/>
              </a:rPr>
              <a:t>outra </a:t>
            </a:r>
            <a:r>
              <a:rPr sz="1700" spc="-5" dirty="0">
                <a:latin typeface="Carlito"/>
                <a:cs typeface="Carlito"/>
              </a:rPr>
              <a:t>function, </a:t>
            </a:r>
            <a:r>
              <a:rPr sz="1700" spc="-10" dirty="0">
                <a:latin typeface="Carlito"/>
                <a:cs typeface="Carlito"/>
              </a:rPr>
              <a:t>desta vez para  </a:t>
            </a:r>
            <a:r>
              <a:rPr sz="1700" b="1" spc="-5" dirty="0">
                <a:latin typeface="Carlito"/>
                <a:cs typeface="Carlito"/>
              </a:rPr>
              <a:t>select</a:t>
            </a:r>
            <a:r>
              <a:rPr sz="1700" spc="-5" dirty="0">
                <a:latin typeface="Carlito"/>
                <a:cs typeface="Carlito"/>
              </a:rPr>
              <a:t>.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26307" y="182879"/>
            <a:ext cx="5791200" cy="4777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448513"/>
            <a:ext cx="2099945" cy="12642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sz="2900" spc="-5" dirty="0">
                <a:latin typeface="Carlito"/>
                <a:cs typeface="Carlito"/>
              </a:rPr>
              <a:t>CRUD</a:t>
            </a:r>
            <a:r>
              <a:rPr sz="2900" spc="-95" dirty="0">
                <a:latin typeface="Carlito"/>
                <a:cs typeface="Carlito"/>
              </a:rPr>
              <a:t> </a:t>
            </a:r>
            <a:r>
              <a:rPr sz="2900" spc="-5" dirty="0">
                <a:latin typeface="Carlito"/>
                <a:cs typeface="Carlito"/>
              </a:rPr>
              <a:t>Node.js  </a:t>
            </a:r>
            <a:r>
              <a:rPr sz="2900" spc="-10" dirty="0">
                <a:latin typeface="Carlito"/>
                <a:cs typeface="Carlito"/>
              </a:rPr>
              <a:t>com </a:t>
            </a:r>
            <a:r>
              <a:rPr sz="2900" spc="-5" dirty="0">
                <a:latin typeface="Carlito"/>
                <a:cs typeface="Carlito"/>
              </a:rPr>
              <a:t>Mysql </a:t>
            </a:r>
            <a:r>
              <a:rPr sz="2900" spc="-170" dirty="0"/>
              <a:t>–  </a:t>
            </a:r>
            <a:r>
              <a:rPr sz="2900" spc="-5" dirty="0">
                <a:latin typeface="Carlito"/>
                <a:cs typeface="Carlito"/>
              </a:rPr>
              <a:t>Select</a:t>
            </a:r>
            <a:endParaRPr sz="29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2099564"/>
            <a:ext cx="2808605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</a:pPr>
            <a:r>
              <a:rPr sz="1700" spc="-5" dirty="0">
                <a:latin typeface="Carlito"/>
                <a:cs typeface="Carlito"/>
              </a:rPr>
              <a:t>Exportamos </a:t>
            </a:r>
            <a:r>
              <a:rPr sz="1700" dirty="0">
                <a:latin typeface="Carlito"/>
                <a:cs typeface="Carlito"/>
              </a:rPr>
              <a:t>a </a:t>
            </a:r>
            <a:r>
              <a:rPr sz="1700" spc="-5" dirty="0">
                <a:latin typeface="Carlito"/>
                <a:cs typeface="Carlito"/>
              </a:rPr>
              <a:t>função  </a:t>
            </a:r>
            <a:r>
              <a:rPr sz="1600" b="1" spc="-10" dirty="0">
                <a:latin typeface="Carlito"/>
                <a:cs typeface="Carlito"/>
              </a:rPr>
              <a:t>selectCustomers</a:t>
            </a:r>
            <a:r>
              <a:rPr sz="1700" b="1" spc="-10" dirty="0">
                <a:latin typeface="Carlito"/>
                <a:cs typeface="Carlito"/>
              </a:rPr>
              <a:t>, </a:t>
            </a:r>
            <a:r>
              <a:rPr sz="1700" dirty="0">
                <a:latin typeface="Carlito"/>
                <a:cs typeface="Carlito"/>
              </a:rPr>
              <a:t>pois </a:t>
            </a:r>
            <a:r>
              <a:rPr sz="1700" spc="-5" dirty="0">
                <a:latin typeface="Carlito"/>
                <a:cs typeface="Carlito"/>
              </a:rPr>
              <a:t>queremos  </a:t>
            </a:r>
            <a:r>
              <a:rPr sz="1700" dirty="0">
                <a:latin typeface="Carlito"/>
                <a:cs typeface="Carlito"/>
              </a:rPr>
              <a:t>usar ela no nosso</a:t>
            </a:r>
            <a:r>
              <a:rPr sz="1700" spc="-105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index.js.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8375" y="1370838"/>
            <a:ext cx="430847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045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97009"/>
                </a:solidFill>
                <a:latin typeface="Carlito"/>
                <a:cs typeface="Carlito"/>
              </a:rPr>
              <a:t>//index.js  </a:t>
            </a:r>
            <a:r>
              <a:rPr sz="1800" spc="-10" dirty="0">
                <a:latin typeface="Carlito"/>
                <a:cs typeface="Carlito"/>
              </a:rPr>
              <a:t>(async </a:t>
            </a:r>
            <a:r>
              <a:rPr sz="1800" spc="-5" dirty="0">
                <a:latin typeface="Carlito"/>
                <a:cs typeface="Carlito"/>
              </a:rPr>
              <a:t>() </a:t>
            </a:r>
            <a:r>
              <a:rPr sz="1800" dirty="0">
                <a:latin typeface="Carlito"/>
                <a:cs typeface="Carlito"/>
              </a:rPr>
              <a:t>=</a:t>
            </a:r>
            <a:r>
              <a:rPr sz="1800" dirty="0">
                <a:solidFill>
                  <a:srgbClr val="006EDF"/>
                </a:solidFill>
                <a:latin typeface="Carlito"/>
                <a:cs typeface="Carlito"/>
              </a:rPr>
              <a:t>&gt;</a:t>
            </a:r>
            <a:r>
              <a:rPr sz="1800" spc="-35" dirty="0">
                <a:solidFill>
                  <a:srgbClr val="006EDF"/>
                </a:solidFill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{</a:t>
            </a:r>
            <a:endParaRPr sz="1800">
              <a:latin typeface="Carlito"/>
              <a:cs typeface="Carlito"/>
            </a:endParaRPr>
          </a:p>
          <a:p>
            <a:pPr marL="220979" marR="1617345">
              <a:lnSpc>
                <a:spcPct val="100000"/>
              </a:lnSpc>
            </a:pPr>
            <a:r>
              <a:rPr sz="1800" b="1" spc="-10" dirty="0">
                <a:solidFill>
                  <a:srgbClr val="800080"/>
                </a:solidFill>
                <a:latin typeface="Carlito"/>
                <a:cs typeface="Carlito"/>
              </a:rPr>
              <a:t>const </a:t>
            </a:r>
            <a:r>
              <a:rPr sz="1800" dirty="0">
                <a:latin typeface="Carlito"/>
                <a:cs typeface="Carlito"/>
              </a:rPr>
              <a:t>db = </a:t>
            </a:r>
            <a:r>
              <a:rPr sz="1800" spc="-10" dirty="0">
                <a:latin typeface="Carlito"/>
                <a:cs typeface="Carlito"/>
              </a:rPr>
              <a:t>require(</a:t>
            </a:r>
            <a:r>
              <a:rPr sz="1800" spc="-10" dirty="0">
                <a:solidFill>
                  <a:srgbClr val="0828FA"/>
                </a:solidFill>
                <a:latin typeface="Carlito"/>
                <a:cs typeface="Carlito"/>
              </a:rPr>
              <a:t>"./db"</a:t>
            </a:r>
            <a:r>
              <a:rPr sz="1800" spc="-10" dirty="0">
                <a:latin typeface="Carlito"/>
                <a:cs typeface="Carlito"/>
              </a:rPr>
              <a:t>);  </a:t>
            </a:r>
            <a:r>
              <a:rPr sz="1800" spc="-5" dirty="0">
                <a:latin typeface="Carlito"/>
                <a:cs typeface="Carlito"/>
              </a:rPr>
              <a:t>console.log(</a:t>
            </a:r>
            <a:r>
              <a:rPr sz="1800" spc="-5" dirty="0">
                <a:solidFill>
                  <a:srgbClr val="0828FA"/>
                </a:solidFill>
                <a:latin typeface="Carlito"/>
                <a:cs typeface="Carlito"/>
              </a:rPr>
              <a:t>'Começou!'</a:t>
            </a:r>
            <a:r>
              <a:rPr sz="1800" spc="-5" dirty="0">
                <a:latin typeface="Carlito"/>
                <a:cs typeface="Carlito"/>
              </a:rPr>
              <a:t>);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rlito"/>
              <a:cs typeface="Carlito"/>
            </a:endParaRPr>
          </a:p>
          <a:p>
            <a:pPr marL="220979" marR="5080">
              <a:lnSpc>
                <a:spcPct val="100000"/>
              </a:lnSpc>
            </a:pPr>
            <a:r>
              <a:rPr sz="1800" spc="-5" dirty="0">
                <a:latin typeface="Carlito"/>
                <a:cs typeface="Carlito"/>
              </a:rPr>
              <a:t>console.log(</a:t>
            </a:r>
            <a:r>
              <a:rPr sz="1800" spc="-5" dirty="0">
                <a:solidFill>
                  <a:srgbClr val="0828FA"/>
                </a:solidFill>
                <a:latin typeface="Carlito"/>
                <a:cs typeface="Carlito"/>
              </a:rPr>
              <a:t>'SELECT </a:t>
            </a:r>
            <a:r>
              <a:rPr sz="1800" dirty="0">
                <a:solidFill>
                  <a:srgbClr val="0828FA"/>
                </a:solidFill>
                <a:latin typeface="Carlito"/>
                <a:cs typeface="Carlito"/>
              </a:rPr>
              <a:t>* </a:t>
            </a:r>
            <a:r>
              <a:rPr sz="1800" spc="-10" dirty="0">
                <a:solidFill>
                  <a:srgbClr val="0828FA"/>
                </a:solidFill>
                <a:latin typeface="Carlito"/>
                <a:cs typeface="Carlito"/>
              </a:rPr>
              <a:t>FROM CLIENTES'</a:t>
            </a:r>
            <a:r>
              <a:rPr sz="1800" spc="-10" dirty="0">
                <a:latin typeface="Carlito"/>
                <a:cs typeface="Carlito"/>
              </a:rPr>
              <a:t>);  </a:t>
            </a:r>
            <a:r>
              <a:rPr sz="1800" b="1" spc="-10" dirty="0">
                <a:solidFill>
                  <a:srgbClr val="800080"/>
                </a:solidFill>
                <a:latin typeface="Carlito"/>
                <a:cs typeface="Carlito"/>
              </a:rPr>
              <a:t>const </a:t>
            </a:r>
            <a:r>
              <a:rPr sz="1800" spc="-10" dirty="0">
                <a:latin typeface="Carlito"/>
                <a:cs typeface="Carlito"/>
              </a:rPr>
              <a:t>clientes </a:t>
            </a:r>
            <a:r>
              <a:rPr sz="1800" dirty="0">
                <a:latin typeface="Carlito"/>
                <a:cs typeface="Carlito"/>
              </a:rPr>
              <a:t>= </a:t>
            </a:r>
            <a:r>
              <a:rPr sz="1800" spc="-10" dirty="0">
                <a:latin typeface="Carlito"/>
                <a:cs typeface="Carlito"/>
              </a:rPr>
              <a:t>await db.selectCustomers();  console.log(clientes);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})();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448513"/>
            <a:ext cx="2099945" cy="12642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sz="2900" spc="-5" dirty="0">
                <a:latin typeface="Carlito"/>
                <a:cs typeface="Carlito"/>
              </a:rPr>
              <a:t>CRUD</a:t>
            </a:r>
            <a:r>
              <a:rPr sz="2900" spc="-95" dirty="0">
                <a:latin typeface="Carlito"/>
                <a:cs typeface="Carlito"/>
              </a:rPr>
              <a:t> </a:t>
            </a:r>
            <a:r>
              <a:rPr sz="2900" spc="-5" dirty="0">
                <a:latin typeface="Carlito"/>
                <a:cs typeface="Carlito"/>
              </a:rPr>
              <a:t>Node.js  </a:t>
            </a:r>
            <a:r>
              <a:rPr sz="2900" spc="-10" dirty="0">
                <a:latin typeface="Carlito"/>
                <a:cs typeface="Carlito"/>
              </a:rPr>
              <a:t>com </a:t>
            </a:r>
            <a:r>
              <a:rPr sz="2900" spc="-5" dirty="0">
                <a:latin typeface="Carlito"/>
                <a:cs typeface="Carlito"/>
              </a:rPr>
              <a:t>Mysql </a:t>
            </a:r>
            <a:r>
              <a:rPr sz="2900" spc="-170" dirty="0"/>
              <a:t>–  </a:t>
            </a:r>
            <a:r>
              <a:rPr sz="2900" dirty="0">
                <a:latin typeface="Carlito"/>
                <a:cs typeface="Carlito"/>
              </a:rPr>
              <a:t>Insert</a:t>
            </a:r>
            <a:endParaRPr sz="29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4464" y="1894948"/>
            <a:ext cx="2478405" cy="92710"/>
            <a:chOff x="464464" y="1894948"/>
            <a:chExt cx="2478405" cy="92710"/>
          </a:xfrm>
        </p:grpSpPr>
        <p:sp>
          <p:nvSpPr>
            <p:cNvPr id="4" name="object 4"/>
            <p:cNvSpPr/>
            <p:nvPr/>
          </p:nvSpPr>
          <p:spPr>
            <a:xfrm>
              <a:off x="483869" y="1918696"/>
              <a:ext cx="2440305" cy="45085"/>
            </a:xfrm>
            <a:custGeom>
              <a:avLst/>
              <a:gdLst/>
              <a:ahLst/>
              <a:cxnLst/>
              <a:rect l="l" t="t" r="r" b="b"/>
              <a:pathLst>
                <a:path w="2440305" h="45085">
                  <a:moveTo>
                    <a:pt x="1600870" y="0"/>
                  </a:moveTo>
                  <a:lnTo>
                    <a:pt x="1552636" y="1041"/>
                  </a:lnTo>
                  <a:lnTo>
                    <a:pt x="1503153" y="3052"/>
                  </a:lnTo>
                  <a:lnTo>
                    <a:pt x="1347287" y="11175"/>
                  </a:lnTo>
                  <a:lnTo>
                    <a:pt x="1292882" y="13337"/>
                  </a:lnTo>
                  <a:lnTo>
                    <a:pt x="1237266" y="14605"/>
                  </a:lnTo>
                  <a:lnTo>
                    <a:pt x="1180444" y="14608"/>
                  </a:lnTo>
                  <a:lnTo>
                    <a:pt x="1122426" y="12973"/>
                  </a:lnTo>
                  <a:lnTo>
                    <a:pt x="1058143" y="5991"/>
                  </a:lnTo>
                  <a:lnTo>
                    <a:pt x="997941" y="2631"/>
                  </a:lnTo>
                  <a:lnTo>
                    <a:pt x="941491" y="2152"/>
                  </a:lnTo>
                  <a:lnTo>
                    <a:pt x="888465" y="3811"/>
                  </a:lnTo>
                  <a:lnTo>
                    <a:pt x="838535" y="6867"/>
                  </a:lnTo>
                  <a:lnTo>
                    <a:pt x="746649" y="14199"/>
                  </a:lnTo>
                  <a:lnTo>
                    <a:pt x="704037" y="16992"/>
                  </a:lnTo>
                  <a:lnTo>
                    <a:pt x="663208" y="18213"/>
                  </a:lnTo>
                  <a:lnTo>
                    <a:pt x="623833" y="17120"/>
                  </a:lnTo>
                  <a:lnTo>
                    <a:pt x="585584" y="12973"/>
                  </a:lnTo>
                  <a:lnTo>
                    <a:pt x="548086" y="10322"/>
                  </a:lnTo>
                  <a:lnTo>
                    <a:pt x="507302" y="8201"/>
                  </a:lnTo>
                  <a:lnTo>
                    <a:pt x="463602" y="6597"/>
                  </a:lnTo>
                  <a:lnTo>
                    <a:pt x="417354" y="5494"/>
                  </a:lnTo>
                  <a:lnTo>
                    <a:pt x="368929" y="4877"/>
                  </a:lnTo>
                  <a:lnTo>
                    <a:pt x="318695" y="4733"/>
                  </a:lnTo>
                  <a:lnTo>
                    <a:pt x="267022" y="5047"/>
                  </a:lnTo>
                  <a:lnTo>
                    <a:pt x="214279" y="5804"/>
                  </a:lnTo>
                  <a:lnTo>
                    <a:pt x="160836" y="6990"/>
                  </a:lnTo>
                  <a:lnTo>
                    <a:pt x="107062" y="8589"/>
                  </a:lnTo>
                  <a:lnTo>
                    <a:pt x="53327" y="10588"/>
                  </a:lnTo>
                  <a:lnTo>
                    <a:pt x="0" y="12973"/>
                  </a:lnTo>
                  <a:lnTo>
                    <a:pt x="393" y="16021"/>
                  </a:lnTo>
                  <a:lnTo>
                    <a:pt x="0" y="26689"/>
                  </a:lnTo>
                  <a:lnTo>
                    <a:pt x="55736" y="31100"/>
                  </a:lnTo>
                  <a:lnTo>
                    <a:pt x="110026" y="34433"/>
                  </a:lnTo>
                  <a:lnTo>
                    <a:pt x="163035" y="36782"/>
                  </a:lnTo>
                  <a:lnTo>
                    <a:pt x="214927" y="38238"/>
                  </a:lnTo>
                  <a:lnTo>
                    <a:pt x="265865" y="38897"/>
                  </a:lnTo>
                  <a:lnTo>
                    <a:pt x="316015" y="38852"/>
                  </a:lnTo>
                  <a:lnTo>
                    <a:pt x="365540" y="38197"/>
                  </a:lnTo>
                  <a:lnTo>
                    <a:pt x="414605" y="37024"/>
                  </a:lnTo>
                  <a:lnTo>
                    <a:pt x="463374" y="35429"/>
                  </a:lnTo>
                  <a:lnTo>
                    <a:pt x="512011" y="33504"/>
                  </a:lnTo>
                  <a:lnTo>
                    <a:pt x="658774" y="26689"/>
                  </a:lnTo>
                  <a:lnTo>
                    <a:pt x="713354" y="28412"/>
                  </a:lnTo>
                  <a:lnTo>
                    <a:pt x="765428" y="30824"/>
                  </a:lnTo>
                  <a:lnTo>
                    <a:pt x="815503" y="33660"/>
                  </a:lnTo>
                  <a:lnTo>
                    <a:pt x="911675" y="39535"/>
                  </a:lnTo>
                  <a:lnTo>
                    <a:pt x="958785" y="42042"/>
                  </a:lnTo>
                  <a:lnTo>
                    <a:pt x="1005916" y="43907"/>
                  </a:lnTo>
                  <a:lnTo>
                    <a:pt x="1053576" y="44863"/>
                  </a:lnTo>
                  <a:lnTo>
                    <a:pt x="1102270" y="44644"/>
                  </a:lnTo>
                  <a:lnTo>
                    <a:pt x="1152504" y="42983"/>
                  </a:lnTo>
                  <a:lnTo>
                    <a:pt x="1204782" y="39614"/>
                  </a:lnTo>
                  <a:lnTo>
                    <a:pt x="1259612" y="34272"/>
                  </a:lnTo>
                  <a:lnTo>
                    <a:pt x="1317498" y="26689"/>
                  </a:lnTo>
                  <a:lnTo>
                    <a:pt x="1378272" y="21061"/>
                  </a:lnTo>
                  <a:lnTo>
                    <a:pt x="1434252" y="17481"/>
                  </a:lnTo>
                  <a:lnTo>
                    <a:pt x="1486384" y="15642"/>
                  </a:lnTo>
                  <a:lnTo>
                    <a:pt x="1535617" y="15235"/>
                  </a:lnTo>
                  <a:lnTo>
                    <a:pt x="1582899" y="15954"/>
                  </a:lnTo>
                  <a:lnTo>
                    <a:pt x="1629178" y="17491"/>
                  </a:lnTo>
                  <a:lnTo>
                    <a:pt x="1771478" y="23937"/>
                  </a:lnTo>
                  <a:lnTo>
                    <a:pt x="1823226" y="25672"/>
                  </a:lnTo>
                  <a:lnTo>
                    <a:pt x="1878711" y="26689"/>
                  </a:lnTo>
                  <a:lnTo>
                    <a:pt x="1931968" y="23912"/>
                  </a:lnTo>
                  <a:lnTo>
                    <a:pt x="1981100" y="22190"/>
                  </a:lnTo>
                  <a:lnTo>
                    <a:pt x="2027331" y="21357"/>
                  </a:lnTo>
                  <a:lnTo>
                    <a:pt x="2071888" y="21246"/>
                  </a:lnTo>
                  <a:lnTo>
                    <a:pt x="2115997" y="21691"/>
                  </a:lnTo>
                  <a:lnTo>
                    <a:pt x="2312483" y="25689"/>
                  </a:lnTo>
                  <a:lnTo>
                    <a:pt x="2372748" y="26411"/>
                  </a:lnTo>
                  <a:lnTo>
                    <a:pt x="2439924" y="26689"/>
                  </a:lnTo>
                  <a:lnTo>
                    <a:pt x="2439670" y="21736"/>
                  </a:lnTo>
                  <a:lnTo>
                    <a:pt x="2439924" y="12973"/>
                  </a:lnTo>
                  <a:lnTo>
                    <a:pt x="2368149" y="9876"/>
                  </a:lnTo>
                  <a:lnTo>
                    <a:pt x="2302272" y="7669"/>
                  </a:lnTo>
                  <a:lnTo>
                    <a:pt x="2241643" y="6251"/>
                  </a:lnTo>
                  <a:lnTo>
                    <a:pt x="2185614" y="5518"/>
                  </a:lnTo>
                  <a:lnTo>
                    <a:pt x="2133534" y="5370"/>
                  </a:lnTo>
                  <a:lnTo>
                    <a:pt x="2084755" y="5704"/>
                  </a:lnTo>
                  <a:lnTo>
                    <a:pt x="2038627" y="6417"/>
                  </a:lnTo>
                  <a:lnTo>
                    <a:pt x="1994501" y="7409"/>
                  </a:lnTo>
                  <a:lnTo>
                    <a:pt x="1825030" y="12119"/>
                  </a:lnTo>
                  <a:lnTo>
                    <a:pt x="1781175" y="12973"/>
                  </a:lnTo>
                  <a:lnTo>
                    <a:pt x="1738008" y="6413"/>
                  </a:lnTo>
                  <a:lnTo>
                    <a:pt x="1693563" y="2313"/>
                  </a:lnTo>
                  <a:lnTo>
                    <a:pt x="1647848" y="299"/>
                  </a:lnTo>
                  <a:lnTo>
                    <a:pt x="160087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3514" y="1913998"/>
              <a:ext cx="2440305" cy="54610"/>
            </a:xfrm>
            <a:custGeom>
              <a:avLst/>
              <a:gdLst/>
              <a:ahLst/>
              <a:cxnLst/>
              <a:rect l="l" t="t" r="r" b="b"/>
              <a:pathLst>
                <a:path w="2440305" h="54610">
                  <a:moveTo>
                    <a:pt x="355" y="17671"/>
                  </a:moveTo>
                  <a:lnTo>
                    <a:pt x="66474" y="16379"/>
                  </a:lnTo>
                  <a:lnTo>
                    <a:pt x="125544" y="15722"/>
                  </a:lnTo>
                  <a:lnTo>
                    <a:pt x="178733" y="15582"/>
                  </a:lnTo>
                  <a:lnTo>
                    <a:pt x="227213" y="15837"/>
                  </a:lnTo>
                  <a:lnTo>
                    <a:pt x="272154" y="16367"/>
                  </a:lnTo>
                  <a:lnTo>
                    <a:pt x="314726" y="17052"/>
                  </a:lnTo>
                  <a:lnTo>
                    <a:pt x="356099" y="17772"/>
                  </a:lnTo>
                  <a:lnTo>
                    <a:pt x="397444" y="18405"/>
                  </a:lnTo>
                  <a:lnTo>
                    <a:pt x="439930" y="18832"/>
                  </a:lnTo>
                  <a:lnTo>
                    <a:pt x="484728" y="18933"/>
                  </a:lnTo>
                  <a:lnTo>
                    <a:pt x="533007" y="18586"/>
                  </a:lnTo>
                  <a:lnTo>
                    <a:pt x="585939" y="17671"/>
                  </a:lnTo>
                  <a:lnTo>
                    <a:pt x="645867" y="14882"/>
                  </a:lnTo>
                  <a:lnTo>
                    <a:pt x="702787" y="11762"/>
                  </a:lnTo>
                  <a:lnTo>
                    <a:pt x="757105" y="8563"/>
                  </a:lnTo>
                  <a:lnTo>
                    <a:pt x="809228" y="5536"/>
                  </a:lnTo>
                  <a:lnTo>
                    <a:pt x="859563" y="2932"/>
                  </a:lnTo>
                  <a:lnTo>
                    <a:pt x="908515" y="1003"/>
                  </a:lnTo>
                  <a:lnTo>
                    <a:pt x="956490" y="0"/>
                  </a:lnTo>
                  <a:lnTo>
                    <a:pt x="1003895" y="174"/>
                  </a:lnTo>
                  <a:lnTo>
                    <a:pt x="1051135" y="1777"/>
                  </a:lnTo>
                  <a:lnTo>
                    <a:pt x="1098618" y="5060"/>
                  </a:lnTo>
                  <a:lnTo>
                    <a:pt x="1146748" y="10274"/>
                  </a:lnTo>
                  <a:lnTo>
                    <a:pt x="1195933" y="17671"/>
                  </a:lnTo>
                  <a:lnTo>
                    <a:pt x="1237291" y="20955"/>
                  </a:lnTo>
                  <a:lnTo>
                    <a:pt x="1280875" y="22681"/>
                  </a:lnTo>
                  <a:lnTo>
                    <a:pt x="1326533" y="23136"/>
                  </a:lnTo>
                  <a:lnTo>
                    <a:pt x="1374114" y="22610"/>
                  </a:lnTo>
                  <a:lnTo>
                    <a:pt x="1423468" y="21391"/>
                  </a:lnTo>
                  <a:lnTo>
                    <a:pt x="1474444" y="19767"/>
                  </a:lnTo>
                  <a:lnTo>
                    <a:pt x="1526891" y="18026"/>
                  </a:lnTo>
                  <a:lnTo>
                    <a:pt x="1580658" y="16458"/>
                  </a:lnTo>
                  <a:lnTo>
                    <a:pt x="1635595" y="15350"/>
                  </a:lnTo>
                  <a:lnTo>
                    <a:pt x="1691551" y="14990"/>
                  </a:lnTo>
                  <a:lnTo>
                    <a:pt x="1748374" y="15668"/>
                  </a:lnTo>
                  <a:lnTo>
                    <a:pt x="1805914" y="17671"/>
                  </a:lnTo>
                  <a:lnTo>
                    <a:pt x="1858589" y="17557"/>
                  </a:lnTo>
                  <a:lnTo>
                    <a:pt x="1911695" y="17151"/>
                  </a:lnTo>
                  <a:lnTo>
                    <a:pt x="1965113" y="16546"/>
                  </a:lnTo>
                  <a:lnTo>
                    <a:pt x="2018724" y="15837"/>
                  </a:lnTo>
                  <a:lnTo>
                    <a:pt x="2072409" y="15117"/>
                  </a:lnTo>
                  <a:lnTo>
                    <a:pt x="2126049" y="14481"/>
                  </a:lnTo>
                  <a:lnTo>
                    <a:pt x="2179526" y="14021"/>
                  </a:lnTo>
                  <a:lnTo>
                    <a:pt x="2232719" y="13833"/>
                  </a:lnTo>
                  <a:lnTo>
                    <a:pt x="2285510" y="14010"/>
                  </a:lnTo>
                  <a:lnTo>
                    <a:pt x="2337780" y="14646"/>
                  </a:lnTo>
                  <a:lnTo>
                    <a:pt x="2389409" y="15835"/>
                  </a:lnTo>
                  <a:lnTo>
                    <a:pt x="2440279" y="17671"/>
                  </a:lnTo>
                  <a:lnTo>
                    <a:pt x="2439898" y="21354"/>
                  </a:lnTo>
                  <a:lnTo>
                    <a:pt x="2439644" y="27069"/>
                  </a:lnTo>
                  <a:lnTo>
                    <a:pt x="2373343" y="38368"/>
                  </a:lnTo>
                  <a:lnTo>
                    <a:pt x="2312757" y="43964"/>
                  </a:lnTo>
                  <a:lnTo>
                    <a:pt x="2257494" y="48211"/>
                  </a:lnTo>
                  <a:lnTo>
                    <a:pt x="2206529" y="51143"/>
                  </a:lnTo>
                  <a:lnTo>
                    <a:pt x="2158833" y="52794"/>
                  </a:lnTo>
                  <a:lnTo>
                    <a:pt x="2113381" y="53200"/>
                  </a:lnTo>
                  <a:lnTo>
                    <a:pt x="2069146" y="52393"/>
                  </a:lnTo>
                  <a:lnTo>
                    <a:pt x="2025102" y="50409"/>
                  </a:lnTo>
                  <a:lnTo>
                    <a:pt x="1980222" y="47282"/>
                  </a:lnTo>
                  <a:lnTo>
                    <a:pt x="1933479" y="43047"/>
                  </a:lnTo>
                  <a:lnTo>
                    <a:pt x="1883846" y="37737"/>
                  </a:lnTo>
                  <a:lnTo>
                    <a:pt x="1830298" y="31387"/>
                  </a:lnTo>
                  <a:lnTo>
                    <a:pt x="1774447" y="28419"/>
                  </a:lnTo>
                  <a:lnTo>
                    <a:pt x="1723334" y="25519"/>
                  </a:lnTo>
                  <a:lnTo>
                    <a:pt x="1675701" y="22862"/>
                  </a:lnTo>
                  <a:lnTo>
                    <a:pt x="1630292" y="20623"/>
                  </a:lnTo>
                  <a:lnTo>
                    <a:pt x="1585850" y="18978"/>
                  </a:lnTo>
                  <a:lnTo>
                    <a:pt x="1541117" y="18103"/>
                  </a:lnTo>
                  <a:lnTo>
                    <a:pt x="1494835" y="18171"/>
                  </a:lnTo>
                  <a:lnTo>
                    <a:pt x="1445749" y="19358"/>
                  </a:lnTo>
                  <a:lnTo>
                    <a:pt x="1392600" y="21840"/>
                  </a:lnTo>
                  <a:lnTo>
                    <a:pt x="1334131" y="25791"/>
                  </a:lnTo>
                  <a:lnTo>
                    <a:pt x="1269085" y="31387"/>
                  </a:lnTo>
                  <a:lnTo>
                    <a:pt x="1203770" y="39972"/>
                  </a:lnTo>
                  <a:lnTo>
                    <a:pt x="1143526" y="46366"/>
                  </a:lnTo>
                  <a:lnTo>
                    <a:pt x="1087614" y="50727"/>
                  </a:lnTo>
                  <a:lnTo>
                    <a:pt x="1035299" y="53212"/>
                  </a:lnTo>
                  <a:lnTo>
                    <a:pt x="985844" y="53981"/>
                  </a:lnTo>
                  <a:lnTo>
                    <a:pt x="938513" y="53191"/>
                  </a:lnTo>
                  <a:lnTo>
                    <a:pt x="892570" y="51000"/>
                  </a:lnTo>
                  <a:lnTo>
                    <a:pt x="847276" y="47566"/>
                  </a:lnTo>
                  <a:lnTo>
                    <a:pt x="801897" y="43048"/>
                  </a:lnTo>
                  <a:lnTo>
                    <a:pt x="755696" y="37602"/>
                  </a:lnTo>
                  <a:lnTo>
                    <a:pt x="707936" y="31387"/>
                  </a:lnTo>
                  <a:lnTo>
                    <a:pt x="667916" y="33281"/>
                  </a:lnTo>
                  <a:lnTo>
                    <a:pt x="626813" y="35066"/>
                  </a:lnTo>
                  <a:lnTo>
                    <a:pt x="584494" y="36698"/>
                  </a:lnTo>
                  <a:lnTo>
                    <a:pt x="540824" y="38130"/>
                  </a:lnTo>
                  <a:lnTo>
                    <a:pt x="495669" y="39316"/>
                  </a:lnTo>
                  <a:lnTo>
                    <a:pt x="448896" y="40212"/>
                  </a:lnTo>
                  <a:lnTo>
                    <a:pt x="400370" y="40770"/>
                  </a:lnTo>
                  <a:lnTo>
                    <a:pt x="349957" y="40945"/>
                  </a:lnTo>
                  <a:lnTo>
                    <a:pt x="297524" y="40691"/>
                  </a:lnTo>
                  <a:lnTo>
                    <a:pt x="242936" y="39963"/>
                  </a:lnTo>
                  <a:lnTo>
                    <a:pt x="186059" y="38714"/>
                  </a:lnTo>
                  <a:lnTo>
                    <a:pt x="126759" y="36899"/>
                  </a:lnTo>
                  <a:lnTo>
                    <a:pt x="64903" y="34472"/>
                  </a:lnTo>
                  <a:lnTo>
                    <a:pt x="355" y="31387"/>
                  </a:lnTo>
                  <a:lnTo>
                    <a:pt x="0" y="25418"/>
                  </a:lnTo>
                  <a:lnTo>
                    <a:pt x="76" y="20338"/>
                  </a:lnTo>
                  <a:lnTo>
                    <a:pt x="355" y="17671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094" y="2099564"/>
            <a:ext cx="2136140" cy="10610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66675">
              <a:lnSpc>
                <a:spcPts val="1839"/>
              </a:lnSpc>
              <a:spcBef>
                <a:spcPts val="33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dirty="0">
                <a:latin typeface="Carlito"/>
                <a:cs typeface="Carlito"/>
              </a:rPr>
              <a:t>Inserindo </a:t>
            </a:r>
            <a:r>
              <a:rPr sz="1700" spc="-5" dirty="0">
                <a:latin typeface="Carlito"/>
                <a:cs typeface="Carlito"/>
              </a:rPr>
              <a:t>clientes</a:t>
            </a:r>
            <a:r>
              <a:rPr sz="1700" spc="-1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no  </a:t>
            </a:r>
            <a:r>
              <a:rPr sz="1700" spc="-5" dirty="0">
                <a:latin typeface="Carlito"/>
                <a:cs typeface="Carlito"/>
              </a:rPr>
              <a:t>MySQL</a:t>
            </a:r>
            <a:endParaRPr sz="1700">
              <a:latin typeface="Carlito"/>
              <a:cs typeface="Carlito"/>
            </a:endParaRPr>
          </a:p>
          <a:p>
            <a:pPr marL="241300" indent="-228600">
              <a:lnSpc>
                <a:spcPts val="1939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spc="-20" dirty="0">
                <a:latin typeface="Carlito"/>
                <a:cs typeface="Carlito"/>
              </a:rPr>
              <a:t>Volte </a:t>
            </a:r>
            <a:r>
              <a:rPr sz="1700" dirty="0">
                <a:latin typeface="Carlito"/>
                <a:cs typeface="Carlito"/>
              </a:rPr>
              <a:t>ao </a:t>
            </a:r>
            <a:r>
              <a:rPr sz="1700" b="1" spc="-5" dirty="0">
                <a:latin typeface="Carlito"/>
                <a:cs typeface="Carlito"/>
              </a:rPr>
              <a:t>db.js </a:t>
            </a:r>
            <a:r>
              <a:rPr sz="1700" dirty="0">
                <a:latin typeface="Carlito"/>
                <a:cs typeface="Carlito"/>
              </a:rPr>
              <a:t>e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insira</a:t>
            </a:r>
            <a:endParaRPr sz="1700">
              <a:latin typeface="Carlito"/>
              <a:cs typeface="Carlito"/>
            </a:endParaRPr>
          </a:p>
          <a:p>
            <a:pPr marL="12700">
              <a:lnSpc>
                <a:spcPts val="1939"/>
              </a:lnSpc>
            </a:pPr>
            <a:r>
              <a:rPr sz="1700" dirty="0">
                <a:latin typeface="Carlito"/>
                <a:cs typeface="Carlito"/>
              </a:rPr>
              <a:t>uma </a:t>
            </a:r>
            <a:r>
              <a:rPr sz="1700" spc="-10" dirty="0">
                <a:latin typeface="Carlito"/>
                <a:cs typeface="Carlito"/>
              </a:rPr>
              <a:t>nova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função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62984" y="35051"/>
            <a:ext cx="4776216" cy="50947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448513"/>
            <a:ext cx="2099945" cy="12642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sz="2900" spc="-5" dirty="0">
                <a:latin typeface="Carlito"/>
                <a:cs typeface="Carlito"/>
              </a:rPr>
              <a:t>CRUD</a:t>
            </a:r>
            <a:r>
              <a:rPr sz="2900" spc="-95" dirty="0">
                <a:latin typeface="Carlito"/>
                <a:cs typeface="Carlito"/>
              </a:rPr>
              <a:t> </a:t>
            </a:r>
            <a:r>
              <a:rPr sz="2900" spc="-5" dirty="0">
                <a:latin typeface="Carlito"/>
                <a:cs typeface="Carlito"/>
              </a:rPr>
              <a:t>Node.js  </a:t>
            </a:r>
            <a:r>
              <a:rPr sz="2900" spc="-10" dirty="0">
                <a:latin typeface="Carlito"/>
                <a:cs typeface="Carlito"/>
              </a:rPr>
              <a:t>com </a:t>
            </a:r>
            <a:r>
              <a:rPr sz="2900" spc="-5" dirty="0">
                <a:latin typeface="Carlito"/>
                <a:cs typeface="Carlito"/>
              </a:rPr>
              <a:t>Mysql </a:t>
            </a:r>
            <a:r>
              <a:rPr sz="2900" spc="-170" dirty="0"/>
              <a:t>–  </a:t>
            </a:r>
            <a:r>
              <a:rPr sz="2900" dirty="0">
                <a:latin typeface="Carlito"/>
                <a:cs typeface="Carlito"/>
              </a:rPr>
              <a:t>Insert</a:t>
            </a:r>
            <a:endParaRPr sz="29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4464" y="1894948"/>
            <a:ext cx="2478405" cy="92710"/>
            <a:chOff x="464464" y="1894948"/>
            <a:chExt cx="2478405" cy="92710"/>
          </a:xfrm>
        </p:grpSpPr>
        <p:sp>
          <p:nvSpPr>
            <p:cNvPr id="4" name="object 4"/>
            <p:cNvSpPr/>
            <p:nvPr/>
          </p:nvSpPr>
          <p:spPr>
            <a:xfrm>
              <a:off x="483869" y="1918696"/>
              <a:ext cx="2440305" cy="45085"/>
            </a:xfrm>
            <a:custGeom>
              <a:avLst/>
              <a:gdLst/>
              <a:ahLst/>
              <a:cxnLst/>
              <a:rect l="l" t="t" r="r" b="b"/>
              <a:pathLst>
                <a:path w="2440305" h="45085">
                  <a:moveTo>
                    <a:pt x="1600870" y="0"/>
                  </a:moveTo>
                  <a:lnTo>
                    <a:pt x="1552636" y="1041"/>
                  </a:lnTo>
                  <a:lnTo>
                    <a:pt x="1503153" y="3052"/>
                  </a:lnTo>
                  <a:lnTo>
                    <a:pt x="1347287" y="11175"/>
                  </a:lnTo>
                  <a:lnTo>
                    <a:pt x="1292882" y="13337"/>
                  </a:lnTo>
                  <a:lnTo>
                    <a:pt x="1237266" y="14605"/>
                  </a:lnTo>
                  <a:lnTo>
                    <a:pt x="1180444" y="14608"/>
                  </a:lnTo>
                  <a:lnTo>
                    <a:pt x="1122426" y="12973"/>
                  </a:lnTo>
                  <a:lnTo>
                    <a:pt x="1058143" y="5991"/>
                  </a:lnTo>
                  <a:lnTo>
                    <a:pt x="997941" y="2631"/>
                  </a:lnTo>
                  <a:lnTo>
                    <a:pt x="941491" y="2152"/>
                  </a:lnTo>
                  <a:lnTo>
                    <a:pt x="888465" y="3811"/>
                  </a:lnTo>
                  <a:lnTo>
                    <a:pt x="838535" y="6867"/>
                  </a:lnTo>
                  <a:lnTo>
                    <a:pt x="746649" y="14199"/>
                  </a:lnTo>
                  <a:lnTo>
                    <a:pt x="704037" y="16992"/>
                  </a:lnTo>
                  <a:lnTo>
                    <a:pt x="663208" y="18213"/>
                  </a:lnTo>
                  <a:lnTo>
                    <a:pt x="623833" y="17120"/>
                  </a:lnTo>
                  <a:lnTo>
                    <a:pt x="585584" y="12973"/>
                  </a:lnTo>
                  <a:lnTo>
                    <a:pt x="548086" y="10322"/>
                  </a:lnTo>
                  <a:lnTo>
                    <a:pt x="507302" y="8201"/>
                  </a:lnTo>
                  <a:lnTo>
                    <a:pt x="463602" y="6597"/>
                  </a:lnTo>
                  <a:lnTo>
                    <a:pt x="417354" y="5494"/>
                  </a:lnTo>
                  <a:lnTo>
                    <a:pt x="368929" y="4877"/>
                  </a:lnTo>
                  <a:lnTo>
                    <a:pt x="318695" y="4733"/>
                  </a:lnTo>
                  <a:lnTo>
                    <a:pt x="267022" y="5047"/>
                  </a:lnTo>
                  <a:lnTo>
                    <a:pt x="214279" y="5804"/>
                  </a:lnTo>
                  <a:lnTo>
                    <a:pt x="160836" y="6990"/>
                  </a:lnTo>
                  <a:lnTo>
                    <a:pt x="107062" y="8589"/>
                  </a:lnTo>
                  <a:lnTo>
                    <a:pt x="53327" y="10588"/>
                  </a:lnTo>
                  <a:lnTo>
                    <a:pt x="0" y="12973"/>
                  </a:lnTo>
                  <a:lnTo>
                    <a:pt x="393" y="16021"/>
                  </a:lnTo>
                  <a:lnTo>
                    <a:pt x="0" y="26689"/>
                  </a:lnTo>
                  <a:lnTo>
                    <a:pt x="55736" y="31100"/>
                  </a:lnTo>
                  <a:lnTo>
                    <a:pt x="110026" y="34433"/>
                  </a:lnTo>
                  <a:lnTo>
                    <a:pt x="163035" y="36782"/>
                  </a:lnTo>
                  <a:lnTo>
                    <a:pt x="214927" y="38238"/>
                  </a:lnTo>
                  <a:lnTo>
                    <a:pt x="265865" y="38897"/>
                  </a:lnTo>
                  <a:lnTo>
                    <a:pt x="316015" y="38852"/>
                  </a:lnTo>
                  <a:lnTo>
                    <a:pt x="365540" y="38197"/>
                  </a:lnTo>
                  <a:lnTo>
                    <a:pt x="414605" y="37024"/>
                  </a:lnTo>
                  <a:lnTo>
                    <a:pt x="463374" y="35429"/>
                  </a:lnTo>
                  <a:lnTo>
                    <a:pt x="512011" y="33504"/>
                  </a:lnTo>
                  <a:lnTo>
                    <a:pt x="658774" y="26689"/>
                  </a:lnTo>
                  <a:lnTo>
                    <a:pt x="713354" y="28412"/>
                  </a:lnTo>
                  <a:lnTo>
                    <a:pt x="765428" y="30824"/>
                  </a:lnTo>
                  <a:lnTo>
                    <a:pt x="815503" y="33660"/>
                  </a:lnTo>
                  <a:lnTo>
                    <a:pt x="911675" y="39535"/>
                  </a:lnTo>
                  <a:lnTo>
                    <a:pt x="958785" y="42042"/>
                  </a:lnTo>
                  <a:lnTo>
                    <a:pt x="1005916" y="43907"/>
                  </a:lnTo>
                  <a:lnTo>
                    <a:pt x="1053576" y="44863"/>
                  </a:lnTo>
                  <a:lnTo>
                    <a:pt x="1102270" y="44644"/>
                  </a:lnTo>
                  <a:lnTo>
                    <a:pt x="1152504" y="42983"/>
                  </a:lnTo>
                  <a:lnTo>
                    <a:pt x="1204782" y="39614"/>
                  </a:lnTo>
                  <a:lnTo>
                    <a:pt x="1259612" y="34272"/>
                  </a:lnTo>
                  <a:lnTo>
                    <a:pt x="1317498" y="26689"/>
                  </a:lnTo>
                  <a:lnTo>
                    <a:pt x="1378272" y="21061"/>
                  </a:lnTo>
                  <a:lnTo>
                    <a:pt x="1434252" y="17481"/>
                  </a:lnTo>
                  <a:lnTo>
                    <a:pt x="1486384" y="15642"/>
                  </a:lnTo>
                  <a:lnTo>
                    <a:pt x="1535617" y="15235"/>
                  </a:lnTo>
                  <a:lnTo>
                    <a:pt x="1582899" y="15954"/>
                  </a:lnTo>
                  <a:lnTo>
                    <a:pt x="1629178" y="17491"/>
                  </a:lnTo>
                  <a:lnTo>
                    <a:pt x="1771478" y="23937"/>
                  </a:lnTo>
                  <a:lnTo>
                    <a:pt x="1823226" y="25672"/>
                  </a:lnTo>
                  <a:lnTo>
                    <a:pt x="1878711" y="26689"/>
                  </a:lnTo>
                  <a:lnTo>
                    <a:pt x="1931968" y="23912"/>
                  </a:lnTo>
                  <a:lnTo>
                    <a:pt x="1981100" y="22190"/>
                  </a:lnTo>
                  <a:lnTo>
                    <a:pt x="2027331" y="21357"/>
                  </a:lnTo>
                  <a:lnTo>
                    <a:pt x="2071888" y="21246"/>
                  </a:lnTo>
                  <a:lnTo>
                    <a:pt x="2115997" y="21691"/>
                  </a:lnTo>
                  <a:lnTo>
                    <a:pt x="2312483" y="25689"/>
                  </a:lnTo>
                  <a:lnTo>
                    <a:pt x="2372748" y="26411"/>
                  </a:lnTo>
                  <a:lnTo>
                    <a:pt x="2439924" y="26689"/>
                  </a:lnTo>
                  <a:lnTo>
                    <a:pt x="2439670" y="21736"/>
                  </a:lnTo>
                  <a:lnTo>
                    <a:pt x="2439924" y="12973"/>
                  </a:lnTo>
                  <a:lnTo>
                    <a:pt x="2368149" y="9876"/>
                  </a:lnTo>
                  <a:lnTo>
                    <a:pt x="2302272" y="7669"/>
                  </a:lnTo>
                  <a:lnTo>
                    <a:pt x="2241643" y="6251"/>
                  </a:lnTo>
                  <a:lnTo>
                    <a:pt x="2185614" y="5518"/>
                  </a:lnTo>
                  <a:lnTo>
                    <a:pt x="2133534" y="5370"/>
                  </a:lnTo>
                  <a:lnTo>
                    <a:pt x="2084755" y="5704"/>
                  </a:lnTo>
                  <a:lnTo>
                    <a:pt x="2038627" y="6417"/>
                  </a:lnTo>
                  <a:lnTo>
                    <a:pt x="1994501" y="7409"/>
                  </a:lnTo>
                  <a:lnTo>
                    <a:pt x="1825030" y="12119"/>
                  </a:lnTo>
                  <a:lnTo>
                    <a:pt x="1781175" y="12973"/>
                  </a:lnTo>
                  <a:lnTo>
                    <a:pt x="1738008" y="6413"/>
                  </a:lnTo>
                  <a:lnTo>
                    <a:pt x="1693563" y="2313"/>
                  </a:lnTo>
                  <a:lnTo>
                    <a:pt x="1647848" y="299"/>
                  </a:lnTo>
                  <a:lnTo>
                    <a:pt x="160087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3514" y="1913998"/>
              <a:ext cx="2440305" cy="54610"/>
            </a:xfrm>
            <a:custGeom>
              <a:avLst/>
              <a:gdLst/>
              <a:ahLst/>
              <a:cxnLst/>
              <a:rect l="l" t="t" r="r" b="b"/>
              <a:pathLst>
                <a:path w="2440305" h="54610">
                  <a:moveTo>
                    <a:pt x="355" y="17671"/>
                  </a:moveTo>
                  <a:lnTo>
                    <a:pt x="66474" y="16379"/>
                  </a:lnTo>
                  <a:lnTo>
                    <a:pt x="125544" y="15722"/>
                  </a:lnTo>
                  <a:lnTo>
                    <a:pt x="178733" y="15582"/>
                  </a:lnTo>
                  <a:lnTo>
                    <a:pt x="227213" y="15837"/>
                  </a:lnTo>
                  <a:lnTo>
                    <a:pt x="272154" y="16367"/>
                  </a:lnTo>
                  <a:lnTo>
                    <a:pt x="314726" y="17052"/>
                  </a:lnTo>
                  <a:lnTo>
                    <a:pt x="356099" y="17772"/>
                  </a:lnTo>
                  <a:lnTo>
                    <a:pt x="397444" y="18405"/>
                  </a:lnTo>
                  <a:lnTo>
                    <a:pt x="439930" y="18832"/>
                  </a:lnTo>
                  <a:lnTo>
                    <a:pt x="484728" y="18933"/>
                  </a:lnTo>
                  <a:lnTo>
                    <a:pt x="533007" y="18586"/>
                  </a:lnTo>
                  <a:lnTo>
                    <a:pt x="585939" y="17671"/>
                  </a:lnTo>
                  <a:lnTo>
                    <a:pt x="645867" y="14882"/>
                  </a:lnTo>
                  <a:lnTo>
                    <a:pt x="702787" y="11762"/>
                  </a:lnTo>
                  <a:lnTo>
                    <a:pt x="757105" y="8563"/>
                  </a:lnTo>
                  <a:lnTo>
                    <a:pt x="809228" y="5536"/>
                  </a:lnTo>
                  <a:lnTo>
                    <a:pt x="859563" y="2932"/>
                  </a:lnTo>
                  <a:lnTo>
                    <a:pt x="908515" y="1003"/>
                  </a:lnTo>
                  <a:lnTo>
                    <a:pt x="956490" y="0"/>
                  </a:lnTo>
                  <a:lnTo>
                    <a:pt x="1003895" y="174"/>
                  </a:lnTo>
                  <a:lnTo>
                    <a:pt x="1051135" y="1777"/>
                  </a:lnTo>
                  <a:lnTo>
                    <a:pt x="1098618" y="5060"/>
                  </a:lnTo>
                  <a:lnTo>
                    <a:pt x="1146748" y="10274"/>
                  </a:lnTo>
                  <a:lnTo>
                    <a:pt x="1195933" y="17671"/>
                  </a:lnTo>
                  <a:lnTo>
                    <a:pt x="1237291" y="20955"/>
                  </a:lnTo>
                  <a:lnTo>
                    <a:pt x="1280875" y="22681"/>
                  </a:lnTo>
                  <a:lnTo>
                    <a:pt x="1326533" y="23136"/>
                  </a:lnTo>
                  <a:lnTo>
                    <a:pt x="1374114" y="22610"/>
                  </a:lnTo>
                  <a:lnTo>
                    <a:pt x="1423468" y="21391"/>
                  </a:lnTo>
                  <a:lnTo>
                    <a:pt x="1474444" y="19767"/>
                  </a:lnTo>
                  <a:lnTo>
                    <a:pt x="1526891" y="18026"/>
                  </a:lnTo>
                  <a:lnTo>
                    <a:pt x="1580658" y="16458"/>
                  </a:lnTo>
                  <a:lnTo>
                    <a:pt x="1635595" y="15350"/>
                  </a:lnTo>
                  <a:lnTo>
                    <a:pt x="1691551" y="14990"/>
                  </a:lnTo>
                  <a:lnTo>
                    <a:pt x="1748374" y="15668"/>
                  </a:lnTo>
                  <a:lnTo>
                    <a:pt x="1805914" y="17671"/>
                  </a:lnTo>
                  <a:lnTo>
                    <a:pt x="1858589" y="17557"/>
                  </a:lnTo>
                  <a:lnTo>
                    <a:pt x="1911695" y="17151"/>
                  </a:lnTo>
                  <a:lnTo>
                    <a:pt x="1965113" y="16546"/>
                  </a:lnTo>
                  <a:lnTo>
                    <a:pt x="2018724" y="15837"/>
                  </a:lnTo>
                  <a:lnTo>
                    <a:pt x="2072409" y="15117"/>
                  </a:lnTo>
                  <a:lnTo>
                    <a:pt x="2126049" y="14481"/>
                  </a:lnTo>
                  <a:lnTo>
                    <a:pt x="2179526" y="14021"/>
                  </a:lnTo>
                  <a:lnTo>
                    <a:pt x="2232719" y="13833"/>
                  </a:lnTo>
                  <a:lnTo>
                    <a:pt x="2285510" y="14010"/>
                  </a:lnTo>
                  <a:lnTo>
                    <a:pt x="2337780" y="14646"/>
                  </a:lnTo>
                  <a:lnTo>
                    <a:pt x="2389409" y="15835"/>
                  </a:lnTo>
                  <a:lnTo>
                    <a:pt x="2440279" y="17671"/>
                  </a:lnTo>
                  <a:lnTo>
                    <a:pt x="2439898" y="21354"/>
                  </a:lnTo>
                  <a:lnTo>
                    <a:pt x="2439644" y="27069"/>
                  </a:lnTo>
                  <a:lnTo>
                    <a:pt x="2373343" y="38368"/>
                  </a:lnTo>
                  <a:lnTo>
                    <a:pt x="2312757" y="43964"/>
                  </a:lnTo>
                  <a:lnTo>
                    <a:pt x="2257494" y="48211"/>
                  </a:lnTo>
                  <a:lnTo>
                    <a:pt x="2206529" y="51143"/>
                  </a:lnTo>
                  <a:lnTo>
                    <a:pt x="2158833" y="52794"/>
                  </a:lnTo>
                  <a:lnTo>
                    <a:pt x="2113381" y="53200"/>
                  </a:lnTo>
                  <a:lnTo>
                    <a:pt x="2069146" y="52393"/>
                  </a:lnTo>
                  <a:lnTo>
                    <a:pt x="2025102" y="50409"/>
                  </a:lnTo>
                  <a:lnTo>
                    <a:pt x="1980222" y="47282"/>
                  </a:lnTo>
                  <a:lnTo>
                    <a:pt x="1933479" y="43047"/>
                  </a:lnTo>
                  <a:lnTo>
                    <a:pt x="1883846" y="37737"/>
                  </a:lnTo>
                  <a:lnTo>
                    <a:pt x="1830298" y="31387"/>
                  </a:lnTo>
                  <a:lnTo>
                    <a:pt x="1774447" y="28419"/>
                  </a:lnTo>
                  <a:lnTo>
                    <a:pt x="1723334" y="25519"/>
                  </a:lnTo>
                  <a:lnTo>
                    <a:pt x="1675701" y="22862"/>
                  </a:lnTo>
                  <a:lnTo>
                    <a:pt x="1630292" y="20623"/>
                  </a:lnTo>
                  <a:lnTo>
                    <a:pt x="1585850" y="18978"/>
                  </a:lnTo>
                  <a:lnTo>
                    <a:pt x="1541117" y="18103"/>
                  </a:lnTo>
                  <a:lnTo>
                    <a:pt x="1494835" y="18171"/>
                  </a:lnTo>
                  <a:lnTo>
                    <a:pt x="1445749" y="19358"/>
                  </a:lnTo>
                  <a:lnTo>
                    <a:pt x="1392600" y="21840"/>
                  </a:lnTo>
                  <a:lnTo>
                    <a:pt x="1334131" y="25791"/>
                  </a:lnTo>
                  <a:lnTo>
                    <a:pt x="1269085" y="31387"/>
                  </a:lnTo>
                  <a:lnTo>
                    <a:pt x="1203770" y="39972"/>
                  </a:lnTo>
                  <a:lnTo>
                    <a:pt x="1143526" y="46366"/>
                  </a:lnTo>
                  <a:lnTo>
                    <a:pt x="1087614" y="50727"/>
                  </a:lnTo>
                  <a:lnTo>
                    <a:pt x="1035299" y="53212"/>
                  </a:lnTo>
                  <a:lnTo>
                    <a:pt x="985844" y="53981"/>
                  </a:lnTo>
                  <a:lnTo>
                    <a:pt x="938513" y="53191"/>
                  </a:lnTo>
                  <a:lnTo>
                    <a:pt x="892570" y="51000"/>
                  </a:lnTo>
                  <a:lnTo>
                    <a:pt x="847276" y="47566"/>
                  </a:lnTo>
                  <a:lnTo>
                    <a:pt x="801897" y="43048"/>
                  </a:lnTo>
                  <a:lnTo>
                    <a:pt x="755696" y="37602"/>
                  </a:lnTo>
                  <a:lnTo>
                    <a:pt x="707936" y="31387"/>
                  </a:lnTo>
                  <a:lnTo>
                    <a:pt x="667916" y="33281"/>
                  </a:lnTo>
                  <a:lnTo>
                    <a:pt x="626813" y="35066"/>
                  </a:lnTo>
                  <a:lnTo>
                    <a:pt x="584494" y="36698"/>
                  </a:lnTo>
                  <a:lnTo>
                    <a:pt x="540824" y="38130"/>
                  </a:lnTo>
                  <a:lnTo>
                    <a:pt x="495669" y="39316"/>
                  </a:lnTo>
                  <a:lnTo>
                    <a:pt x="448896" y="40212"/>
                  </a:lnTo>
                  <a:lnTo>
                    <a:pt x="400370" y="40770"/>
                  </a:lnTo>
                  <a:lnTo>
                    <a:pt x="349957" y="40945"/>
                  </a:lnTo>
                  <a:lnTo>
                    <a:pt x="297524" y="40691"/>
                  </a:lnTo>
                  <a:lnTo>
                    <a:pt x="242936" y="39963"/>
                  </a:lnTo>
                  <a:lnTo>
                    <a:pt x="186059" y="38714"/>
                  </a:lnTo>
                  <a:lnTo>
                    <a:pt x="126759" y="36899"/>
                  </a:lnTo>
                  <a:lnTo>
                    <a:pt x="64903" y="34472"/>
                  </a:lnTo>
                  <a:lnTo>
                    <a:pt x="355" y="31387"/>
                  </a:lnTo>
                  <a:lnTo>
                    <a:pt x="0" y="25418"/>
                  </a:lnTo>
                  <a:lnTo>
                    <a:pt x="76" y="20338"/>
                  </a:lnTo>
                  <a:lnTo>
                    <a:pt x="355" y="17671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094" y="2099564"/>
            <a:ext cx="2101850" cy="9848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33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spc="-5" dirty="0">
                <a:latin typeface="Carlito"/>
                <a:cs typeface="Carlito"/>
              </a:rPr>
              <a:t>Exportamos </a:t>
            </a:r>
            <a:r>
              <a:rPr sz="1700" dirty="0">
                <a:latin typeface="Carlito"/>
                <a:cs typeface="Carlito"/>
              </a:rPr>
              <a:t>a</a:t>
            </a:r>
            <a:r>
              <a:rPr sz="1700" spc="-85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função  </a:t>
            </a:r>
            <a:r>
              <a:rPr sz="1700" b="1" spc="-5" dirty="0">
                <a:latin typeface="Carlito"/>
                <a:cs typeface="Carlito"/>
              </a:rPr>
              <a:t>InsertCustomer </a:t>
            </a:r>
            <a:r>
              <a:rPr sz="1700" b="1" dirty="0">
                <a:latin typeface="Carlito"/>
                <a:cs typeface="Carlito"/>
              </a:rPr>
              <a:t>, </a:t>
            </a:r>
            <a:r>
              <a:rPr sz="1700" dirty="0">
                <a:latin typeface="Carlito"/>
                <a:cs typeface="Carlito"/>
              </a:rPr>
              <a:t>pois  queremos </a:t>
            </a:r>
            <a:r>
              <a:rPr sz="1700" spc="-5" dirty="0">
                <a:latin typeface="Carlito"/>
                <a:cs typeface="Carlito"/>
              </a:rPr>
              <a:t>usar </a:t>
            </a:r>
            <a:r>
              <a:rPr sz="1700" dirty="0">
                <a:latin typeface="Carlito"/>
                <a:cs typeface="Carlito"/>
              </a:rPr>
              <a:t>ela no  nosso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index.js.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06851" y="923544"/>
            <a:ext cx="6045708" cy="29169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579577"/>
            <a:ext cx="2194560" cy="11366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sz="2600" dirty="0">
                <a:latin typeface="Carlito"/>
                <a:cs typeface="Carlito"/>
              </a:rPr>
              <a:t>CRUD </a:t>
            </a:r>
            <a:r>
              <a:rPr sz="2600" spc="-5" dirty="0">
                <a:latin typeface="Carlito"/>
                <a:cs typeface="Carlito"/>
              </a:rPr>
              <a:t>Node.js  </a:t>
            </a:r>
            <a:r>
              <a:rPr sz="2600" spc="-10" dirty="0">
                <a:latin typeface="Carlito"/>
                <a:cs typeface="Carlito"/>
              </a:rPr>
              <a:t>com Mysql </a:t>
            </a:r>
            <a:r>
              <a:rPr sz="2600" spc="-150" dirty="0"/>
              <a:t>–  </a:t>
            </a:r>
            <a:r>
              <a:rPr sz="2600" spc="-10" dirty="0">
                <a:latin typeface="Carlito"/>
                <a:cs typeface="Carlito"/>
              </a:rPr>
              <a:t>Update </a:t>
            </a:r>
            <a:r>
              <a:rPr sz="2600" dirty="0">
                <a:latin typeface="Carlito"/>
                <a:cs typeface="Carlito"/>
              </a:rPr>
              <a:t>e</a:t>
            </a:r>
            <a:r>
              <a:rPr sz="2600" spc="-15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Delete</a:t>
            </a:r>
            <a:endParaRPr sz="26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4464" y="1894948"/>
            <a:ext cx="2478405" cy="92710"/>
            <a:chOff x="464464" y="1894948"/>
            <a:chExt cx="2478405" cy="92710"/>
          </a:xfrm>
        </p:grpSpPr>
        <p:sp>
          <p:nvSpPr>
            <p:cNvPr id="4" name="object 4"/>
            <p:cNvSpPr/>
            <p:nvPr/>
          </p:nvSpPr>
          <p:spPr>
            <a:xfrm>
              <a:off x="483869" y="1918696"/>
              <a:ext cx="2440305" cy="45085"/>
            </a:xfrm>
            <a:custGeom>
              <a:avLst/>
              <a:gdLst/>
              <a:ahLst/>
              <a:cxnLst/>
              <a:rect l="l" t="t" r="r" b="b"/>
              <a:pathLst>
                <a:path w="2440305" h="45085">
                  <a:moveTo>
                    <a:pt x="1600870" y="0"/>
                  </a:moveTo>
                  <a:lnTo>
                    <a:pt x="1552636" y="1041"/>
                  </a:lnTo>
                  <a:lnTo>
                    <a:pt x="1503153" y="3052"/>
                  </a:lnTo>
                  <a:lnTo>
                    <a:pt x="1347287" y="11175"/>
                  </a:lnTo>
                  <a:lnTo>
                    <a:pt x="1292882" y="13337"/>
                  </a:lnTo>
                  <a:lnTo>
                    <a:pt x="1237266" y="14605"/>
                  </a:lnTo>
                  <a:lnTo>
                    <a:pt x="1180444" y="14608"/>
                  </a:lnTo>
                  <a:lnTo>
                    <a:pt x="1122426" y="12973"/>
                  </a:lnTo>
                  <a:lnTo>
                    <a:pt x="1058143" y="5991"/>
                  </a:lnTo>
                  <a:lnTo>
                    <a:pt x="997941" y="2631"/>
                  </a:lnTo>
                  <a:lnTo>
                    <a:pt x="941491" y="2152"/>
                  </a:lnTo>
                  <a:lnTo>
                    <a:pt x="888465" y="3811"/>
                  </a:lnTo>
                  <a:lnTo>
                    <a:pt x="838535" y="6867"/>
                  </a:lnTo>
                  <a:lnTo>
                    <a:pt x="746649" y="14199"/>
                  </a:lnTo>
                  <a:lnTo>
                    <a:pt x="704037" y="16992"/>
                  </a:lnTo>
                  <a:lnTo>
                    <a:pt x="663208" y="18213"/>
                  </a:lnTo>
                  <a:lnTo>
                    <a:pt x="623833" y="17120"/>
                  </a:lnTo>
                  <a:lnTo>
                    <a:pt x="585584" y="12973"/>
                  </a:lnTo>
                  <a:lnTo>
                    <a:pt x="548086" y="10322"/>
                  </a:lnTo>
                  <a:lnTo>
                    <a:pt x="507302" y="8201"/>
                  </a:lnTo>
                  <a:lnTo>
                    <a:pt x="463602" y="6597"/>
                  </a:lnTo>
                  <a:lnTo>
                    <a:pt x="417354" y="5494"/>
                  </a:lnTo>
                  <a:lnTo>
                    <a:pt x="368929" y="4877"/>
                  </a:lnTo>
                  <a:lnTo>
                    <a:pt x="318695" y="4733"/>
                  </a:lnTo>
                  <a:lnTo>
                    <a:pt x="267022" y="5047"/>
                  </a:lnTo>
                  <a:lnTo>
                    <a:pt x="214279" y="5804"/>
                  </a:lnTo>
                  <a:lnTo>
                    <a:pt x="160836" y="6990"/>
                  </a:lnTo>
                  <a:lnTo>
                    <a:pt x="107062" y="8589"/>
                  </a:lnTo>
                  <a:lnTo>
                    <a:pt x="53327" y="10588"/>
                  </a:lnTo>
                  <a:lnTo>
                    <a:pt x="0" y="12973"/>
                  </a:lnTo>
                  <a:lnTo>
                    <a:pt x="393" y="16021"/>
                  </a:lnTo>
                  <a:lnTo>
                    <a:pt x="0" y="26689"/>
                  </a:lnTo>
                  <a:lnTo>
                    <a:pt x="55736" y="31100"/>
                  </a:lnTo>
                  <a:lnTo>
                    <a:pt x="110026" y="34433"/>
                  </a:lnTo>
                  <a:lnTo>
                    <a:pt x="163035" y="36782"/>
                  </a:lnTo>
                  <a:lnTo>
                    <a:pt x="214927" y="38238"/>
                  </a:lnTo>
                  <a:lnTo>
                    <a:pt x="265865" y="38897"/>
                  </a:lnTo>
                  <a:lnTo>
                    <a:pt x="316015" y="38852"/>
                  </a:lnTo>
                  <a:lnTo>
                    <a:pt x="365540" y="38197"/>
                  </a:lnTo>
                  <a:lnTo>
                    <a:pt x="414605" y="37024"/>
                  </a:lnTo>
                  <a:lnTo>
                    <a:pt x="463374" y="35429"/>
                  </a:lnTo>
                  <a:lnTo>
                    <a:pt x="512011" y="33504"/>
                  </a:lnTo>
                  <a:lnTo>
                    <a:pt x="658774" y="26689"/>
                  </a:lnTo>
                  <a:lnTo>
                    <a:pt x="713354" y="28412"/>
                  </a:lnTo>
                  <a:lnTo>
                    <a:pt x="765428" y="30824"/>
                  </a:lnTo>
                  <a:lnTo>
                    <a:pt x="815503" y="33660"/>
                  </a:lnTo>
                  <a:lnTo>
                    <a:pt x="911675" y="39535"/>
                  </a:lnTo>
                  <a:lnTo>
                    <a:pt x="958785" y="42042"/>
                  </a:lnTo>
                  <a:lnTo>
                    <a:pt x="1005916" y="43907"/>
                  </a:lnTo>
                  <a:lnTo>
                    <a:pt x="1053576" y="44863"/>
                  </a:lnTo>
                  <a:lnTo>
                    <a:pt x="1102270" y="44644"/>
                  </a:lnTo>
                  <a:lnTo>
                    <a:pt x="1152504" y="42983"/>
                  </a:lnTo>
                  <a:lnTo>
                    <a:pt x="1204782" y="39614"/>
                  </a:lnTo>
                  <a:lnTo>
                    <a:pt x="1259612" y="34272"/>
                  </a:lnTo>
                  <a:lnTo>
                    <a:pt x="1317498" y="26689"/>
                  </a:lnTo>
                  <a:lnTo>
                    <a:pt x="1378272" y="21061"/>
                  </a:lnTo>
                  <a:lnTo>
                    <a:pt x="1434252" y="17481"/>
                  </a:lnTo>
                  <a:lnTo>
                    <a:pt x="1486384" y="15642"/>
                  </a:lnTo>
                  <a:lnTo>
                    <a:pt x="1535617" y="15235"/>
                  </a:lnTo>
                  <a:lnTo>
                    <a:pt x="1582899" y="15954"/>
                  </a:lnTo>
                  <a:lnTo>
                    <a:pt x="1629178" y="17491"/>
                  </a:lnTo>
                  <a:lnTo>
                    <a:pt x="1771478" y="23937"/>
                  </a:lnTo>
                  <a:lnTo>
                    <a:pt x="1823226" y="25672"/>
                  </a:lnTo>
                  <a:lnTo>
                    <a:pt x="1878711" y="26689"/>
                  </a:lnTo>
                  <a:lnTo>
                    <a:pt x="1931968" y="23912"/>
                  </a:lnTo>
                  <a:lnTo>
                    <a:pt x="1981100" y="22190"/>
                  </a:lnTo>
                  <a:lnTo>
                    <a:pt x="2027331" y="21357"/>
                  </a:lnTo>
                  <a:lnTo>
                    <a:pt x="2071888" y="21246"/>
                  </a:lnTo>
                  <a:lnTo>
                    <a:pt x="2115997" y="21691"/>
                  </a:lnTo>
                  <a:lnTo>
                    <a:pt x="2312483" y="25689"/>
                  </a:lnTo>
                  <a:lnTo>
                    <a:pt x="2372748" y="26411"/>
                  </a:lnTo>
                  <a:lnTo>
                    <a:pt x="2439924" y="26689"/>
                  </a:lnTo>
                  <a:lnTo>
                    <a:pt x="2439670" y="21736"/>
                  </a:lnTo>
                  <a:lnTo>
                    <a:pt x="2439924" y="12973"/>
                  </a:lnTo>
                  <a:lnTo>
                    <a:pt x="2368149" y="9876"/>
                  </a:lnTo>
                  <a:lnTo>
                    <a:pt x="2302272" y="7669"/>
                  </a:lnTo>
                  <a:lnTo>
                    <a:pt x="2241643" y="6251"/>
                  </a:lnTo>
                  <a:lnTo>
                    <a:pt x="2185614" y="5518"/>
                  </a:lnTo>
                  <a:lnTo>
                    <a:pt x="2133534" y="5370"/>
                  </a:lnTo>
                  <a:lnTo>
                    <a:pt x="2084755" y="5704"/>
                  </a:lnTo>
                  <a:lnTo>
                    <a:pt x="2038627" y="6417"/>
                  </a:lnTo>
                  <a:lnTo>
                    <a:pt x="1994501" y="7409"/>
                  </a:lnTo>
                  <a:lnTo>
                    <a:pt x="1825030" y="12119"/>
                  </a:lnTo>
                  <a:lnTo>
                    <a:pt x="1781175" y="12973"/>
                  </a:lnTo>
                  <a:lnTo>
                    <a:pt x="1738008" y="6413"/>
                  </a:lnTo>
                  <a:lnTo>
                    <a:pt x="1693563" y="2313"/>
                  </a:lnTo>
                  <a:lnTo>
                    <a:pt x="1647848" y="299"/>
                  </a:lnTo>
                  <a:lnTo>
                    <a:pt x="160087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3514" y="1913998"/>
              <a:ext cx="2440305" cy="54610"/>
            </a:xfrm>
            <a:custGeom>
              <a:avLst/>
              <a:gdLst/>
              <a:ahLst/>
              <a:cxnLst/>
              <a:rect l="l" t="t" r="r" b="b"/>
              <a:pathLst>
                <a:path w="2440305" h="54610">
                  <a:moveTo>
                    <a:pt x="355" y="17671"/>
                  </a:moveTo>
                  <a:lnTo>
                    <a:pt x="66474" y="16379"/>
                  </a:lnTo>
                  <a:lnTo>
                    <a:pt x="125544" y="15722"/>
                  </a:lnTo>
                  <a:lnTo>
                    <a:pt x="178733" y="15582"/>
                  </a:lnTo>
                  <a:lnTo>
                    <a:pt x="227213" y="15837"/>
                  </a:lnTo>
                  <a:lnTo>
                    <a:pt x="272154" y="16367"/>
                  </a:lnTo>
                  <a:lnTo>
                    <a:pt x="314726" y="17052"/>
                  </a:lnTo>
                  <a:lnTo>
                    <a:pt x="356099" y="17772"/>
                  </a:lnTo>
                  <a:lnTo>
                    <a:pt x="397444" y="18405"/>
                  </a:lnTo>
                  <a:lnTo>
                    <a:pt x="439930" y="18832"/>
                  </a:lnTo>
                  <a:lnTo>
                    <a:pt x="484728" y="18933"/>
                  </a:lnTo>
                  <a:lnTo>
                    <a:pt x="533007" y="18586"/>
                  </a:lnTo>
                  <a:lnTo>
                    <a:pt x="585939" y="17671"/>
                  </a:lnTo>
                  <a:lnTo>
                    <a:pt x="645867" y="14882"/>
                  </a:lnTo>
                  <a:lnTo>
                    <a:pt x="702787" y="11762"/>
                  </a:lnTo>
                  <a:lnTo>
                    <a:pt x="757105" y="8563"/>
                  </a:lnTo>
                  <a:lnTo>
                    <a:pt x="809228" y="5536"/>
                  </a:lnTo>
                  <a:lnTo>
                    <a:pt x="859563" y="2932"/>
                  </a:lnTo>
                  <a:lnTo>
                    <a:pt x="908515" y="1003"/>
                  </a:lnTo>
                  <a:lnTo>
                    <a:pt x="956490" y="0"/>
                  </a:lnTo>
                  <a:lnTo>
                    <a:pt x="1003895" y="174"/>
                  </a:lnTo>
                  <a:lnTo>
                    <a:pt x="1051135" y="1777"/>
                  </a:lnTo>
                  <a:lnTo>
                    <a:pt x="1098618" y="5060"/>
                  </a:lnTo>
                  <a:lnTo>
                    <a:pt x="1146748" y="10274"/>
                  </a:lnTo>
                  <a:lnTo>
                    <a:pt x="1195933" y="17671"/>
                  </a:lnTo>
                  <a:lnTo>
                    <a:pt x="1237291" y="20955"/>
                  </a:lnTo>
                  <a:lnTo>
                    <a:pt x="1280875" y="22681"/>
                  </a:lnTo>
                  <a:lnTo>
                    <a:pt x="1326533" y="23136"/>
                  </a:lnTo>
                  <a:lnTo>
                    <a:pt x="1374114" y="22610"/>
                  </a:lnTo>
                  <a:lnTo>
                    <a:pt x="1423468" y="21391"/>
                  </a:lnTo>
                  <a:lnTo>
                    <a:pt x="1474444" y="19767"/>
                  </a:lnTo>
                  <a:lnTo>
                    <a:pt x="1526891" y="18026"/>
                  </a:lnTo>
                  <a:lnTo>
                    <a:pt x="1580658" y="16458"/>
                  </a:lnTo>
                  <a:lnTo>
                    <a:pt x="1635595" y="15350"/>
                  </a:lnTo>
                  <a:lnTo>
                    <a:pt x="1691551" y="14990"/>
                  </a:lnTo>
                  <a:lnTo>
                    <a:pt x="1748374" y="15668"/>
                  </a:lnTo>
                  <a:lnTo>
                    <a:pt x="1805914" y="17671"/>
                  </a:lnTo>
                  <a:lnTo>
                    <a:pt x="1858589" y="17557"/>
                  </a:lnTo>
                  <a:lnTo>
                    <a:pt x="1911695" y="17151"/>
                  </a:lnTo>
                  <a:lnTo>
                    <a:pt x="1965113" y="16546"/>
                  </a:lnTo>
                  <a:lnTo>
                    <a:pt x="2018724" y="15837"/>
                  </a:lnTo>
                  <a:lnTo>
                    <a:pt x="2072409" y="15117"/>
                  </a:lnTo>
                  <a:lnTo>
                    <a:pt x="2126049" y="14481"/>
                  </a:lnTo>
                  <a:lnTo>
                    <a:pt x="2179526" y="14021"/>
                  </a:lnTo>
                  <a:lnTo>
                    <a:pt x="2232719" y="13833"/>
                  </a:lnTo>
                  <a:lnTo>
                    <a:pt x="2285510" y="14010"/>
                  </a:lnTo>
                  <a:lnTo>
                    <a:pt x="2337780" y="14646"/>
                  </a:lnTo>
                  <a:lnTo>
                    <a:pt x="2389409" y="15835"/>
                  </a:lnTo>
                  <a:lnTo>
                    <a:pt x="2440279" y="17671"/>
                  </a:lnTo>
                  <a:lnTo>
                    <a:pt x="2439898" y="21354"/>
                  </a:lnTo>
                  <a:lnTo>
                    <a:pt x="2439644" y="27069"/>
                  </a:lnTo>
                  <a:lnTo>
                    <a:pt x="2373343" y="38368"/>
                  </a:lnTo>
                  <a:lnTo>
                    <a:pt x="2312757" y="43964"/>
                  </a:lnTo>
                  <a:lnTo>
                    <a:pt x="2257494" y="48211"/>
                  </a:lnTo>
                  <a:lnTo>
                    <a:pt x="2206529" y="51143"/>
                  </a:lnTo>
                  <a:lnTo>
                    <a:pt x="2158833" y="52794"/>
                  </a:lnTo>
                  <a:lnTo>
                    <a:pt x="2113381" y="53200"/>
                  </a:lnTo>
                  <a:lnTo>
                    <a:pt x="2069146" y="52393"/>
                  </a:lnTo>
                  <a:lnTo>
                    <a:pt x="2025102" y="50409"/>
                  </a:lnTo>
                  <a:lnTo>
                    <a:pt x="1980222" y="47282"/>
                  </a:lnTo>
                  <a:lnTo>
                    <a:pt x="1933479" y="43047"/>
                  </a:lnTo>
                  <a:lnTo>
                    <a:pt x="1883846" y="37737"/>
                  </a:lnTo>
                  <a:lnTo>
                    <a:pt x="1830298" y="31387"/>
                  </a:lnTo>
                  <a:lnTo>
                    <a:pt x="1774447" y="28419"/>
                  </a:lnTo>
                  <a:lnTo>
                    <a:pt x="1723334" y="25519"/>
                  </a:lnTo>
                  <a:lnTo>
                    <a:pt x="1675701" y="22862"/>
                  </a:lnTo>
                  <a:lnTo>
                    <a:pt x="1630292" y="20623"/>
                  </a:lnTo>
                  <a:lnTo>
                    <a:pt x="1585850" y="18978"/>
                  </a:lnTo>
                  <a:lnTo>
                    <a:pt x="1541117" y="18103"/>
                  </a:lnTo>
                  <a:lnTo>
                    <a:pt x="1494835" y="18171"/>
                  </a:lnTo>
                  <a:lnTo>
                    <a:pt x="1445749" y="19358"/>
                  </a:lnTo>
                  <a:lnTo>
                    <a:pt x="1392600" y="21840"/>
                  </a:lnTo>
                  <a:lnTo>
                    <a:pt x="1334131" y="25791"/>
                  </a:lnTo>
                  <a:lnTo>
                    <a:pt x="1269085" y="31387"/>
                  </a:lnTo>
                  <a:lnTo>
                    <a:pt x="1203770" y="39972"/>
                  </a:lnTo>
                  <a:lnTo>
                    <a:pt x="1143526" y="46366"/>
                  </a:lnTo>
                  <a:lnTo>
                    <a:pt x="1087614" y="50727"/>
                  </a:lnTo>
                  <a:lnTo>
                    <a:pt x="1035299" y="53212"/>
                  </a:lnTo>
                  <a:lnTo>
                    <a:pt x="985844" y="53981"/>
                  </a:lnTo>
                  <a:lnTo>
                    <a:pt x="938513" y="53191"/>
                  </a:lnTo>
                  <a:lnTo>
                    <a:pt x="892570" y="51000"/>
                  </a:lnTo>
                  <a:lnTo>
                    <a:pt x="847276" y="47566"/>
                  </a:lnTo>
                  <a:lnTo>
                    <a:pt x="801897" y="43048"/>
                  </a:lnTo>
                  <a:lnTo>
                    <a:pt x="755696" y="37602"/>
                  </a:lnTo>
                  <a:lnTo>
                    <a:pt x="707936" y="31387"/>
                  </a:lnTo>
                  <a:lnTo>
                    <a:pt x="667916" y="33281"/>
                  </a:lnTo>
                  <a:lnTo>
                    <a:pt x="626813" y="35066"/>
                  </a:lnTo>
                  <a:lnTo>
                    <a:pt x="584494" y="36698"/>
                  </a:lnTo>
                  <a:lnTo>
                    <a:pt x="540824" y="38130"/>
                  </a:lnTo>
                  <a:lnTo>
                    <a:pt x="495669" y="39316"/>
                  </a:lnTo>
                  <a:lnTo>
                    <a:pt x="448896" y="40212"/>
                  </a:lnTo>
                  <a:lnTo>
                    <a:pt x="400370" y="40770"/>
                  </a:lnTo>
                  <a:lnTo>
                    <a:pt x="349957" y="40945"/>
                  </a:lnTo>
                  <a:lnTo>
                    <a:pt x="297524" y="40691"/>
                  </a:lnTo>
                  <a:lnTo>
                    <a:pt x="242936" y="39963"/>
                  </a:lnTo>
                  <a:lnTo>
                    <a:pt x="186059" y="38714"/>
                  </a:lnTo>
                  <a:lnTo>
                    <a:pt x="126759" y="36899"/>
                  </a:lnTo>
                  <a:lnTo>
                    <a:pt x="64903" y="34472"/>
                  </a:lnTo>
                  <a:lnTo>
                    <a:pt x="355" y="31387"/>
                  </a:lnTo>
                  <a:lnTo>
                    <a:pt x="0" y="25418"/>
                  </a:lnTo>
                  <a:lnTo>
                    <a:pt x="76" y="20338"/>
                  </a:lnTo>
                  <a:lnTo>
                    <a:pt x="355" y="17671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2094" y="2099564"/>
            <a:ext cx="2136140" cy="10610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66675">
              <a:lnSpc>
                <a:spcPts val="1839"/>
              </a:lnSpc>
              <a:spcBef>
                <a:spcPts val="33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dirty="0">
                <a:latin typeface="Carlito"/>
                <a:cs typeface="Carlito"/>
              </a:rPr>
              <a:t>Inserindo </a:t>
            </a:r>
            <a:r>
              <a:rPr sz="1700" spc="-5" dirty="0">
                <a:latin typeface="Carlito"/>
                <a:cs typeface="Carlito"/>
              </a:rPr>
              <a:t>clientes</a:t>
            </a:r>
            <a:r>
              <a:rPr sz="1700" spc="-12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no  </a:t>
            </a:r>
            <a:r>
              <a:rPr sz="1700" spc="-5" dirty="0">
                <a:latin typeface="Carlito"/>
                <a:cs typeface="Carlito"/>
              </a:rPr>
              <a:t>MySQL</a:t>
            </a:r>
            <a:endParaRPr sz="1700">
              <a:latin typeface="Carlito"/>
              <a:cs typeface="Carlito"/>
            </a:endParaRPr>
          </a:p>
          <a:p>
            <a:pPr marL="241300" indent="-228600">
              <a:lnSpc>
                <a:spcPts val="1939"/>
              </a:lnSpc>
              <a:spcBef>
                <a:spcPts val="36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700" spc="-20" dirty="0">
                <a:latin typeface="Carlito"/>
                <a:cs typeface="Carlito"/>
              </a:rPr>
              <a:t>Volte </a:t>
            </a:r>
            <a:r>
              <a:rPr sz="1700" dirty="0">
                <a:latin typeface="Carlito"/>
                <a:cs typeface="Carlito"/>
              </a:rPr>
              <a:t>ao </a:t>
            </a:r>
            <a:r>
              <a:rPr sz="1700" b="1" spc="-5" dirty="0">
                <a:latin typeface="Carlito"/>
                <a:cs typeface="Carlito"/>
              </a:rPr>
              <a:t>db.js </a:t>
            </a:r>
            <a:r>
              <a:rPr sz="1700" dirty="0">
                <a:latin typeface="Carlito"/>
                <a:cs typeface="Carlito"/>
              </a:rPr>
              <a:t>e</a:t>
            </a:r>
            <a:r>
              <a:rPr sz="1700" spc="-40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insira</a:t>
            </a:r>
            <a:endParaRPr sz="1700">
              <a:latin typeface="Carlito"/>
              <a:cs typeface="Carlito"/>
            </a:endParaRPr>
          </a:p>
          <a:p>
            <a:pPr marL="12700">
              <a:lnSpc>
                <a:spcPts val="1939"/>
              </a:lnSpc>
            </a:pPr>
            <a:r>
              <a:rPr sz="1700" dirty="0">
                <a:latin typeface="Carlito"/>
                <a:cs typeface="Carlito"/>
              </a:rPr>
              <a:t>uma </a:t>
            </a:r>
            <a:r>
              <a:rPr sz="1700" spc="-10" dirty="0">
                <a:latin typeface="Carlito"/>
                <a:cs typeface="Carlito"/>
              </a:rPr>
              <a:t>nova</a:t>
            </a:r>
            <a:r>
              <a:rPr sz="1700" spc="-45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função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42003" y="156970"/>
            <a:ext cx="5225796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286" y="579577"/>
            <a:ext cx="2194560" cy="11366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sz="2600" dirty="0">
                <a:latin typeface="Carlito"/>
                <a:cs typeface="Carlito"/>
              </a:rPr>
              <a:t>CRUD </a:t>
            </a:r>
            <a:r>
              <a:rPr sz="2600" spc="-5" dirty="0">
                <a:latin typeface="Carlito"/>
                <a:cs typeface="Carlito"/>
              </a:rPr>
              <a:t>Node.js  </a:t>
            </a:r>
            <a:r>
              <a:rPr sz="2600" spc="-10" dirty="0">
                <a:latin typeface="Carlito"/>
                <a:cs typeface="Carlito"/>
              </a:rPr>
              <a:t>com Mysql </a:t>
            </a:r>
            <a:r>
              <a:rPr sz="2600" spc="-150" dirty="0"/>
              <a:t>–  </a:t>
            </a:r>
            <a:r>
              <a:rPr sz="2600" spc="-10" dirty="0">
                <a:latin typeface="Carlito"/>
                <a:cs typeface="Carlito"/>
              </a:rPr>
              <a:t>Update </a:t>
            </a:r>
            <a:r>
              <a:rPr sz="2600" dirty="0">
                <a:latin typeface="Carlito"/>
                <a:cs typeface="Carlito"/>
              </a:rPr>
              <a:t>e</a:t>
            </a:r>
            <a:r>
              <a:rPr sz="2600" spc="-15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Delete</a:t>
            </a:r>
            <a:endParaRPr sz="26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64464" y="833627"/>
            <a:ext cx="8588375" cy="3548379"/>
            <a:chOff x="464464" y="833627"/>
            <a:chExt cx="8588375" cy="3548379"/>
          </a:xfrm>
        </p:grpSpPr>
        <p:sp>
          <p:nvSpPr>
            <p:cNvPr id="4" name="object 4"/>
            <p:cNvSpPr/>
            <p:nvPr/>
          </p:nvSpPr>
          <p:spPr>
            <a:xfrm>
              <a:off x="483869" y="1918696"/>
              <a:ext cx="2440305" cy="45085"/>
            </a:xfrm>
            <a:custGeom>
              <a:avLst/>
              <a:gdLst/>
              <a:ahLst/>
              <a:cxnLst/>
              <a:rect l="l" t="t" r="r" b="b"/>
              <a:pathLst>
                <a:path w="2440305" h="45085">
                  <a:moveTo>
                    <a:pt x="1600870" y="0"/>
                  </a:moveTo>
                  <a:lnTo>
                    <a:pt x="1552636" y="1041"/>
                  </a:lnTo>
                  <a:lnTo>
                    <a:pt x="1503153" y="3052"/>
                  </a:lnTo>
                  <a:lnTo>
                    <a:pt x="1347287" y="11175"/>
                  </a:lnTo>
                  <a:lnTo>
                    <a:pt x="1292882" y="13337"/>
                  </a:lnTo>
                  <a:lnTo>
                    <a:pt x="1237266" y="14605"/>
                  </a:lnTo>
                  <a:lnTo>
                    <a:pt x="1180444" y="14608"/>
                  </a:lnTo>
                  <a:lnTo>
                    <a:pt x="1122426" y="12973"/>
                  </a:lnTo>
                  <a:lnTo>
                    <a:pt x="1058143" y="5991"/>
                  </a:lnTo>
                  <a:lnTo>
                    <a:pt x="997941" y="2631"/>
                  </a:lnTo>
                  <a:lnTo>
                    <a:pt x="941491" y="2152"/>
                  </a:lnTo>
                  <a:lnTo>
                    <a:pt x="888465" y="3811"/>
                  </a:lnTo>
                  <a:lnTo>
                    <a:pt x="838535" y="6867"/>
                  </a:lnTo>
                  <a:lnTo>
                    <a:pt x="746649" y="14199"/>
                  </a:lnTo>
                  <a:lnTo>
                    <a:pt x="704037" y="16992"/>
                  </a:lnTo>
                  <a:lnTo>
                    <a:pt x="663208" y="18213"/>
                  </a:lnTo>
                  <a:lnTo>
                    <a:pt x="623833" y="17120"/>
                  </a:lnTo>
                  <a:lnTo>
                    <a:pt x="585584" y="12973"/>
                  </a:lnTo>
                  <a:lnTo>
                    <a:pt x="548086" y="10322"/>
                  </a:lnTo>
                  <a:lnTo>
                    <a:pt x="507302" y="8201"/>
                  </a:lnTo>
                  <a:lnTo>
                    <a:pt x="463602" y="6597"/>
                  </a:lnTo>
                  <a:lnTo>
                    <a:pt x="417354" y="5494"/>
                  </a:lnTo>
                  <a:lnTo>
                    <a:pt x="368929" y="4877"/>
                  </a:lnTo>
                  <a:lnTo>
                    <a:pt x="318695" y="4733"/>
                  </a:lnTo>
                  <a:lnTo>
                    <a:pt x="267022" y="5047"/>
                  </a:lnTo>
                  <a:lnTo>
                    <a:pt x="214279" y="5804"/>
                  </a:lnTo>
                  <a:lnTo>
                    <a:pt x="160836" y="6990"/>
                  </a:lnTo>
                  <a:lnTo>
                    <a:pt x="107062" y="8589"/>
                  </a:lnTo>
                  <a:lnTo>
                    <a:pt x="53327" y="10588"/>
                  </a:lnTo>
                  <a:lnTo>
                    <a:pt x="0" y="12973"/>
                  </a:lnTo>
                  <a:lnTo>
                    <a:pt x="393" y="16021"/>
                  </a:lnTo>
                  <a:lnTo>
                    <a:pt x="0" y="26689"/>
                  </a:lnTo>
                  <a:lnTo>
                    <a:pt x="55736" y="31100"/>
                  </a:lnTo>
                  <a:lnTo>
                    <a:pt x="110026" y="34433"/>
                  </a:lnTo>
                  <a:lnTo>
                    <a:pt x="163035" y="36782"/>
                  </a:lnTo>
                  <a:lnTo>
                    <a:pt x="214927" y="38238"/>
                  </a:lnTo>
                  <a:lnTo>
                    <a:pt x="265865" y="38897"/>
                  </a:lnTo>
                  <a:lnTo>
                    <a:pt x="316015" y="38852"/>
                  </a:lnTo>
                  <a:lnTo>
                    <a:pt x="365540" y="38197"/>
                  </a:lnTo>
                  <a:lnTo>
                    <a:pt x="414605" y="37024"/>
                  </a:lnTo>
                  <a:lnTo>
                    <a:pt x="463374" y="35429"/>
                  </a:lnTo>
                  <a:lnTo>
                    <a:pt x="512011" y="33504"/>
                  </a:lnTo>
                  <a:lnTo>
                    <a:pt x="658774" y="26689"/>
                  </a:lnTo>
                  <a:lnTo>
                    <a:pt x="713354" y="28412"/>
                  </a:lnTo>
                  <a:lnTo>
                    <a:pt x="765428" y="30824"/>
                  </a:lnTo>
                  <a:lnTo>
                    <a:pt x="815503" y="33660"/>
                  </a:lnTo>
                  <a:lnTo>
                    <a:pt x="911675" y="39535"/>
                  </a:lnTo>
                  <a:lnTo>
                    <a:pt x="958785" y="42042"/>
                  </a:lnTo>
                  <a:lnTo>
                    <a:pt x="1005916" y="43907"/>
                  </a:lnTo>
                  <a:lnTo>
                    <a:pt x="1053576" y="44863"/>
                  </a:lnTo>
                  <a:lnTo>
                    <a:pt x="1102270" y="44644"/>
                  </a:lnTo>
                  <a:lnTo>
                    <a:pt x="1152504" y="42983"/>
                  </a:lnTo>
                  <a:lnTo>
                    <a:pt x="1204782" y="39614"/>
                  </a:lnTo>
                  <a:lnTo>
                    <a:pt x="1259612" y="34272"/>
                  </a:lnTo>
                  <a:lnTo>
                    <a:pt x="1317498" y="26689"/>
                  </a:lnTo>
                  <a:lnTo>
                    <a:pt x="1378272" y="21061"/>
                  </a:lnTo>
                  <a:lnTo>
                    <a:pt x="1434252" y="17481"/>
                  </a:lnTo>
                  <a:lnTo>
                    <a:pt x="1486384" y="15642"/>
                  </a:lnTo>
                  <a:lnTo>
                    <a:pt x="1535617" y="15235"/>
                  </a:lnTo>
                  <a:lnTo>
                    <a:pt x="1582899" y="15954"/>
                  </a:lnTo>
                  <a:lnTo>
                    <a:pt x="1629178" y="17491"/>
                  </a:lnTo>
                  <a:lnTo>
                    <a:pt x="1771478" y="23937"/>
                  </a:lnTo>
                  <a:lnTo>
                    <a:pt x="1823226" y="25672"/>
                  </a:lnTo>
                  <a:lnTo>
                    <a:pt x="1878711" y="26689"/>
                  </a:lnTo>
                  <a:lnTo>
                    <a:pt x="1931968" y="23912"/>
                  </a:lnTo>
                  <a:lnTo>
                    <a:pt x="1981100" y="22190"/>
                  </a:lnTo>
                  <a:lnTo>
                    <a:pt x="2027331" y="21357"/>
                  </a:lnTo>
                  <a:lnTo>
                    <a:pt x="2071888" y="21246"/>
                  </a:lnTo>
                  <a:lnTo>
                    <a:pt x="2115997" y="21691"/>
                  </a:lnTo>
                  <a:lnTo>
                    <a:pt x="2312483" y="25689"/>
                  </a:lnTo>
                  <a:lnTo>
                    <a:pt x="2372748" y="26411"/>
                  </a:lnTo>
                  <a:lnTo>
                    <a:pt x="2439924" y="26689"/>
                  </a:lnTo>
                  <a:lnTo>
                    <a:pt x="2439670" y="21736"/>
                  </a:lnTo>
                  <a:lnTo>
                    <a:pt x="2439924" y="12973"/>
                  </a:lnTo>
                  <a:lnTo>
                    <a:pt x="2368149" y="9876"/>
                  </a:lnTo>
                  <a:lnTo>
                    <a:pt x="2302272" y="7669"/>
                  </a:lnTo>
                  <a:lnTo>
                    <a:pt x="2241643" y="6251"/>
                  </a:lnTo>
                  <a:lnTo>
                    <a:pt x="2185614" y="5518"/>
                  </a:lnTo>
                  <a:lnTo>
                    <a:pt x="2133534" y="5370"/>
                  </a:lnTo>
                  <a:lnTo>
                    <a:pt x="2084755" y="5704"/>
                  </a:lnTo>
                  <a:lnTo>
                    <a:pt x="2038627" y="6417"/>
                  </a:lnTo>
                  <a:lnTo>
                    <a:pt x="1994501" y="7409"/>
                  </a:lnTo>
                  <a:lnTo>
                    <a:pt x="1825030" y="12119"/>
                  </a:lnTo>
                  <a:lnTo>
                    <a:pt x="1781175" y="12973"/>
                  </a:lnTo>
                  <a:lnTo>
                    <a:pt x="1738008" y="6413"/>
                  </a:lnTo>
                  <a:lnTo>
                    <a:pt x="1693563" y="2313"/>
                  </a:lnTo>
                  <a:lnTo>
                    <a:pt x="1647848" y="299"/>
                  </a:lnTo>
                  <a:lnTo>
                    <a:pt x="160087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3514" y="1913997"/>
              <a:ext cx="2440305" cy="54610"/>
            </a:xfrm>
            <a:custGeom>
              <a:avLst/>
              <a:gdLst/>
              <a:ahLst/>
              <a:cxnLst/>
              <a:rect l="l" t="t" r="r" b="b"/>
              <a:pathLst>
                <a:path w="2440305" h="54610">
                  <a:moveTo>
                    <a:pt x="355" y="17671"/>
                  </a:moveTo>
                  <a:lnTo>
                    <a:pt x="66474" y="16379"/>
                  </a:lnTo>
                  <a:lnTo>
                    <a:pt x="125544" y="15722"/>
                  </a:lnTo>
                  <a:lnTo>
                    <a:pt x="178733" y="15582"/>
                  </a:lnTo>
                  <a:lnTo>
                    <a:pt x="227213" y="15837"/>
                  </a:lnTo>
                  <a:lnTo>
                    <a:pt x="272154" y="16367"/>
                  </a:lnTo>
                  <a:lnTo>
                    <a:pt x="314726" y="17052"/>
                  </a:lnTo>
                  <a:lnTo>
                    <a:pt x="356099" y="17772"/>
                  </a:lnTo>
                  <a:lnTo>
                    <a:pt x="397444" y="18405"/>
                  </a:lnTo>
                  <a:lnTo>
                    <a:pt x="439930" y="18832"/>
                  </a:lnTo>
                  <a:lnTo>
                    <a:pt x="484728" y="18933"/>
                  </a:lnTo>
                  <a:lnTo>
                    <a:pt x="533007" y="18586"/>
                  </a:lnTo>
                  <a:lnTo>
                    <a:pt x="585939" y="17671"/>
                  </a:lnTo>
                  <a:lnTo>
                    <a:pt x="645867" y="14882"/>
                  </a:lnTo>
                  <a:lnTo>
                    <a:pt x="702787" y="11762"/>
                  </a:lnTo>
                  <a:lnTo>
                    <a:pt x="757105" y="8563"/>
                  </a:lnTo>
                  <a:lnTo>
                    <a:pt x="809228" y="5536"/>
                  </a:lnTo>
                  <a:lnTo>
                    <a:pt x="859563" y="2932"/>
                  </a:lnTo>
                  <a:lnTo>
                    <a:pt x="908515" y="1003"/>
                  </a:lnTo>
                  <a:lnTo>
                    <a:pt x="956490" y="0"/>
                  </a:lnTo>
                  <a:lnTo>
                    <a:pt x="1003895" y="174"/>
                  </a:lnTo>
                  <a:lnTo>
                    <a:pt x="1051135" y="1777"/>
                  </a:lnTo>
                  <a:lnTo>
                    <a:pt x="1098618" y="5060"/>
                  </a:lnTo>
                  <a:lnTo>
                    <a:pt x="1146748" y="10274"/>
                  </a:lnTo>
                  <a:lnTo>
                    <a:pt x="1195933" y="17671"/>
                  </a:lnTo>
                  <a:lnTo>
                    <a:pt x="1237291" y="20955"/>
                  </a:lnTo>
                  <a:lnTo>
                    <a:pt x="1280875" y="22681"/>
                  </a:lnTo>
                  <a:lnTo>
                    <a:pt x="1326533" y="23136"/>
                  </a:lnTo>
                  <a:lnTo>
                    <a:pt x="1374114" y="22610"/>
                  </a:lnTo>
                  <a:lnTo>
                    <a:pt x="1423468" y="21391"/>
                  </a:lnTo>
                  <a:lnTo>
                    <a:pt x="1474444" y="19767"/>
                  </a:lnTo>
                  <a:lnTo>
                    <a:pt x="1526891" y="18026"/>
                  </a:lnTo>
                  <a:lnTo>
                    <a:pt x="1580658" y="16458"/>
                  </a:lnTo>
                  <a:lnTo>
                    <a:pt x="1635595" y="15350"/>
                  </a:lnTo>
                  <a:lnTo>
                    <a:pt x="1691551" y="14990"/>
                  </a:lnTo>
                  <a:lnTo>
                    <a:pt x="1748374" y="15668"/>
                  </a:lnTo>
                  <a:lnTo>
                    <a:pt x="1805914" y="17671"/>
                  </a:lnTo>
                  <a:lnTo>
                    <a:pt x="1858589" y="17557"/>
                  </a:lnTo>
                  <a:lnTo>
                    <a:pt x="1911695" y="17151"/>
                  </a:lnTo>
                  <a:lnTo>
                    <a:pt x="1965113" y="16546"/>
                  </a:lnTo>
                  <a:lnTo>
                    <a:pt x="2018724" y="15837"/>
                  </a:lnTo>
                  <a:lnTo>
                    <a:pt x="2072409" y="15117"/>
                  </a:lnTo>
                  <a:lnTo>
                    <a:pt x="2126049" y="14481"/>
                  </a:lnTo>
                  <a:lnTo>
                    <a:pt x="2179526" y="14021"/>
                  </a:lnTo>
                  <a:lnTo>
                    <a:pt x="2232719" y="13833"/>
                  </a:lnTo>
                  <a:lnTo>
                    <a:pt x="2285510" y="14010"/>
                  </a:lnTo>
                  <a:lnTo>
                    <a:pt x="2337780" y="14646"/>
                  </a:lnTo>
                  <a:lnTo>
                    <a:pt x="2389409" y="15835"/>
                  </a:lnTo>
                  <a:lnTo>
                    <a:pt x="2440279" y="17671"/>
                  </a:lnTo>
                  <a:lnTo>
                    <a:pt x="2439898" y="21354"/>
                  </a:lnTo>
                  <a:lnTo>
                    <a:pt x="2439644" y="27069"/>
                  </a:lnTo>
                  <a:lnTo>
                    <a:pt x="2373343" y="38368"/>
                  </a:lnTo>
                  <a:lnTo>
                    <a:pt x="2312757" y="43964"/>
                  </a:lnTo>
                  <a:lnTo>
                    <a:pt x="2257494" y="48211"/>
                  </a:lnTo>
                  <a:lnTo>
                    <a:pt x="2206529" y="51143"/>
                  </a:lnTo>
                  <a:lnTo>
                    <a:pt x="2158833" y="52794"/>
                  </a:lnTo>
                  <a:lnTo>
                    <a:pt x="2113381" y="53200"/>
                  </a:lnTo>
                  <a:lnTo>
                    <a:pt x="2069146" y="52393"/>
                  </a:lnTo>
                  <a:lnTo>
                    <a:pt x="2025102" y="50409"/>
                  </a:lnTo>
                  <a:lnTo>
                    <a:pt x="1980222" y="47282"/>
                  </a:lnTo>
                  <a:lnTo>
                    <a:pt x="1933479" y="43047"/>
                  </a:lnTo>
                  <a:lnTo>
                    <a:pt x="1883846" y="37737"/>
                  </a:lnTo>
                  <a:lnTo>
                    <a:pt x="1830298" y="31387"/>
                  </a:lnTo>
                  <a:lnTo>
                    <a:pt x="1774447" y="28419"/>
                  </a:lnTo>
                  <a:lnTo>
                    <a:pt x="1723334" y="25519"/>
                  </a:lnTo>
                  <a:lnTo>
                    <a:pt x="1675701" y="22862"/>
                  </a:lnTo>
                  <a:lnTo>
                    <a:pt x="1630292" y="20623"/>
                  </a:lnTo>
                  <a:lnTo>
                    <a:pt x="1585850" y="18978"/>
                  </a:lnTo>
                  <a:lnTo>
                    <a:pt x="1541117" y="18103"/>
                  </a:lnTo>
                  <a:lnTo>
                    <a:pt x="1494835" y="18171"/>
                  </a:lnTo>
                  <a:lnTo>
                    <a:pt x="1445749" y="19358"/>
                  </a:lnTo>
                  <a:lnTo>
                    <a:pt x="1392600" y="21840"/>
                  </a:lnTo>
                  <a:lnTo>
                    <a:pt x="1334131" y="25791"/>
                  </a:lnTo>
                  <a:lnTo>
                    <a:pt x="1269085" y="31387"/>
                  </a:lnTo>
                  <a:lnTo>
                    <a:pt x="1203770" y="39972"/>
                  </a:lnTo>
                  <a:lnTo>
                    <a:pt x="1143526" y="46366"/>
                  </a:lnTo>
                  <a:lnTo>
                    <a:pt x="1087614" y="50727"/>
                  </a:lnTo>
                  <a:lnTo>
                    <a:pt x="1035299" y="53212"/>
                  </a:lnTo>
                  <a:lnTo>
                    <a:pt x="985844" y="53981"/>
                  </a:lnTo>
                  <a:lnTo>
                    <a:pt x="938513" y="53191"/>
                  </a:lnTo>
                  <a:lnTo>
                    <a:pt x="892570" y="51000"/>
                  </a:lnTo>
                  <a:lnTo>
                    <a:pt x="847276" y="47566"/>
                  </a:lnTo>
                  <a:lnTo>
                    <a:pt x="801897" y="43048"/>
                  </a:lnTo>
                  <a:lnTo>
                    <a:pt x="755696" y="37602"/>
                  </a:lnTo>
                  <a:lnTo>
                    <a:pt x="707936" y="31387"/>
                  </a:lnTo>
                  <a:lnTo>
                    <a:pt x="667916" y="33281"/>
                  </a:lnTo>
                  <a:lnTo>
                    <a:pt x="626813" y="35066"/>
                  </a:lnTo>
                  <a:lnTo>
                    <a:pt x="584494" y="36698"/>
                  </a:lnTo>
                  <a:lnTo>
                    <a:pt x="540824" y="38130"/>
                  </a:lnTo>
                  <a:lnTo>
                    <a:pt x="495669" y="39316"/>
                  </a:lnTo>
                  <a:lnTo>
                    <a:pt x="448896" y="40212"/>
                  </a:lnTo>
                  <a:lnTo>
                    <a:pt x="400370" y="40770"/>
                  </a:lnTo>
                  <a:lnTo>
                    <a:pt x="349957" y="40945"/>
                  </a:lnTo>
                  <a:lnTo>
                    <a:pt x="297524" y="40691"/>
                  </a:lnTo>
                  <a:lnTo>
                    <a:pt x="242936" y="39963"/>
                  </a:lnTo>
                  <a:lnTo>
                    <a:pt x="186059" y="38714"/>
                  </a:lnTo>
                  <a:lnTo>
                    <a:pt x="126759" y="36899"/>
                  </a:lnTo>
                  <a:lnTo>
                    <a:pt x="64903" y="34472"/>
                  </a:lnTo>
                  <a:lnTo>
                    <a:pt x="355" y="31387"/>
                  </a:lnTo>
                  <a:lnTo>
                    <a:pt x="0" y="25418"/>
                  </a:lnTo>
                  <a:lnTo>
                    <a:pt x="76" y="20338"/>
                  </a:lnTo>
                  <a:lnTo>
                    <a:pt x="355" y="17671"/>
                  </a:lnTo>
                  <a:close/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87040" y="833627"/>
              <a:ext cx="6065520" cy="35478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2094" y="2099564"/>
            <a:ext cx="2332990" cy="7518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ts val="1839"/>
              </a:lnSpc>
              <a:spcBef>
                <a:spcPts val="330"/>
              </a:spcBef>
              <a:buFont typeface="Arial"/>
              <a:buChar char="•"/>
              <a:tabLst>
                <a:tab pos="241300" algn="l"/>
              </a:tabLst>
            </a:pPr>
            <a:r>
              <a:rPr sz="1700" spc="-5" dirty="0">
                <a:latin typeface="Carlito"/>
                <a:cs typeface="Carlito"/>
              </a:rPr>
              <a:t>Exportamos </a:t>
            </a:r>
            <a:r>
              <a:rPr sz="1700" dirty="0">
                <a:latin typeface="Carlito"/>
                <a:cs typeface="Carlito"/>
              </a:rPr>
              <a:t>as</a:t>
            </a:r>
            <a:r>
              <a:rPr sz="1700" spc="-10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funções</a:t>
            </a:r>
            <a:r>
              <a:rPr sz="1700" b="1" dirty="0">
                <a:latin typeface="Carlito"/>
                <a:cs typeface="Carlito"/>
              </a:rPr>
              <a:t>,  </a:t>
            </a:r>
            <a:r>
              <a:rPr sz="1700" dirty="0">
                <a:latin typeface="Carlito"/>
                <a:cs typeface="Carlito"/>
              </a:rPr>
              <a:t>pois </a:t>
            </a:r>
            <a:r>
              <a:rPr sz="1700" spc="-5" dirty="0">
                <a:latin typeface="Carlito"/>
                <a:cs typeface="Carlito"/>
              </a:rPr>
              <a:t>queremos </a:t>
            </a:r>
            <a:r>
              <a:rPr sz="1700" dirty="0">
                <a:latin typeface="Carlito"/>
                <a:cs typeface="Carlito"/>
              </a:rPr>
              <a:t>usar ela</a:t>
            </a:r>
            <a:r>
              <a:rPr sz="1700" spc="-145" dirty="0">
                <a:latin typeface="Carlito"/>
                <a:cs typeface="Carlito"/>
              </a:rPr>
              <a:t> </a:t>
            </a:r>
            <a:r>
              <a:rPr sz="1700" dirty="0">
                <a:latin typeface="Carlito"/>
                <a:cs typeface="Carlito"/>
              </a:rPr>
              <a:t>no  nosso</a:t>
            </a:r>
            <a:r>
              <a:rPr sz="1700" spc="-30" dirty="0">
                <a:latin typeface="Carlito"/>
                <a:cs typeface="Carlito"/>
              </a:rPr>
              <a:t> </a:t>
            </a:r>
            <a:r>
              <a:rPr sz="1700" spc="-5" dirty="0">
                <a:latin typeface="Carlito"/>
                <a:cs typeface="Carlito"/>
              </a:rPr>
              <a:t>index.js.</a:t>
            </a:r>
            <a:endParaRPr sz="1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ão em um Tablet com sinais digitais">
            <a:extLst>
              <a:ext uri="{FF2B5EF4-FFF2-40B4-BE49-F238E27FC236}">
                <a16:creationId xmlns:a16="http://schemas.microsoft.com/office/drawing/2014/main" id="{69B130DA-873D-97CE-80E2-F77463E28A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67"/>
          <a:stretch/>
        </p:blipFill>
        <p:spPr>
          <a:xfrm>
            <a:off x="20" y="10"/>
            <a:ext cx="4587406" cy="51434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DDEA15-9A7E-5634-2D7C-44D61DB1F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5800" y="1749972"/>
            <a:ext cx="4648199" cy="28827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sz="2400" b="1" dirty="0"/>
              <a:t>CRUD Trabalhando com função passando parâmetro.</a:t>
            </a:r>
          </a:p>
        </p:txBody>
      </p:sp>
    </p:spTree>
    <p:extLst>
      <p:ext uri="{BB962C8B-B14F-4D97-AF65-F5344CB8AC3E}">
        <p14:creationId xmlns:p14="http://schemas.microsoft.com/office/powerpoint/2010/main" val="259887679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978B887-C5FF-5673-75F5-4166F7408BD0}"/>
              </a:ext>
            </a:extLst>
          </p:cNvPr>
          <p:cNvSpPr txBox="1"/>
          <p:nvPr/>
        </p:nvSpPr>
        <p:spPr>
          <a:xfrm>
            <a:off x="417399" y="482600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spc="-5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Função</a:t>
            </a:r>
            <a:r>
              <a:rPr lang="en-US" sz="2400" b="1" kern="1200" spc="-5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2400" b="1" kern="1200" spc="-5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incluir</a:t>
            </a:r>
            <a:r>
              <a:rPr lang="en-US" sz="2400" b="1" kern="1200" spc="-5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spc="-5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os</a:t>
            </a:r>
            <a:r>
              <a:rPr lang="en-US" sz="2400" b="1" kern="1200" spc="-5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dados de um </a:t>
            </a:r>
            <a:r>
              <a:rPr lang="en-US" sz="2400" b="1" kern="1200" spc="-5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cliente</a:t>
            </a:r>
            <a:endParaRPr lang="en-US" sz="24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1C26DD1-1438-372F-B88B-8109213F9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99" y="1200150"/>
            <a:ext cx="8237842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6049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AAF616E-D296-0F39-801B-ABAE1CAD3F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399" y="482600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rtl="0">
              <a:lnSpc>
                <a:spcPct val="90000"/>
              </a:lnSpc>
              <a:spcBef>
                <a:spcPct val="0"/>
              </a:spcBef>
            </a:pPr>
            <a:r>
              <a:rPr lang="en-US" sz="2400" kern="1200" spc="-5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Função para alterar os dados de um cliente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17308DA-F2C0-D697-CE11-1C150B40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58261"/>
            <a:ext cx="8178799" cy="329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446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AAF616E-D296-0F39-801B-ABAE1CAD3F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399" y="482600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rtl="0">
              <a:lnSpc>
                <a:spcPct val="90000"/>
              </a:lnSpc>
              <a:spcBef>
                <a:spcPct val="0"/>
              </a:spcBef>
            </a:pPr>
            <a:r>
              <a:rPr lang="en-US" sz="2400" kern="1200" spc="-5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Função para deletar um cliente</a:t>
            </a:r>
          </a:p>
        </p:txBody>
      </p:sp>
      <p:pic>
        <p:nvPicPr>
          <p:cNvPr id="3" name="Imagem 2" descr="Tela de computador com letras brancas em fundo preto&#10;&#10;Descrição gerada automaticamente">
            <a:extLst>
              <a:ext uri="{FF2B5EF4-FFF2-40B4-BE49-F238E27FC236}">
                <a16:creationId xmlns:a16="http://schemas.microsoft.com/office/drawing/2014/main" id="{9BD79702-342B-112F-8E3A-D83921DEB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8" y="1256420"/>
            <a:ext cx="7620002" cy="329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316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A201721-F869-5153-9D80-1B5371B467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399" y="482600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ctr" rtl="0">
              <a:lnSpc>
                <a:spcPct val="90000"/>
              </a:lnSpc>
              <a:spcBef>
                <a:spcPct val="0"/>
              </a:spcBef>
            </a:pPr>
            <a:r>
              <a:rPr lang="pt-BR" sz="2400" kern="1200" spc="-5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Função para consultar os dados de um cliente</a:t>
            </a:r>
            <a:endParaRPr lang="en-US" sz="2400" kern="1200" spc="-5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m 4" descr="Texto&#10;&#10;Descrição gerada automaticamente">
            <a:extLst>
              <a:ext uri="{FF2B5EF4-FFF2-40B4-BE49-F238E27FC236}">
                <a16:creationId xmlns:a16="http://schemas.microsoft.com/office/drawing/2014/main" id="{FED1FB34-1F7C-BD19-9A9A-25C7B56F5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40" y="1256420"/>
            <a:ext cx="7049518" cy="329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681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417DDE-249A-4E12-DD4C-A566C2A87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482600"/>
            <a:ext cx="8408193" cy="5586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Mostrar resultado das funções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B446C4-7755-D2E0-8A33-76A91CDA4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6" y="1962150"/>
            <a:ext cx="9036014" cy="187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89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CRUD com Node.js, </a:t>
            </a:r>
            <a:r>
              <a:rPr lang="pt-BR" spc="-5" dirty="0" err="1"/>
              <a:t>Sequelize</a:t>
            </a:r>
            <a:r>
              <a:rPr lang="pt-BR" spc="-5" dirty="0"/>
              <a:t> e MySQL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682828"/>
            <a:ext cx="8585835" cy="37324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lang="pt-BR" sz="2000" dirty="0">
                <a:solidFill>
                  <a:srgbClr val="FF0000"/>
                </a:solidFill>
                <a:latin typeface="Carlito"/>
                <a:cs typeface="Carlito"/>
              </a:rPr>
              <a:t>O </a:t>
            </a:r>
            <a:r>
              <a:rPr lang="pt-BR" sz="2000" dirty="0" err="1">
                <a:solidFill>
                  <a:srgbClr val="FF0000"/>
                </a:solidFill>
                <a:latin typeface="Carlito"/>
                <a:cs typeface="Carlito"/>
              </a:rPr>
              <a:t>Sequelize</a:t>
            </a:r>
            <a:r>
              <a:rPr lang="pt-BR" sz="2000" dirty="0">
                <a:solidFill>
                  <a:srgbClr val="FF0000"/>
                </a:solidFill>
                <a:latin typeface="Carlito"/>
                <a:cs typeface="Carlito"/>
              </a:rPr>
              <a:t> é um ORM </a:t>
            </a:r>
            <a:r>
              <a:rPr lang="pt-BR" sz="2000" dirty="0">
                <a:latin typeface="Carlito"/>
                <a:cs typeface="Carlito"/>
              </a:rPr>
              <a:t>(Mapeamento Objeto Relacional) </a:t>
            </a:r>
            <a:r>
              <a:rPr lang="pt-BR" sz="2000" dirty="0">
                <a:solidFill>
                  <a:srgbClr val="FF0000"/>
                </a:solidFill>
                <a:latin typeface="Carlito"/>
                <a:cs typeface="Carlito"/>
              </a:rPr>
              <a:t>para Node.js que oferece uma solução baseada em promessas para trabalhar com bancos de dados relacionais</a:t>
            </a:r>
            <a:r>
              <a:rPr lang="pt-BR" sz="2000" dirty="0">
                <a:latin typeface="Carlito"/>
                <a:cs typeface="Carlito"/>
              </a:rPr>
              <a:t>, como o MySQL, PostgreSQL, </a:t>
            </a:r>
            <a:r>
              <a:rPr lang="pt-BR" sz="2000" dirty="0" err="1">
                <a:latin typeface="Carlito"/>
                <a:cs typeface="Carlito"/>
              </a:rPr>
              <a:t>SQLite</a:t>
            </a:r>
            <a:r>
              <a:rPr lang="pt-BR" sz="2000" dirty="0">
                <a:latin typeface="Carlito"/>
                <a:cs typeface="Carlito"/>
              </a:rPr>
              <a:t>, Microsoft SQL Server e outros. </a:t>
            </a:r>
            <a:r>
              <a:rPr lang="pt-BR" sz="2000" dirty="0">
                <a:solidFill>
                  <a:srgbClr val="FF0000"/>
                </a:solidFill>
                <a:latin typeface="Carlito"/>
                <a:cs typeface="Carlito"/>
              </a:rPr>
              <a:t>Ele fornece uma maneira fácil e intuitiva de definir modelos, mapear tabelas de banco de dados para esses modelos e executar consultas no banco de dados usando esses modelos.</a:t>
            </a:r>
          </a:p>
          <a:p>
            <a:pPr marL="12700" algn="just">
              <a:lnSpc>
                <a:spcPct val="100000"/>
              </a:lnSpc>
              <a:spcBef>
                <a:spcPts val="105"/>
              </a:spcBef>
            </a:pPr>
            <a:endParaRPr lang="pt-BR" sz="2000" dirty="0">
              <a:latin typeface="Carlito"/>
              <a:cs typeface="Carlito"/>
            </a:endParaRPr>
          </a:p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lang="pt-BR" sz="2000" dirty="0">
                <a:latin typeface="Carlito"/>
                <a:cs typeface="Carlito"/>
              </a:rPr>
              <a:t>Com o </a:t>
            </a:r>
            <a:r>
              <a:rPr lang="pt-BR" sz="2000" dirty="0" err="1">
                <a:latin typeface="Carlito"/>
                <a:cs typeface="Carlito"/>
              </a:rPr>
              <a:t>Sequelize</a:t>
            </a:r>
            <a:r>
              <a:rPr lang="pt-BR" sz="2000" dirty="0">
                <a:latin typeface="Carlito"/>
                <a:cs typeface="Carlito"/>
              </a:rPr>
              <a:t>, você pode definir seus modelos usando classes </a:t>
            </a:r>
            <a:r>
              <a:rPr lang="pt-BR" sz="2000" dirty="0" err="1">
                <a:latin typeface="Carlito"/>
                <a:cs typeface="Carlito"/>
              </a:rPr>
              <a:t>JavaScript</a:t>
            </a:r>
            <a:r>
              <a:rPr lang="pt-BR" sz="2000" dirty="0">
                <a:latin typeface="Carlito"/>
                <a:cs typeface="Carlito"/>
              </a:rPr>
              <a:t> simples, que são mapeados automaticamente para tabelas de banco de dados. Ele também fornece recursos úteis, como validação de entrada, relacionamentos entre tabelas, transações e muitos outros recursos para trabalhar com bancos de dados relacionais de maneira eficiente e fácil.</a:t>
            </a:r>
            <a:endParaRPr sz="20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66411288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CRUD com Node.js, </a:t>
            </a:r>
            <a:r>
              <a:rPr lang="pt-BR" spc="-5" dirty="0" err="1"/>
              <a:t>Sequelize</a:t>
            </a:r>
            <a:r>
              <a:rPr lang="pt-BR" spc="-5" dirty="0"/>
              <a:t> e MySQL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54939" y="682828"/>
            <a:ext cx="8585835" cy="18985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lang="pt-BR" sz="2000" b="0" i="0" dirty="0">
                <a:solidFill>
                  <a:srgbClr val="374151"/>
                </a:solidFill>
                <a:effectLst/>
                <a:latin typeface="Söhne"/>
              </a:rPr>
              <a:t>Para conectar o </a:t>
            </a:r>
            <a:r>
              <a:rPr lang="pt-BR" sz="2000" b="0" i="0" dirty="0" err="1">
                <a:solidFill>
                  <a:srgbClr val="374151"/>
                </a:solidFill>
                <a:effectLst/>
                <a:latin typeface="Söhne"/>
              </a:rPr>
              <a:t>Sequelize</a:t>
            </a:r>
            <a:r>
              <a:rPr lang="pt-BR" sz="2000" b="0" i="0" dirty="0">
                <a:solidFill>
                  <a:srgbClr val="374151"/>
                </a:solidFill>
                <a:effectLst/>
                <a:latin typeface="Söhne"/>
              </a:rPr>
              <a:t> ao MySQL, você precisa instalar o pacote do </a:t>
            </a:r>
            <a:r>
              <a:rPr lang="pt-BR" sz="2000" b="0" i="0" dirty="0" err="1">
                <a:solidFill>
                  <a:srgbClr val="374151"/>
                </a:solidFill>
                <a:effectLst/>
                <a:latin typeface="Söhne"/>
              </a:rPr>
              <a:t>Sequelize</a:t>
            </a:r>
            <a:r>
              <a:rPr lang="pt-BR" sz="2000" b="0" i="0" dirty="0">
                <a:solidFill>
                  <a:srgbClr val="374151"/>
                </a:solidFill>
                <a:effectLst/>
                <a:latin typeface="Söhne"/>
              </a:rPr>
              <a:t> e do driver do MySQL. Você pode fazer isso executando os seguintes comandos no terminal:</a:t>
            </a:r>
          </a:p>
          <a:p>
            <a:pPr marL="469900" indent="-457200" algn="just">
              <a:lnSpc>
                <a:spcPct val="100000"/>
              </a:lnSpc>
              <a:spcBef>
                <a:spcPts val="105"/>
              </a:spcBef>
              <a:buAutoNum type="arabicParenR"/>
            </a:pPr>
            <a:r>
              <a:rPr lang="pt-BR" sz="2000" dirty="0">
                <a:solidFill>
                  <a:srgbClr val="374151"/>
                </a:solidFill>
                <a:latin typeface="Söhne"/>
              </a:rPr>
              <a:t>Criar uma pasta para o seu projeto;</a:t>
            </a:r>
          </a:p>
          <a:p>
            <a:pPr marL="469900" indent="-457200" algn="just">
              <a:lnSpc>
                <a:spcPct val="100000"/>
              </a:lnSpc>
              <a:spcBef>
                <a:spcPts val="105"/>
              </a:spcBef>
              <a:buAutoNum type="arabicParenR"/>
            </a:pPr>
            <a:r>
              <a:rPr lang="pt-BR" sz="2000" b="0" i="0" dirty="0">
                <a:solidFill>
                  <a:srgbClr val="374151"/>
                </a:solidFill>
                <a:effectLst/>
                <a:latin typeface="Söhne"/>
              </a:rPr>
              <a:t>Iniciar o projeto =&gt; </a:t>
            </a:r>
            <a:r>
              <a:rPr lang="pt-BR" sz="2000" b="1" i="0" dirty="0" err="1">
                <a:solidFill>
                  <a:srgbClr val="374151"/>
                </a:solidFill>
                <a:effectLst/>
                <a:latin typeface="Söhne"/>
              </a:rPr>
              <a:t>npm</a:t>
            </a:r>
            <a:r>
              <a:rPr lang="pt-BR" sz="20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sz="2000" b="1" i="0" dirty="0" err="1">
                <a:solidFill>
                  <a:srgbClr val="374151"/>
                </a:solidFill>
                <a:effectLst/>
                <a:latin typeface="Söhne"/>
              </a:rPr>
              <a:t>init</a:t>
            </a:r>
            <a:r>
              <a:rPr lang="pt-BR" sz="2000" b="0" i="0" dirty="0">
                <a:solidFill>
                  <a:srgbClr val="374151"/>
                </a:solidFill>
                <a:effectLst/>
                <a:latin typeface="Söhne"/>
              </a:rPr>
              <a:t>;  </a:t>
            </a:r>
          </a:p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lang="pt-BR" sz="2000" dirty="0">
                <a:solidFill>
                  <a:srgbClr val="374151"/>
                </a:solidFill>
                <a:latin typeface="Söhne"/>
                <a:cs typeface="Carlito"/>
              </a:rPr>
              <a:t>3)     </a:t>
            </a:r>
            <a:r>
              <a:rPr lang="en-US" sz="2000" b="1" dirty="0" err="1">
                <a:latin typeface="Carlito"/>
                <a:cs typeface="Carlito"/>
              </a:rPr>
              <a:t>npm</a:t>
            </a:r>
            <a:r>
              <a:rPr lang="en-US" sz="2000" b="1" dirty="0">
                <a:latin typeface="Carlito"/>
                <a:cs typeface="Carlito"/>
              </a:rPr>
              <a:t> install --save </a:t>
            </a:r>
            <a:r>
              <a:rPr lang="en-US" sz="2000" b="1" dirty="0" err="1">
                <a:latin typeface="Carlito"/>
                <a:cs typeface="Carlito"/>
              </a:rPr>
              <a:t>sequelize</a:t>
            </a:r>
            <a:r>
              <a:rPr lang="en-US" sz="2000" b="1" dirty="0">
                <a:latin typeface="Carlito"/>
                <a:cs typeface="Carlito"/>
              </a:rPr>
              <a:t> mysql2</a:t>
            </a:r>
            <a:endParaRPr sz="2000" b="1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84315199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CRUD com </a:t>
            </a:r>
            <a:r>
              <a:rPr lang="pt-BR" spc="-5" dirty="0" err="1"/>
              <a:t>Sequelize</a:t>
            </a:r>
            <a:r>
              <a:rPr lang="pt-BR" spc="-5" dirty="0"/>
              <a:t> e MySQL – Criar conexão</a:t>
            </a:r>
            <a:endParaRPr spc="-5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36E0F7B-94CA-3906-E02E-8E9FCBA8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61" y="590550"/>
            <a:ext cx="655253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4103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CRUD com </a:t>
            </a:r>
            <a:r>
              <a:rPr lang="pt-BR" spc="-5" dirty="0" err="1"/>
              <a:t>Sequelize</a:t>
            </a:r>
            <a:r>
              <a:rPr lang="pt-BR" spc="-5" dirty="0"/>
              <a:t> e MySQL – Criando Tabela</a:t>
            </a:r>
            <a:endParaRPr spc="-5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374CEE-C36F-1F28-7643-82F06BA8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497725"/>
            <a:ext cx="4495799" cy="464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7616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CRUD com </a:t>
            </a:r>
            <a:r>
              <a:rPr lang="pt-BR" spc="-5" dirty="0" err="1"/>
              <a:t>Sequelize</a:t>
            </a:r>
            <a:r>
              <a:rPr lang="pt-BR" spc="-5" dirty="0"/>
              <a:t> e MySQL – </a:t>
            </a:r>
            <a:r>
              <a:rPr lang="pt-BR" spc="-5" dirty="0" err="1"/>
              <a:t>Create</a:t>
            </a:r>
            <a:endParaRPr lang="pt-BR" spc="-5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16BFF38-DE55-E656-FC4E-F2417F30D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068" y="445494"/>
            <a:ext cx="4699863" cy="464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9135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CRUD com </a:t>
            </a:r>
            <a:r>
              <a:rPr lang="pt-BR" spc="-5" dirty="0" err="1"/>
              <a:t>Sequelize</a:t>
            </a:r>
            <a:r>
              <a:rPr lang="pt-BR" spc="-5" dirty="0"/>
              <a:t> e MySQL – </a:t>
            </a:r>
            <a:r>
              <a:rPr lang="pt-BR" spc="-5" dirty="0" err="1"/>
              <a:t>Read</a:t>
            </a:r>
            <a:endParaRPr lang="pt-BR" spc="-5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0B5F86E-1DF1-5CDE-ACA6-B161809C8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47750"/>
            <a:ext cx="8293228" cy="263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5880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A1EE122-D7B7-FCC5-DA48-E1C73F0A4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666750"/>
            <a:ext cx="5867400" cy="4325112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BF0A1A4A-08E7-5203-D591-29283F7449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CRUD com </a:t>
            </a:r>
            <a:r>
              <a:rPr lang="pt-BR" spc="-5" dirty="0" err="1"/>
              <a:t>Sequelize</a:t>
            </a:r>
            <a:r>
              <a:rPr lang="pt-BR" spc="-5" dirty="0"/>
              <a:t> e MySQL – Update</a:t>
            </a:r>
          </a:p>
        </p:txBody>
      </p:sp>
    </p:spTree>
    <p:extLst>
      <p:ext uri="{BB962C8B-B14F-4D97-AF65-F5344CB8AC3E}">
        <p14:creationId xmlns:p14="http://schemas.microsoft.com/office/powerpoint/2010/main" val="313964834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D6D7C5E3-4A0E-5EA8-2EF3-2EDAA7960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90"/>
            <a:ext cx="9144000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pc="-5" dirty="0"/>
              <a:t>CRUD com </a:t>
            </a:r>
            <a:r>
              <a:rPr lang="pt-BR" spc="-5" dirty="0" err="1"/>
              <a:t>Sequelize</a:t>
            </a:r>
            <a:r>
              <a:rPr lang="pt-BR" spc="-5" dirty="0"/>
              <a:t> e MySQL – Delete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C2B5E62-F552-6B77-42B6-B89C2A769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599" y="742950"/>
            <a:ext cx="6650802" cy="37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0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7EEA5AB83D49499D84A27CF07AB9D5" ma:contentTypeVersion="10" ma:contentTypeDescription="Create a new document." ma:contentTypeScope="" ma:versionID="dfc02e8f2cd17b7f9f847b62c554237a">
  <xsd:schema xmlns:xsd="http://www.w3.org/2001/XMLSchema" xmlns:xs="http://www.w3.org/2001/XMLSchema" xmlns:p="http://schemas.microsoft.com/office/2006/metadata/properties" xmlns:ns2="48e39b4d-49fe-43e3-a803-0b0014d83729" xmlns:ns3="859b4b8e-7b1d-49c1-8596-c2b95aab0e3c" targetNamespace="http://schemas.microsoft.com/office/2006/metadata/properties" ma:root="true" ma:fieldsID="bb98fb23faecd9775672f6785c752ecd" ns2:_="" ns3:_="">
    <xsd:import namespace="48e39b4d-49fe-43e3-a803-0b0014d83729"/>
    <xsd:import namespace="859b4b8e-7b1d-49c1-8596-c2b95aab0e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e39b4d-49fe-43e3-a803-0b0014d83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b4b8e-7b1d-49c1-8596-c2b95aab0e3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542db38-d431-4b25-af84-2f35c7e9bd40}" ma:internalName="TaxCatchAll" ma:showField="CatchAllData" ma:web="859b4b8e-7b1d-49c1-8596-c2b95aab0e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e39b4d-49fe-43e3-a803-0b0014d83729">
      <Terms xmlns="http://schemas.microsoft.com/office/infopath/2007/PartnerControls"/>
    </lcf76f155ced4ddcb4097134ff3c332f>
    <TaxCatchAll xmlns="859b4b8e-7b1d-49c1-8596-c2b95aab0e3c" xsi:nil="true"/>
  </documentManagement>
</p:properties>
</file>

<file path=customXml/itemProps1.xml><?xml version="1.0" encoding="utf-8"?>
<ds:datastoreItem xmlns:ds="http://schemas.openxmlformats.org/officeDocument/2006/customXml" ds:itemID="{D51B74DA-6314-480A-AA00-03A7EFB0BA11}"/>
</file>

<file path=customXml/itemProps2.xml><?xml version="1.0" encoding="utf-8"?>
<ds:datastoreItem xmlns:ds="http://schemas.openxmlformats.org/officeDocument/2006/customXml" ds:itemID="{415B7241-3AC4-4E7F-A936-D10467CB6C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67E6A8-0D11-4CE0-A8BB-47ECB40F5175}">
  <ds:schemaRefs>
    <ds:schemaRef ds:uri="http://schemas.microsoft.com/office/2006/metadata/properties"/>
    <ds:schemaRef ds:uri="http://schemas.microsoft.com/office/infopath/2007/PartnerControls"/>
    <ds:schemaRef ds:uri="88ac0c94-ecf3-4703-9efe-e9a6791ae759"/>
    <ds:schemaRef ds:uri="05740d8d-1a5b-48f4-a9f1-17d1e38694a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22568</TotalTime>
  <Words>3543</Words>
  <Application>Microsoft Office PowerPoint</Application>
  <PresentationFormat>Apresentação na tela (16:9)</PresentationFormat>
  <Paragraphs>343</Paragraphs>
  <Slides>103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103</vt:i4>
      </vt:variant>
    </vt:vector>
  </HeadingPairs>
  <TitlesOfParts>
    <vt:vector size="116" baseType="lpstr">
      <vt:lpstr>Arial</vt:lpstr>
      <vt:lpstr>Calibri</vt:lpstr>
      <vt:lpstr>Carlito</vt:lpstr>
      <vt:lpstr>Consolas</vt:lpstr>
      <vt:lpstr>DejaVu Sans</vt:lpstr>
      <vt:lpstr>Inter-Regular</vt:lpstr>
      <vt:lpstr>Noto Sans</vt:lpstr>
      <vt:lpstr>Roboto</vt:lpstr>
      <vt:lpstr>Segoe UI</vt:lpstr>
      <vt:lpstr>Söhne</vt:lpstr>
      <vt:lpstr>Söhne Mono</vt:lpstr>
      <vt:lpstr>Verdana</vt:lpstr>
      <vt:lpstr>Office Theme</vt:lpstr>
      <vt:lpstr>Apresentação do PowerPoint</vt:lpstr>
      <vt:lpstr>Introdução ao NojeJS</vt:lpstr>
      <vt:lpstr>Por que usar NodeJS</vt:lpstr>
      <vt:lpstr>Quem usa?</vt:lpstr>
      <vt:lpstr>Como instalar o NodeJS</vt:lpstr>
      <vt:lpstr>Testar o NodeJS</vt:lpstr>
      <vt:lpstr>Principais comandos do NPM</vt:lpstr>
      <vt:lpstr>Apresentação do PowerPoint</vt:lpstr>
      <vt:lpstr>Executando arquivos JavaScript no NodeJS</vt:lpstr>
      <vt:lpstr>Apresentação do PowerPoint</vt:lpstr>
      <vt:lpstr>Primeira aplicação HTTP com Node.JS</vt:lpstr>
      <vt:lpstr>Primeira aplicação HTTP com Node.JS</vt:lpstr>
      <vt:lpstr>Primeira aplicação HTTP com Node.JS</vt:lpstr>
      <vt:lpstr>Respondendo requisições HTTP com NodeJS</vt:lpstr>
      <vt:lpstr>Respondendo requisições HTTP com NodeJS</vt:lpstr>
      <vt:lpstr>O que é o Express.js e NPM</vt:lpstr>
      <vt:lpstr>O que é o Express.js e NPM</vt:lpstr>
      <vt:lpstr>O que é o Express.js e NPM</vt:lpstr>
      <vt:lpstr>Apresentação do PowerPoint</vt:lpstr>
      <vt:lpstr>O que é o Express.js e NPM</vt:lpstr>
      <vt:lpstr>Apresentação do PowerPoint</vt:lpstr>
      <vt:lpstr>O que é o Express.js e NPM</vt:lpstr>
      <vt:lpstr>Iniciando um projeto com Express</vt:lpstr>
      <vt:lpstr>Rotas</vt:lpstr>
      <vt:lpstr>Rotas</vt:lpstr>
      <vt:lpstr>Outras Rotas</vt:lpstr>
      <vt:lpstr>Outras Rotas</vt:lpstr>
      <vt:lpstr>Como instalar o Nodemon no Node.js para o servidor ser  recarregado automaticamente</vt:lpstr>
      <vt:lpstr>Carregando automático</vt:lpstr>
      <vt:lpstr>Exibindo HTML</vt:lpstr>
      <vt:lpstr>Views HTML</vt:lpstr>
      <vt:lpstr>Utilizando template engine EJS com Node.js</vt:lpstr>
      <vt:lpstr>Configurando e exibindo HTML com EJS</vt:lpstr>
      <vt:lpstr>Configurando e exibindo HTML com EJS</vt:lpstr>
      <vt:lpstr>Configurando e exibindo HTML com EJS</vt:lpstr>
      <vt:lpstr>Exibindo variáveis no HTML com EJS</vt:lpstr>
      <vt:lpstr>Exibindo variáveis no HTML com EJS</vt:lpstr>
      <vt:lpstr>Exemplo usando HTML</vt:lpstr>
      <vt:lpstr>Exemplo usando HTML</vt:lpstr>
      <vt:lpstr>Exemplo usando HTML</vt:lpstr>
      <vt:lpstr>Gerador de aplicativos do express</vt:lpstr>
      <vt:lpstr>Utilizando template engine Handlebars com Node.js</vt:lpstr>
      <vt:lpstr>Como instalar o Handlebars no Node e criar o layout padrão</vt:lpstr>
      <vt:lpstr>Como instalar o Handlebars no Node e criar o layout padrão</vt:lpstr>
      <vt:lpstr>Como instalar o Handlebars no Node e criar o layout padrão</vt:lpstr>
      <vt:lpstr>Top 14 Templating Engines for JavaScript 2022 - Colorlib</vt:lpstr>
      <vt:lpstr>Parâmetros</vt:lpstr>
      <vt:lpstr>Parâmetros</vt:lpstr>
      <vt:lpstr>Parâmetros</vt:lpstr>
      <vt:lpstr>Crud usando GET,POST,PUT e DELETE</vt:lpstr>
      <vt:lpstr>Banco de dados MySQL </vt:lpstr>
      <vt:lpstr>Tutorial de instalação do SGBD MySQL</vt:lpstr>
      <vt:lpstr>Tutorial de instalação do SGBD MySQL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Acessando o Mysql</vt:lpstr>
      <vt:lpstr>Estrutura da  tabela no Mysql</vt:lpstr>
      <vt:lpstr>CRUD Node.js com Mysql</vt:lpstr>
      <vt:lpstr>CRUD Node.js com Mysql – Criando a conexão</vt:lpstr>
      <vt:lpstr>CRUD Node.js com Mysql – Criando um banco de dados</vt:lpstr>
      <vt:lpstr>CRUD Node.js com Mysql – Criando uma tabela</vt:lpstr>
      <vt:lpstr>CRUD Node.js com Mysql – Inserir na Tabela</vt:lpstr>
      <vt:lpstr>CRUD Node.js com Mysql – Seleção de uma Tabela</vt:lpstr>
      <vt:lpstr>CRUD Node.js com Mysql – Selecione com um filtro</vt:lpstr>
      <vt:lpstr>CRUD Node.js com Mysql – Ordenar o resultado</vt:lpstr>
      <vt:lpstr>CRUD Node.js com Mysql – Apagar registro</vt:lpstr>
      <vt:lpstr>CRUD Node.js com Mysql – Excluir tabela</vt:lpstr>
      <vt:lpstr>CRUD Node.js com Mysql – Atualizar tabela</vt:lpstr>
      <vt:lpstr>CRUD Node.js com Mysql – Limite o resultado</vt:lpstr>
      <vt:lpstr>CRUD Node.js com Mysql – Juntar duas ou mais tabela</vt:lpstr>
      <vt:lpstr>CRUD Node.js com Mysql – Juntar duas ou mais tabela</vt:lpstr>
      <vt:lpstr>Fazendo Requisições para testar usando Thunder Client</vt:lpstr>
      <vt:lpstr>Apresentação do PowerPoint</vt:lpstr>
      <vt:lpstr>CRUD Node.js com Mysql</vt:lpstr>
      <vt:lpstr>CRUD Node.js com Mysql</vt:lpstr>
      <vt:lpstr>CRUD Node.js com Mysql</vt:lpstr>
      <vt:lpstr>CRUD Node.js com Mysql</vt:lpstr>
      <vt:lpstr>Apresentação do PowerPoint</vt:lpstr>
      <vt:lpstr>CRUD Node.js com Mysql – Criando a conexão</vt:lpstr>
      <vt:lpstr>CRUD Node.js com Mysql – Criando a conexão</vt:lpstr>
      <vt:lpstr>CRUD Node.js  com Mysql –  Select</vt:lpstr>
      <vt:lpstr>CRUD Node.js  com Mysql –  Select</vt:lpstr>
      <vt:lpstr>CRUD Node.js  com Mysql –  Insert</vt:lpstr>
      <vt:lpstr>CRUD Node.js  com Mysql –  Insert</vt:lpstr>
      <vt:lpstr>CRUD Node.js  com Mysql –  Update e Delete</vt:lpstr>
      <vt:lpstr>CRUD Node.js  com Mysql –  Update e Delete</vt:lpstr>
      <vt:lpstr>Apresentação do PowerPoint</vt:lpstr>
      <vt:lpstr>Apresentação do PowerPoint</vt:lpstr>
      <vt:lpstr>Função para alterar os dados de um cliente</vt:lpstr>
      <vt:lpstr>Função para deletar um cliente</vt:lpstr>
      <vt:lpstr>Função para consultar os dados de um cliente</vt:lpstr>
      <vt:lpstr>Mostrar resultado das funções</vt:lpstr>
      <vt:lpstr>CRUD com Node.js, Sequelize e MySQL</vt:lpstr>
      <vt:lpstr>CRUD com Node.js, Sequelize e MySQL</vt:lpstr>
      <vt:lpstr>CRUD com Sequelize e MySQL – Criar conexão</vt:lpstr>
      <vt:lpstr>CRUD com Sequelize e MySQL – Criando Tabela</vt:lpstr>
      <vt:lpstr>CRUD com Sequelize e MySQL – Create</vt:lpstr>
      <vt:lpstr>CRUD com Sequelize e MySQL – Read</vt:lpstr>
      <vt:lpstr>CRUD com Sequelize e MySQL – Update</vt:lpstr>
      <vt:lpstr>CRUD com Sequelize e MySQL – Delete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NodeJS</dc:title>
  <dc:creator>Claudio Lima</dc:creator>
  <cp:lastModifiedBy>CLAUDIO ETELVINO DE LIMA</cp:lastModifiedBy>
  <cp:revision>90</cp:revision>
  <dcterms:created xsi:type="dcterms:W3CDTF">2023-02-24T11:36:32Z</dcterms:created>
  <dcterms:modified xsi:type="dcterms:W3CDTF">2024-09-20T10:37:15Z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2023-02-24T00:00:00Z</vt:filetime>
  </property>
  <property fmtid="{D5CDD505-2E9C-101B-9397-08002B2CF9AE}" pid="5" name="ContentTypeId">
    <vt:lpwstr>0x010100277EEA5AB83D49499D84A27CF07AB9D5</vt:lpwstr>
  </property>
  <property fmtid="{D5CDD505-2E9C-101B-9397-08002B2CF9AE}" pid="6" name="MediaServiceImageTags">
    <vt:lpwstr/>
  </property>
</Properties>
</file>