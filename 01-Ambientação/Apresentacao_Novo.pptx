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5"/>
  </p:notesMasterIdLst>
  <p:sldIdLst>
    <p:sldId id="344" r:id="rId5"/>
    <p:sldId id="367" r:id="rId6"/>
    <p:sldId id="345" r:id="rId7"/>
    <p:sldId id="346" r:id="rId8"/>
    <p:sldId id="362" r:id="rId9"/>
    <p:sldId id="357" r:id="rId10"/>
    <p:sldId id="372" r:id="rId11"/>
    <p:sldId id="347" r:id="rId12"/>
    <p:sldId id="366" r:id="rId13"/>
    <p:sldId id="371" r:id="rId14"/>
  </p:sldIdLst>
  <p:sldSz cx="9144000" cy="5143500" type="screen16x9"/>
  <p:notesSz cx="6858000" cy="9144000"/>
  <p:custDataLst>
    <p:tags r:id="rId16"/>
  </p:custDataLst>
  <p:defaultTextStyle>
    <a:lvl1pPr marL="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991D1C-6BCB-D267-6A5A-4F777106BB2F}" v="21" dt="2024-08-09T12:25:37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94" autoAdjust="0"/>
    <p:restoredTop sz="87567" autoAdjust="0"/>
  </p:normalViewPr>
  <p:slideViewPr>
    <p:cSldViewPr>
      <p:cViewPr varScale="1">
        <p:scale>
          <a:sx n="73" d="100"/>
          <a:sy n="73" d="100"/>
        </p:scale>
        <p:origin x="996" y="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pt-BR" sz="1200"/>
            </a:lvl1pPr>
            <a:extLst/>
          </a:lstStyle>
          <a:p>
            <a:fld id="{A8ADFD5B-A66C-449C-B6E8-FB716D07777D}" type="datetimeFigureOut">
              <a:pPr/>
              <a:t>18/02/2026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pt-BR" sz="1200"/>
            </a:lvl1pPr>
            <a:extLst/>
          </a:lstStyle>
          <a:p>
            <a:fld id="{CA5D3BF3-D352-46FC-8343-31F56E6730EA}" type="slidenum"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232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1209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0871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3650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1811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587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1568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3262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7607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 eaLnBrk="1" latinLnBrk="0" hangingPunct="1">
              <a:buNone/>
              <a:defRPr kumimoji="0" lang="pt-BR" sz="2800">
                <a:solidFill>
                  <a:srgbClr val="FFFFFF"/>
                </a:solidFill>
              </a:defRPr>
            </a:lvl1pPr>
            <a:lvl2pPr marL="457200" indent="0" algn="ctr" eaLnBrk="1" latinLnBrk="0" hangingPunct="1">
              <a:buNone/>
            </a:lvl2pPr>
            <a:lvl3pPr marL="914400" indent="0" algn="ctr" eaLnBrk="1" latinLnBrk="0" hangingPunct="1">
              <a:buNone/>
            </a:lvl3pPr>
            <a:lvl4pPr marL="1371600" indent="0" algn="ctr" eaLnBrk="1" latinLnBrk="0" hangingPunct="1">
              <a:buNone/>
            </a:lvl4pPr>
            <a:lvl5pPr marL="1828800" indent="0" algn="ctr" eaLnBrk="1" latinLnBrk="0" hangingPunct="1">
              <a:buNone/>
            </a:lvl5pPr>
            <a:lvl6pPr marL="2286000" indent="0" algn="ctr" eaLnBrk="1" latinLnBrk="0" hangingPunct="1">
              <a:buNone/>
            </a:lvl6pPr>
            <a:lvl7pPr marL="2743200" indent="0" algn="ctr" eaLnBrk="1" latinLnBrk="0" hangingPunct="1">
              <a:buNone/>
            </a:lvl7pPr>
            <a:lvl8pPr marL="3200400" indent="0" algn="ctr" eaLnBrk="1" latinLnBrk="0" hangingPunct="1">
              <a:buNone/>
            </a:lvl8pPr>
            <a:lvl9pPr marL="3657600" indent="0" algn="ctr" eaLnBrk="1" latinLnBrk="0" hangingPunct="1">
              <a:buNone/>
            </a:lvl9pPr>
            <a:extLst/>
          </a:lstStyle>
          <a:p>
            <a:pPr eaLnBrk="1" latinLnBrk="0" hangingPunct="1"/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eaLnBrk="1" latinLnBrk="0" hangingPunct="1">
              <a:defRPr kumimoji="0" lang="pt-BR"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kumimoji="0" lang="pt-BR">
                <a:solidFill>
                  <a:srgbClr val="FFFFFF"/>
                </a:solidFill>
              </a:rPr>
              <a:pPr algn="ctr"/>
              <a:t>18/02/2026</a:t>
            </a:fld>
            <a:endParaRPr kumimoji="0" lang="pt-BR" sz="200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 eaLnBrk="1" latinLnBrk="0" hangingPunct="1">
              <a:defRPr kumimoji="0" lang="pt-BR" cap="all" baseline="0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pPr/>
              <a:t>18/02/2026</a:t>
            </a:fld>
            <a:endParaRPr kumimoji="0" lang="pt-BR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eaLnBrk="1" latinLnBrk="0" hangingPunct="1">
              <a:buNone/>
              <a:defRPr kumimoji="0" lang="pt-BR" sz="2800">
                <a:solidFill>
                  <a:schemeClr val="tx2"/>
                </a:solidFill>
              </a:defRPr>
            </a:lvl1pPr>
            <a:lvl2pPr eaLnBrk="1" latinLnBrk="0" hangingPunct="1">
              <a:buNone/>
              <a:defRPr kumimoji="0" lang="pt-BR" sz="1800">
                <a:solidFill>
                  <a:schemeClr val="tx1">
                    <a:tint val="75000"/>
                  </a:schemeClr>
                </a:solidFill>
              </a:defRPr>
            </a:lvl2pPr>
            <a:lvl3pPr eaLnBrk="1" latinLnBrk="0" hangingPunct="1">
              <a:buNone/>
              <a:defRPr kumimoji="0" lang="pt-BR" sz="1600">
                <a:solidFill>
                  <a:schemeClr val="tx1">
                    <a:tint val="75000"/>
                  </a:schemeClr>
                </a:solidFill>
              </a:defRPr>
            </a:lvl3pPr>
            <a:lvl4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4pPr>
            <a:lvl5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eaLnBrk="1" latinLnBrk="0" hangingPunct="1">
              <a:buNone/>
              <a:defRPr kumimoji="0" lang="pt-BR"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kumimoji="0" lang="pt-BR"/>
              <a:t>Clique para editar o título Mestre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pPr/>
              <a:t>18/02/2026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eaLnBrk="1" latinLnBrk="0" hangingPunct="1">
              <a:defRPr kumimoji="0" lang="pt-BR"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2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40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pPr/>
              <a:t>18/02/2026</a:t>
            </a:fld>
            <a:endParaRPr kumimoji="0"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eaLnBrk="1" latinLnBrk="0" hangingPunct="1">
              <a:defRPr kumimoji="0" lang="pt-BR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pPr/>
              <a:t>18/02/2026</a:t>
            </a:fld>
            <a:endParaRPr kumimoji="0" lang="pt-BR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pt-BR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pPr/>
              <a:t>18/02/2026</a:t>
            </a:fld>
            <a:endParaRPr kumimoji="0"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pPr/>
              <a:t>18/02/2026</a:t>
            </a:fld>
            <a:endParaRPr kumimoji="0"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eaLnBrk="1" latinLnBrk="0" hangingPunct="1">
              <a:buNone/>
              <a:defRPr kumimoji="0" lang="pt-BR" sz="4200" b="0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pPr/>
              <a:t>18/02/2026</a:t>
            </a:fld>
            <a:endParaRPr kumimoji="0"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eaLnBrk="1" latinLnBrk="0" hangingPunct="1">
              <a:spcAft>
                <a:spcPts val="1000"/>
              </a:spcAft>
              <a:buNone/>
              <a:defRPr kumimoji="0" lang="pt-BR" sz="1800"/>
            </a:lvl1pPr>
            <a:lvl2pPr eaLnBrk="1" latinLnBrk="0" hangingPunct="1">
              <a:buNone/>
              <a:defRPr kumimoji="0" lang="pt-BR" sz="1200"/>
            </a:lvl2pPr>
            <a:lvl3pPr eaLnBrk="1" latinLnBrk="0" hangingPunct="1">
              <a:buNone/>
              <a:defRPr kumimoji="0" lang="pt-BR" sz="1000"/>
            </a:lvl3pPr>
            <a:lvl4pPr eaLnBrk="1" latinLnBrk="0" hangingPunct="1">
              <a:buNone/>
              <a:defRPr kumimoji="0" lang="pt-BR" sz="900"/>
            </a:lvl4pPr>
            <a:lvl5pPr eaLnBrk="1" latinLnBrk="0" hangingPunct="1"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 eaLnBrk="1" latinLnBrk="0" hangingPunct="1">
              <a:buNone/>
              <a:defRPr kumimoji="0" lang="pt-BR" sz="3200"/>
            </a:lvl1pPr>
            <a:extLst/>
          </a:lstStyle>
          <a:p>
            <a:r>
              <a:rPr kumimoji="0" lang="pt-BR"/>
              <a:t>Clique no ícone para adicionar uma imagem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eaLnBrk="1" latinLnBrk="0" hangingPunct="1">
              <a:buFontTx/>
              <a:buNone/>
              <a:defRPr kumimoji="0" lang="pt-BR" sz="1700"/>
            </a:lvl1pPr>
            <a:lvl2pPr eaLnBrk="1" latinLnBrk="0" hangingPunct="1">
              <a:buFontTx/>
              <a:buNone/>
              <a:defRPr kumimoji="0" lang="pt-BR" sz="1200"/>
            </a:lvl2pPr>
            <a:lvl3pPr eaLnBrk="1" latinLnBrk="0" hangingPunct="1">
              <a:buFontTx/>
              <a:buNone/>
              <a:defRPr kumimoji="0" lang="pt-BR" sz="1000"/>
            </a:lvl3pPr>
            <a:lvl4pPr eaLnBrk="1" latinLnBrk="0" hangingPunct="1">
              <a:buFontTx/>
              <a:buNone/>
              <a:defRPr kumimoji="0" lang="pt-BR" sz="900"/>
            </a:lvl4pPr>
            <a:lvl5pPr eaLnBrk="1" latinLnBrk="0" hangingPunct="1">
              <a:buFontTx/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eaLnBrk="1" latinLnBrk="0" hangingPunct="1">
              <a:buNone/>
              <a:defRPr kumimoji="0" lang="pt-BR" sz="2800" b="0">
                <a:solidFill>
                  <a:srgbClr val="FFFFFF"/>
                </a:solidFill>
              </a:defRPr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E4606EA6-EFEA-4C30-9264-4F9291A5780D}" type="datetime1">
              <a:pPr/>
              <a:t>18/02/2026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eaLnBrk="1" latinLnBrk="0" hangingPunct="1">
              <a:defRPr kumimoji="0" lang="pt-BR" sz="2800"/>
            </a:lvl1pPr>
            <a:extLst/>
          </a:lstStyle>
          <a:p>
            <a:pPr algn="ctr"/>
            <a:fld id="{8F82E0A0-C266-4798-8C8F-B9F91E9DA37E}" type="slidenum">
              <a:rPr kumimoji="0" lang="pt-BR" sz="28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80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endParaRPr kumimoji="0"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98B7F-CD15-4C33-9FFC-0364D6C1D1A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23260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pPr/>
              <a:t>18/02/2026</a:t>
            </a:fld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lang="pt-BR"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1400" b="1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eaLnBrk="1" latinLnBrk="0" hangingPunct="1"/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txStyles>
    <p:titleStyle>
      <a:lvl1pPr algn="l" rtl="0" eaLnBrk="1" latinLnBrk="0" hangingPunct="1">
        <a:spcBef>
          <a:spcPct val="0"/>
        </a:spcBef>
        <a:buNone/>
        <a:defRPr kumimoji="0" lang="pt-BR"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lang="pt-BR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lang="pt-BR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lang="pt-BR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FvSoEMCzm-BrE8yo7-k3EJBhRpEt-_Oklm7qTQ10jxw/edit?usp=sharing" TargetMode="Externa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/>
          </p:cNvSpPr>
          <p:nvPr>
            <p:ph type="subTitle" idx="1"/>
          </p:nvPr>
        </p:nvSpPr>
        <p:spPr>
          <a:xfrm>
            <a:off x="2339752" y="4659982"/>
            <a:ext cx="6515100" cy="555526"/>
          </a:xfrm>
        </p:spPr>
        <p:txBody>
          <a:bodyPr>
            <a:normAutofit fontScale="55000" lnSpcReduction="20000"/>
          </a:bodyPr>
          <a:lstStyle/>
          <a:p>
            <a:r>
              <a:rPr lang="pt-BR" dirty="0"/>
              <a:t>Análise e Desenvolvimento de Sistemas</a:t>
            </a:r>
          </a:p>
          <a:p>
            <a:r>
              <a:rPr lang="en-US" dirty="0"/>
              <a:t>Prof. Claudio Lima - http://lattes.cnpq.br/</a:t>
            </a:r>
            <a:r>
              <a:rPr lang="pt-BR" dirty="0"/>
              <a:t>9330552327454666</a:t>
            </a:r>
            <a:r>
              <a:rPr lang="en-US" dirty="0"/>
              <a:t> </a:t>
            </a:r>
          </a:p>
          <a:p>
            <a:endParaRPr lang="pt-BR" dirty="0"/>
          </a:p>
        </p:txBody>
      </p:sp>
      <p:sp>
        <p:nvSpPr>
          <p:cNvPr id="4" name="Rectang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DESENVOLVIMENTO WEB </a:t>
            </a:r>
            <a:r>
              <a:rPr lang="pt-BR" dirty="0" err="1"/>
              <a:t>ii</a:t>
            </a:r>
            <a:endParaRPr lang="pt-B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881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31590"/>
            <a:ext cx="8712968" cy="4155926"/>
          </a:xfrm>
        </p:spPr>
        <p:txBody>
          <a:bodyPr lIns="92075" tIns="46038" rIns="92075" bIns="46038">
            <a:normAutofit lnSpcReduction="10000"/>
          </a:bodyPr>
          <a:lstStyle/>
          <a:p>
            <a:pPr>
              <a:lnSpc>
                <a:spcPct val="80000"/>
              </a:lnSpc>
              <a:defRPr/>
            </a:pPr>
            <a:endParaRPr lang="pt-BR" altLang="pt-BR" sz="2400" b="1" dirty="0"/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Formação Acadêmica :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Graduado em Ciência da Computação;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Formação Pedagógica;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Engenharia de Sistemas;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Psicopedagogia.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Mestrado Incompleto em Engenharia da Computação.</a:t>
            </a:r>
          </a:p>
          <a:p>
            <a:pPr algn="just">
              <a:lnSpc>
                <a:spcPct val="80000"/>
              </a:lnSpc>
              <a:defRPr/>
            </a:pPr>
            <a:endParaRPr lang="pt-BR" altLang="pt-BR" sz="1800" dirty="0"/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Experiência Profissional :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Tenho experiência 20 anos no Mercado de Tecnologia Gestão GSB – Gerdau- SA;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sz="1800" dirty="0"/>
              <a:t>Atualmente trabalho com Professor da Fatec-SJC, ETEC e no curso de Gestão Empresarial da FATEC, modalidade a distância.</a:t>
            </a:r>
            <a:endParaRPr lang="pt-BR" altLang="pt-BR" sz="1800" dirty="0"/>
          </a:p>
          <a:p>
            <a:pPr>
              <a:lnSpc>
                <a:spcPct val="80000"/>
              </a:lnSpc>
              <a:defRPr/>
            </a:pPr>
            <a:endParaRPr lang="pt-BR" altLang="pt-BR" sz="1800" dirty="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e-mail: </a:t>
            </a:r>
            <a:r>
              <a:rPr lang="pt-BR" altLang="pt-BR" sz="1800" dirty="0"/>
              <a:t>claudioelima@gmail.com</a:t>
            </a:r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 bwMode="auto">
          <a:xfrm>
            <a:off x="0" y="0"/>
            <a:ext cx="9144000" cy="844154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eaLnBrk="1" hangingPunct="1">
              <a:spcBef>
                <a:spcPct val="0"/>
              </a:spcBef>
              <a:buNone/>
              <a:defRPr kumimoji="0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pt-BR" altLang="pt-BR" dirty="0"/>
              <a:t>Informações sobre o </a:t>
            </a:r>
            <a:r>
              <a:rPr lang="pt-BR" altLang="pt-BR" dirty="0" err="1"/>
              <a:t>Profº</a:t>
            </a:r>
            <a:r>
              <a:rPr lang="pt-BR" altLang="pt-BR" dirty="0"/>
              <a:t>. Claudio</a:t>
            </a:r>
          </a:p>
        </p:txBody>
      </p:sp>
      <p:pic>
        <p:nvPicPr>
          <p:cNvPr id="3" name="Imagem 2" descr="Homem de barba e óculos&#10;&#10;Descrição gerada automaticamente">
            <a:extLst>
              <a:ext uri="{FF2B5EF4-FFF2-40B4-BE49-F238E27FC236}">
                <a16:creationId xmlns:a16="http://schemas.microsoft.com/office/drawing/2014/main" id="{223466CA-7599-4C69-A186-5C5296FFF9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913" y="1275606"/>
            <a:ext cx="2264087" cy="226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774462"/>
      </p:ext>
    </p:extLst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</a:t>
            </a:r>
          </a:p>
        </p:txBody>
      </p:sp>
      <p:sp>
        <p:nvSpPr>
          <p:cNvPr id="3" name="Rectangle 2"/>
          <p:cNvSpPr>
            <a:spLocks noGrp="1"/>
          </p:cNvSpPr>
          <p:nvPr>
            <p:ph sz="quarter" idx="13"/>
          </p:nvPr>
        </p:nvSpPr>
        <p:spPr>
          <a:xfrm>
            <a:off x="609600" y="1347614"/>
            <a:ext cx="7776864" cy="2520280"/>
          </a:xfrm>
        </p:spPr>
        <p:txBody>
          <a:bodyPr anchor="ctr">
            <a:normAutofit/>
          </a:bodyPr>
          <a:lstStyle/>
          <a:p>
            <a:pPr marL="274320" lvl="1" algn="just"/>
            <a:r>
              <a:rPr lang="pt-BR" dirty="0"/>
              <a:t>Proporcionar aos alunos o domínio avançado das tecnologias e práticas relacionadas ao desenvolvimento web utilizando Node.js, capacitando-os a projetar, implementar e manter aplicações web.</a:t>
            </a:r>
          </a:p>
        </p:txBody>
      </p:sp>
    </p:spTree>
    <p:extLst>
      <p:ext uri="{BB962C8B-B14F-4D97-AF65-F5344CB8AC3E}">
        <p14:creationId xmlns:p14="http://schemas.microsoft.com/office/powerpoint/2010/main" val="398770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Ementa</a:t>
            </a:r>
            <a:endParaRPr lang="pt-BR" dirty="0"/>
          </a:p>
        </p:txBody>
      </p:sp>
      <p:sp>
        <p:nvSpPr>
          <p:cNvPr id="3" name="Rectangle 2"/>
          <p:cNvSpPr>
            <a:spLocks noGrp="1"/>
          </p:cNvSpPr>
          <p:nvPr>
            <p:ph sz="quarter" idx="13"/>
          </p:nvPr>
        </p:nvSpPr>
        <p:spPr>
          <a:xfrm>
            <a:off x="611560" y="1347614"/>
            <a:ext cx="7992888" cy="3677776"/>
          </a:xfrm>
        </p:spPr>
        <p:txBody>
          <a:bodyPr anchor="ctr">
            <a:normAutofit/>
          </a:bodyPr>
          <a:lstStyle/>
          <a:p>
            <a:pPr algn="just"/>
            <a:r>
              <a:rPr lang="pt-BR" sz="3200" dirty="0"/>
              <a:t>Relação entre arquitetura de dados, arquitetura de informação em um sistema web e arquitetura de sistema.</a:t>
            </a:r>
          </a:p>
          <a:p>
            <a:pPr marL="0" indent="0" algn="just">
              <a:buNone/>
            </a:pPr>
            <a:endParaRPr lang="pt-BR" sz="3200" dirty="0"/>
          </a:p>
          <a:p>
            <a:pPr marL="0" indent="0" algn="just">
              <a:buNone/>
            </a:pP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3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C309B-3625-4FBE-9A54-9E49712C6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41C9C-6038-4F1B-A382-406FE0F970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7914806" cy="3268624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lang="pt-BR" dirty="0"/>
              <a:t>Aulas expositivas;</a:t>
            </a:r>
          </a:p>
          <a:p>
            <a:r>
              <a:rPr lang="pt-BR" dirty="0"/>
              <a:t>Mídias;</a:t>
            </a:r>
          </a:p>
          <a:p>
            <a:r>
              <a:rPr lang="pt-BR" dirty="0"/>
              <a:t>Pesquisas;</a:t>
            </a:r>
          </a:p>
          <a:p>
            <a:r>
              <a:rPr lang="pt-BR" dirty="0"/>
              <a:t>Aprendizagem Baseado a Projeto </a:t>
            </a:r>
            <a:r>
              <a:rPr lang="pt-BR" b="1" dirty="0"/>
              <a:t>Real</a:t>
            </a:r>
            <a:r>
              <a:rPr lang="pt-BR" dirty="0"/>
              <a:t> (</a:t>
            </a:r>
            <a:r>
              <a:rPr lang="pt-BR" b="1" dirty="0"/>
              <a:t>R</a:t>
            </a:r>
            <a:r>
              <a:rPr lang="pt-BR" dirty="0"/>
              <a:t>PBL).</a:t>
            </a:r>
          </a:p>
        </p:txBody>
      </p:sp>
    </p:spTree>
    <p:extLst>
      <p:ext uri="{BB962C8B-B14F-4D97-AF65-F5344CB8AC3E}">
        <p14:creationId xmlns:p14="http://schemas.microsoft.com/office/powerpoint/2010/main" val="63212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57250"/>
          </a:xfrm>
        </p:spPr>
        <p:txBody>
          <a:bodyPr vert="horz" anchor="b">
            <a:normAutofit/>
          </a:bodyPr>
          <a:lstStyle/>
          <a:p>
            <a:r>
              <a:rPr lang="en-US" dirty="0" err="1"/>
              <a:t>Carga</a:t>
            </a:r>
            <a:r>
              <a:rPr lang="en-US" dirty="0"/>
              <a:t> </a:t>
            </a:r>
            <a:r>
              <a:rPr lang="en-US" dirty="0" err="1"/>
              <a:t>Horária</a:t>
            </a:r>
            <a:r>
              <a:rPr lang="en-US" dirty="0"/>
              <a:t> da </a:t>
            </a:r>
            <a:r>
              <a:rPr lang="en-US" dirty="0" err="1"/>
              <a:t>Disciplina</a:t>
            </a:r>
            <a:endParaRPr lang="pt-BR" dirty="0"/>
          </a:p>
        </p:txBody>
      </p:sp>
      <p:sp>
        <p:nvSpPr>
          <p:cNvPr id="8195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pt-BR" b="1" dirty="0" err="1"/>
              <a:t>Carga</a:t>
            </a:r>
            <a:r>
              <a:rPr lang="en-US" altLang="pt-BR" b="1" dirty="0"/>
              <a:t> </a:t>
            </a:r>
            <a:r>
              <a:rPr lang="en-US" altLang="pt-BR" b="1" dirty="0" err="1"/>
              <a:t>Horária</a:t>
            </a:r>
            <a:r>
              <a:rPr lang="en-US" altLang="pt-BR" b="1" dirty="0"/>
              <a:t> </a:t>
            </a:r>
            <a:r>
              <a:rPr lang="en-US" altLang="pt-BR" b="1" dirty="0" err="1"/>
              <a:t>Semanal</a:t>
            </a:r>
            <a:endParaRPr lang="en-US" altLang="pt-BR" b="1" dirty="0"/>
          </a:p>
          <a:p>
            <a:pPr lvl="1"/>
            <a:r>
              <a:rPr lang="en-US" altLang="pt-BR" dirty="0"/>
              <a:t>04 horas/aula</a:t>
            </a:r>
          </a:p>
          <a:p>
            <a:pPr lvl="2"/>
            <a:r>
              <a:rPr lang="en-US" altLang="pt-BR" dirty="0"/>
              <a:t>02 </a:t>
            </a:r>
            <a:r>
              <a:rPr lang="en-US" altLang="pt-BR" dirty="0" err="1"/>
              <a:t>teóricas</a:t>
            </a:r>
            <a:endParaRPr lang="en-US" altLang="pt-BR" dirty="0"/>
          </a:p>
          <a:p>
            <a:pPr lvl="2"/>
            <a:r>
              <a:rPr lang="en-US" altLang="pt-BR" dirty="0"/>
              <a:t>02 </a:t>
            </a:r>
            <a:r>
              <a:rPr lang="en-US" altLang="pt-BR" dirty="0" err="1"/>
              <a:t>práticas</a:t>
            </a:r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15974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Critério de Avaliação</a:t>
            </a:r>
          </a:p>
        </p:txBody>
      </p:sp>
      <p:sp>
        <p:nvSpPr>
          <p:cNvPr id="3" name="Rectangle 2"/>
          <p:cNvSpPr>
            <a:spLocks noGrp="1"/>
          </p:cNvSpPr>
          <p:nvPr>
            <p:ph sz="quarter" idx="13"/>
          </p:nvPr>
        </p:nvSpPr>
        <p:spPr>
          <a:xfrm>
            <a:off x="0" y="1635646"/>
            <a:ext cx="9144000" cy="4032448"/>
          </a:xfrm>
        </p:spPr>
        <p:txBody>
          <a:bodyPr vert="horz" lIns="91440" tIns="45720" rIns="91440" bIns="45720" anchor="ctr">
            <a:normAutofit/>
          </a:bodyPr>
          <a:lstStyle/>
          <a:p>
            <a:pPr marL="0" indent="0">
              <a:buNone/>
            </a:pPr>
            <a:r>
              <a:rPr lang="pt-BR" sz="2000" dirty="0"/>
              <a:t>✅ </a:t>
            </a:r>
            <a:r>
              <a:rPr lang="pt-BR" sz="2000" b="1" dirty="0"/>
              <a:t>Requisitos para Aprovação:</a:t>
            </a:r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Média final:</a:t>
            </a:r>
            <a:r>
              <a:rPr lang="pt-BR" sz="2000" dirty="0"/>
              <a:t> É necessário obter </a:t>
            </a:r>
            <a:r>
              <a:rPr lang="pt-BR" sz="2000" b="1" dirty="0"/>
              <a:t>WEBII &gt;= 6</a:t>
            </a:r>
            <a:r>
              <a:rPr lang="pt-BR" sz="2000" dirty="0"/>
              <a:t> para que a nota do API seja considerada.</a:t>
            </a:r>
            <a:br>
              <a:rPr lang="pt-BR" sz="2000" dirty="0"/>
            </a:br>
            <a:r>
              <a:rPr lang="pt-BR" sz="2000" dirty="0"/>
              <a:t>A </a:t>
            </a:r>
            <a:r>
              <a:rPr lang="pt-BR" sz="2000"/>
              <a:t>disciplina </a:t>
            </a:r>
            <a:r>
              <a:rPr lang="pt-BR" sz="2000" b="1"/>
              <a:t>WEBII</a:t>
            </a:r>
            <a:r>
              <a:rPr lang="pt-BR" sz="2000"/>
              <a:t> </a:t>
            </a:r>
            <a:r>
              <a:rPr lang="pt-BR" sz="2000" dirty="0"/>
              <a:t>contará com </a:t>
            </a:r>
            <a:r>
              <a:rPr lang="pt-BR" sz="2000" b="1" dirty="0"/>
              <a:t>3 atividades avaliativas individuais</a:t>
            </a:r>
            <a:r>
              <a:rPr lang="pt-BR" sz="2000" dirty="0"/>
              <a:t> e </a:t>
            </a:r>
            <a:r>
              <a:rPr lang="pt-BR" sz="2000" b="1" dirty="0"/>
              <a:t>2 provas</a:t>
            </a:r>
            <a:r>
              <a:rPr lang="pt-BR" sz="2000" dirty="0"/>
              <a:t> ao longo do semestre.</a:t>
            </a:r>
          </a:p>
          <a:p>
            <a:pPr marL="0" indent="0">
              <a:buNone/>
            </a:pPr>
            <a:r>
              <a:rPr lang="pt-BR" sz="2000" dirty="0"/>
              <a:t>📋 </a:t>
            </a:r>
            <a:r>
              <a:rPr lang="pt-BR" sz="2000" b="1" dirty="0"/>
              <a:t>Conceito e Situação:</a:t>
            </a:r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20 faltas:</a:t>
            </a:r>
            <a:r>
              <a:rPr lang="pt-BR" sz="2000" dirty="0"/>
              <a:t> ❌ </a:t>
            </a:r>
            <a:r>
              <a:rPr lang="pt-BR" sz="2000" i="1" dirty="0"/>
              <a:t>Reprovado por faltas</a:t>
            </a:r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Média Final &lt; 6:</a:t>
            </a:r>
            <a:r>
              <a:rPr lang="pt-BR" sz="2000" dirty="0"/>
              <a:t> ❌ </a:t>
            </a:r>
            <a:r>
              <a:rPr lang="pt-BR" sz="2000" i="1" dirty="0"/>
              <a:t>Reprovado</a:t>
            </a:r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Média Final ≥ 6:</a:t>
            </a:r>
            <a:r>
              <a:rPr lang="pt-BR" sz="2000" dirty="0"/>
              <a:t> ✅ </a:t>
            </a:r>
            <a:r>
              <a:rPr lang="pt-BR" sz="2000" i="1" dirty="0"/>
              <a:t>Aprovado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🚫 </a:t>
            </a:r>
            <a:r>
              <a:rPr lang="pt-BR" sz="2000" b="1" dirty="0"/>
              <a:t>Atenção:</a:t>
            </a:r>
            <a:br>
              <a:rPr lang="pt-BR" sz="2000" dirty="0"/>
            </a:br>
            <a:r>
              <a:rPr lang="pt-BR" sz="2000" b="1" dirty="0"/>
              <a:t>Exame Final:</a:t>
            </a:r>
            <a:r>
              <a:rPr lang="pt-BR" sz="2000" dirty="0"/>
              <a:t> será concedido somente aos alunos que </a:t>
            </a:r>
            <a:r>
              <a:rPr lang="pt-BR" sz="2000" b="1" dirty="0"/>
              <a:t>não forem reprovados por falta</a:t>
            </a:r>
            <a:r>
              <a:rPr lang="pt-BR" sz="2000" dirty="0"/>
              <a:t>.</a:t>
            </a:r>
          </a:p>
          <a:p>
            <a:pPr marL="0" indent="0">
              <a:buNone/>
            </a:pPr>
            <a:endParaRPr lang="pt-BR" sz="2800" dirty="0"/>
          </a:p>
          <a:p>
            <a:pPr marL="274320" lvl="1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023874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Rectangle 2"/>
          <p:cNvSpPr>
            <a:spLocks noGrp="1"/>
          </p:cNvSpPr>
          <p:nvPr>
            <p:ph sz="quarter" idx="13"/>
          </p:nvPr>
        </p:nvSpPr>
        <p:spPr>
          <a:xfrm>
            <a:off x="467544" y="1347614"/>
            <a:ext cx="8424936" cy="1944216"/>
          </a:xfrm>
        </p:spPr>
        <p:txBody>
          <a:bodyPr anchor="ctr">
            <a:normAutofit/>
          </a:bodyPr>
          <a:lstStyle/>
          <a:p>
            <a:pPr marL="274320" lvl="1"/>
            <a:r>
              <a:rPr lang="pt-BR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Bibliografia Básica </a:t>
            </a:r>
          </a:p>
          <a:p>
            <a:pPr marL="0" lvl="1" indent="0">
              <a:buNone/>
            </a:pPr>
            <a:r>
              <a:rPr lang="pt-BR" dirty="0"/>
              <a:t>Flávio Almeida - Cangaceiro </a:t>
            </a:r>
            <a:r>
              <a:rPr lang="pt-BR" dirty="0" err="1"/>
              <a:t>JavaScript</a:t>
            </a:r>
            <a:r>
              <a:rPr lang="pt-BR" dirty="0"/>
              <a:t>.</a:t>
            </a:r>
          </a:p>
          <a:p>
            <a:pPr marL="0" lvl="1" indent="0">
              <a:buNone/>
            </a:pPr>
            <a:r>
              <a:rPr lang="pt-BR" dirty="0"/>
              <a:t>Caio Ribeiro Pereira – </a:t>
            </a:r>
            <a:r>
              <a:rPr lang="pt-BR" dirty="0" err="1"/>
              <a:t>NodeJS</a:t>
            </a:r>
            <a:r>
              <a:rPr lang="pt-BR" dirty="0"/>
              <a:t> – Aplicações Web </a:t>
            </a:r>
            <a:endParaRPr lang="pt-BR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21395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19724-EC15-4262-8F1E-755A837B8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PONTO DE ATENÇÃO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75AA1F-ABA7-44AD-9A5A-CBA51E18D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algn="just"/>
            <a:r>
              <a:rPr lang="pt-BR" dirty="0">
                <a:ea typeface="+mn-lt"/>
                <a:cs typeface="+mn-lt"/>
              </a:rPr>
              <a:t>Quando a equipe não tem domínio da natureza do negócio, há grandes chances de cometer erros de interpretação, neste caso, um feedback mais frequente do cliente, que é o que entende do negócio, é fundamental para melhoria da qualidade do produto.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6607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562E9-367F-25B4-FEA6-F24A112D5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42C118-977E-D20F-8BB9-ABE5B4188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https://docs.google.com/spreadsheets/d/1FvSoEMCzm-BrE8yo7-k3EJBhRpEt-_Oklm7qTQ10jxw/edit?usp=sharing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668533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1.2"/>
  <p:tag name="ISPRING_ULTRA_SCORM_COURSE_ID" val="45DFFF0F-68C0-4848-8046-6D470C2856FB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\uFFFD\uFFFDz\uFFFD{82BE2ACE-D23C-4CED-B923-4A63B851B90E}&quot;,&quot;E:\\bkp\\Desktop\\FATEC\\Presencial\\SI\\1ªSemana&quot;]]"/>
  <p:tag name="ISPRING_SCORM_RATE_SLIDES" val="0"/>
  <p:tag name="ISPRING_SCORM_PASSING_SCORE" val="0.000000"/>
  <p:tag name="ISPRING_CURRENT_PLAYER_ID" val="universal"/>
  <p:tag name="ISPRING_PRESENTATION_TITLE" val="SI_Apresentacao_Novo"/>
  <p:tag name="ISPRING_FIRST_PUBLISH" val="1"/>
  <p:tag name="ISPRING_PRESENTATION_COURSE_TITLE" val="SI_Apresentacao_Novo"/>
  <p:tag name="ISPRING_PLAYERS_CUSTOMIZATION_2" val="UEsDBBQAAgAIAOIO1E42YVgCRwMAAOEJAAAUAAAAdW5pdmVyc2FsL3BsYXllci54bWytVl1P2zAUfS4S/yHyO3FLxwYoATEktIcxIXVse6vc5DbxmtiZ7RC6X78b5zukbEir1Cq5vuf4fhxf17t+ThPnCZTmUvhk4c6JAyKQIReRTx6/3p2ck+ur4yMvS9gelMNDn+SClwCWECcEHSieGQQ/MBP7pGdwkZk4meJScbP3yXKO3O1Oyzk5Ppqhi9A+iY3JLiktisLlGhEi0jLJSxLtBjKlmQINwoCiVRjEabCX5u9o/KZSULPPQPeQmXn7xjVJy/Gs+YCkWLpSRfR0Pl/QH/efV0EMKTvhQhsmAiAOVnJmS7lhwe5ehnkCurTNvCrIFRhTBmFtM89c8sW5cLQKfFI5rFPQmkWg3UREhLZ+DWdDUGEa65qJcC3YE49Ymdta1162RR2JjqUyQW5q9A72G8lUuG7tPX+PTkTsbROm45pPD3Kx/DteJ2P91uX7ZCw2o3yTcB3jUh/SWaeToMNdvdTW2Mr2sZHtXclEHAW/cq4gtK/f2hMwX5Bqw1bmNk5XFwEu4NMdC4xU+1uEoXRr2bitUtxKKa4FtRxuu/uqoyBNtltgJlfQlGrmPfEQ5BemlO3XlVE5eHRkrLF0CPZolXLdpK4hXmzS5OwfelP6jVrzU7/WGQv4H435hERtTbgI4fmOo4+BFGtqAItd2lyTJW65ZxeTzjdp7zANTN1JwKZgIo5hKgI8+yEzjHZ2eggKiml0CXI1wvYWDoJjHsUJfs0kw3j1IE3K1G6SobdwEJzIYDcBbc0HgRslC8xQ51mGA+Bl8V6utx2h45aMdNmK0aMT49ALcm1kyn9bpQ/mpLm0kn7l9B4fOYc+Degm4y3kw/w1xGgSDOJq5sL2NQKcC08citWA56S2uhkO8YlZXz6NBnxpeihnTDOdS8M6qyzjOQ4mzyqv5hzn2cgnhC3LE3PbT2h4eVjoKOHpe2OK6zueVVms+G9wCh6Wfw0WSyy1E0Opd5+8P1/2GFCLOBkH21vToR23UjR1cF1q36pf247mhqq1UsnskKS8uhcVppoHH1GOkZK5CEcCsA2r6XWC8/hGAXMS2GJGi1M8HjLzyTt8qHO+OLvoUv6wuGiwNq6HauMqljdcR3XAnfxofZDaRLx6ruHjH1BLAwQUAAIACAAQoEVQkEkmJSgFAAD2EwAAHQAAAHVuaXZlcnNhbC9jb21tb25fbWVzc2FnZXMubG5nrVj/bts2EP6/QN+BEFBgA7q0HdBgGBIXtMTEQmTJFemk2TAIjMTYRCTR1Q8n3l97mj3YnmRHSnbttoGkpEAcmJLvuyP5fXdHnnx4yFK0FkUpVX5qvTt6ayGRxyqR+eLUmrOzX36zUFnxPOGpysWplSsLfRi9fHGS8nxR84WA7y9fIHSSibKEYTnSoy9jJJNTazaOxti+iFgQ4dksGs8ZC/zIw2PiWaMxj+9O3rQ/f8TaDqYz7F9HXnAeRGP33BrZKlvxfIM8tVA//Xp8/PDu/fHPg2DoFHveIRAySO/f9gDyWRh4EaARL/LJJ2aN9P9hdsGcea5PrFH7ZZj1LCSX1kj/77SbhyHxWUQ91yGRSyM/YGYtPMKIY42uVY2WfC1QpdBaintULQWwoJKFQGUqE/MiVvAgr0WXMyeYYtePQkJZ6NrMDXxrRFVRbF4bWF5XS1WAuxIlsuQ3qUiMT+Cbeb8qRAmueQV8RPBXLSX8UmVc5kfdrq98L8COIdmUUIrPYXHZblKAdAB/L6slvEuEeg0u7vNU8QTdFgIAA4r4apXKuPmlpKtCRzhL+aYzihBfuf45kD3waER8Z/vEGpE8QU7B9WQHooSYkhAACl6K4gm2keG6MUc4TYchTNzziQcfpkOYyMUyhU81NI4ZASbMRN5lBUwlIXCc0qsgdPSigSvE0YqX5b0qkgOW7u9nF7Dr2wEIwWZ74ExjbIGBHxJyX1GIuOoGgyix4XerK5gqEDBiJhloSWV1WYFsslUqKmGilXoqPDaUuhG3CvSVCr5uuA/ejdg6ae7huW9PojHbpVCP13m87GkH4vyuPvbVUANN9jnfGVOLFo2DT5BdIBkGQyyCC8iBF0MsrgmFRSa0y8bHl+45NrsEeW+blLZJL+Y6x6QbxOMY7DSb1lLVJTzRSwKpyexIeTTMDSUf58BiF3uP5NYGFehgRgu5FhBHkYii0xGke5s4WlQf5+4f0Rl2PeJ8h3p8g3JVIZ6seR4LIFvM9Z5u4F0iE/NO0974/1zLvxGv2lT/qq0SvkM+vRoaz0FheUQRvKpEtqq6XOsFa8N/ShRa4o+G0GfqT/NPbeLj0A1+zM6UMqvTpgI9e392kQ3do84gnrlS/XfrR0dCm1JDoGHRxRF6jLS/1US7HbuBroiJ6G/n+mdgM2vqFhQ2N79V/a39oAXwFXoqBp3AGpvIKbQ6GVSh/raXMOuD8C91wehvf0XG1GVQda7ETSmrTs9Gz73rq5Hz0wvrXs96UGyYyzwI2QfARdsPliiVGcSf9MCcT8l2BZoScTCTK1WniZF/Ku9MmYC1rTPxbTd8W6jMPE15uaV/U6Y+PCeKZnJh43Q2oJ/aKbj3/uwJ+Om7RAkOoY2xsW/r3sfWak97GoF89FJ4jG5bJ9BRxqt4CeX4VtV50hOoOYI55AwDWDtnKnjR3YW1AF+F0TxF7dPfB4Hojg6SKNmB/emrSpR/DQbR09hh0ObgJx6qTiCGx4cBmEEfq/bgu7XreQ5mLnD5hxwweVPiMpXBo6NuvyCVdusxY9ieTEFN1IhH1QW0kEMQtuSxg3kIB7RWhzYAQTvAZJUKRB64Vs8Q1CkOLyDPmiOXNZry4g6SNFMqHRSb2UAtjmrYnL7caNRVKvNBkT+vROoJM3cWYccx1zuwknB6v2s6ggSOj3F7z5OqRW8we4J9qAFf4YlEVkMBQ0J21zf6isJcB3iK63u2//75t8velN1thoUk1oy/pLD1t1V4NyrNDd3Jm70Lu/8BUEsDBBQAAgAIABCgRVAVHmAbowAAAH8BAAAuAAAAdW5pdmVyc2FsL3BsYXliYWNrX2FuZF9uYXZpZ2F0aW9uX3NldHRpbmdzLnhtbHWQQQqDMBBF957CGwhdh0DXpUWoFxhxlECSCZlR8PZNRG1p02Xe+z/DjGIUMX5iXdW1glnoKRBFS5xRNe93tgwLXr1xIIZ8woK850omNyxRaCMyetmUHsFyyv/wY3hrYT0/4iNeMOVCZxzqS6mwmVzysJhpY90aUI8R04AvmHPoobd4w7UniMPjDOwb/9W5mzabHd5pQB0iuSCq+UBVutdx9BdQSwMEFAACAAgAEKBFULRB3DeXAwAA3hAAACcAAAB1bml2ZXJzYWwvZmxhc2hfcHVibGlzaGluZ19zZXR0aW5ncy54bWztWM1yGkcQvvMUU5vy0axky7GjWlA5sFQoS0BpN7Z1Ug07Azul+dnMDxif/DR+sDxJenYAQyTbK9skqkoOFGxP99ffdPd075CcvRMcLag2TMlOdNw+ihCVhSJMzjvR7/ng8YsIGYslwVxJ2omkitBZt5VUbsqZKTNqLagaBDDSnFa2E5XWVqdxvFwu28xU2q8q7izgm3ahRFxpaqi0VMcVxyv4squKmmiN0AAAPkLJtVm31UIoCUgXijhOESPAXDK/KcwHHJsyioPaFBc3c62cJD3FlUZ6Pu1EP/XS/nH/6UYnQPWZoNLHxHRB6MX2FBPCPAvMM/aeopKyeQl0n59EaMmILTvRkxOPAtrxbZQaO2wde5SeghhIu4YX1GKCLQ6PwZ+l76zZCIKIrCQWrMhhBfn9d6J+fv3b1SS9PB+OXl3n4/F5PpwEErVNvI+TxPuOEiCknC7o1k+CrcVFCbzBZoa5oUm8K9qoMZ9BXFi2gJjQv9GcOc4zV1VK267VjtY0doVbep+BSWZK7u3dP6Op4pDamhRUqZhSMsKC7iQ7u2FyAJrHEZpBnPiqE40rKlGGJRQYs5izYgtg3NRYZuvCGqy1X2qGOQI8OAEUXWTRJwphZ0WJtaG71DYrxqe16L5RjhO0Ug5xdkORVQhC7AT8KinazT+aaSVqKVSoRYYz8LhgdEnJWR2vNeDnHF2BC+HAEo5DxakNHv5w7D2a0pnSgEvxAg4PyJkJ+O17AVfYmE+geMPxUXY+7KfXw1E/ffvIbxCTBZbFPcGhpqio7EHw8QpJZTd2EI4CO0PrpBBG6rUme2t/exq2ZQ15/kHZ2MM3TDiOfyT8NiA70AdM+WG83CfxX2XQ2G2JF/VB94e3hoYjziAlARMWCmhJTK7bYAPAAkukJF8hXEBnNr5tLJhyBiShQQRo8+0Mgz2Uaf00h/YJHjWhuhHk0fGTpyfPfn7+4pfTdvznh4+Pv2i0nlkTjr27MLR6X5xat2wHSgtfPWTHfjjK08uXvXz4ephfXefp23wfoOZ0u10nsR8ld08WP6oe7GCZXKavmyRnBJFoVBdp1ghu3ERr/KqJ1mWYhJOdKdiIAnS2eTip0Ns4Ewwq4WB1+g/V2ne/xYRiPUytPeTAfe8h/a/G7WG/Nh8ocll6Mfx1fN7//8z+WxEMT9vr5959M4nvvBD7FcEkExBW/56yvUV3n50cwQ32zqVWC9D2/5Potv4CUEsDBBQAAgAIABCgRVB05KDgcQMAAKUMAAAhAAAAdW5pdmVyc2FsL2ZsYXNoX3NraW5fc2V0dGluZ3MueG1slVfbbuIwEH3vVyD2vWwpu2ylFInbStV2KSqId0MGsHDsyHbo8vc7viRxICm0UaX6zJzx3K1G6kB56whSUcGf29324K7VijaZlMD1EpKUEQ0tGj+35+/TxXS2HC5f3mbtjlMTTMgFaE35ThkkxyxhnWkt+P1GcI227rmQCWHtwbff9ifqWM1rLIGu3crZkg2U1/zo/hpNbqL4O3qj/mT81ETYiCQl/PQqduJ+TTaHnRQZj41rj+Zrou1PKUhG+eGqR4wq/aIhqfg0fZh2p93bKKkEpcC49DQZdoc/r7IYWQMrou/3fvWGN3LKqz4vzBntSBXVltbv9h/7vSZaSnZQTfJ4OnmYPDbrc7RercqnfjmChn/6auQ4ACeQXzIu0iz9So+kUuxMQs84ffNd5TBBYhw/JEyezHeVYAIyF11tSMVojGUQMnat+N18TcpNufR/hksiMrMtBZubIpxtD9MhawYDLTOIOvnJydRefLxlGocJBlvCFCqEUKk0xwjnJFO5mSpW6r3DB+VxaMsjpcpKsCyBsXM4MFfFS/3xeGQXS2i0wAIPJRw9GLhYgqXmDPN6oRmApebClOuNs9OlB+ciR8o7YkR8OT/PP0qBEzzGXpqfcqm56dXMuQpc9UCuk4gYBraxljQBU7eoYzHnUufCp4iTI90Rja/TX6O3PtlgVNQ5E/heq++sSFPNoK7hNiKTCp1B8cpH6xNXI3EU93SooX6Frc61q2BZFfNehKWw52qve+mx7pIice7c0vicPLcTIg8gl0Iw1W55Ho4gJt09zJcMs7DxOQX5wrci4Ni7m0hcaFC3Kgs3hreqE63JZp+gT00hFDl1pa2vYOSvrSstz5I1yCl2BAWVZ7kKOsU93e0Z/uoVhQ+IzxgNUkfVe7THCS16PgB8EwCRm30+Ee7gJEnGNGVwhHyxBIANuSm2SOEE1EVsGqzalgFyU0/6PVT2SnU/BXiN/grdqhg+k9zQ9pqslY2sslXyFV/6Uln6+ao07RpuSXv2vVQxjPK6DGKtKukkmRYLTaT2RsuzD54cYchpYpcQCoLraySOw4RIfVqsME/DBV66YJ6uwljRljWSJopZtYNuHcVKzvfsEgd0sJUA4Y614F3wCvyB01oQGc8KlcqzUCN2bIwRX067snHZJ6mOOgHkilOUAf/Gf08G/wFQSwMEFAACAAgAEKBFUPXJWbuQAwAAaBAAACYAAAB1bml2ZXJzYWwvaHRtbF9wdWJsaXNoaW5nX3NldHRpbmdzLnhtbO1Y3XISSRS+5ym6ZstLGaNZdVMDKRcmJZUEqMysa65SzXTDdNk/Y/+AeOXT+GD7JHt6GhAMZieuuGuVF1SY0+d85+/rc5gkp+8ER3OqDVOyEx21H0WIykIRJmed6I/87OHzCBmLJcFcSdqJpIrQabeVVG7CmSkzai2oGgQw0pxUthOV1lYncbxYLNrMVNqfKu4s4Jt2oURcaWqotFTHFcdL+GOXFTXRCqEBAHyEkiuzbquFUBKQLhVxnCJGIHLJfFKYv7SCR3HQmuDizUwrJ0lPcaWRnk060S+9tH/Uf7LWCUh9Jqj0JTFdEHqxPcGEMB8E5hl7T1FJ2ayEaJ8dR2jBiC070eNjjwLa8W2UGjtkjj1KT0EJpF3BC2oxwRaHx+DP0nfWrAVBRJYSC1bkcIJ8+p2on9+8vB6nVxeD4flNPhpd5INxCKK2iXdxknjXUQIBKacLuvGTYGtxUULcYDPF3NAk3hat1ZhvIC4sm0NN6GdhTh3nmasqpW3XakfrMLaFm/C+AJNMldzJ3T+jieLQ2TooIKmYUDLEAmowPpMRmkJh+LITjSoqUYYlEIpZzFmxsTBuYiyzNZHOVtovNMMcAVmA8RRdZtEnnyGVosTa0O1Y1ifG97Ho/qkcJ2ipHOLsDUVWIaipE/CtpGi74WiqlailHBuLDGfgcc7ogpLTukArwC85ugYXwoEl0L/i1AYPbx17jyZ0qjTgUjyHywJyZgJ++17AFTbmEyhex/gguxj005vBsJ++fuATxGSOZXFPcCARFZU9CD5eIqns2g7KUWBnaN0Uwkh91iS39te3YcNj6PM36sYOvmHCcfwt4TcF2YI+YMsP4+U+jf/HCBq7LfG8vuj+8tbQcMUZtCRgwkEB04rJ1dxrAFhgiZTkS4QLGMXGj405U86AJAyIAG2+PsJgDzStn2awG8GjJlQ3gnx09PjJ8a9Pnz3/7aQd//Xh48M7jVZLasyxdxe2VO/ONXXL9kxp4dlDtuwHwzy9etHLB68G+fVNnr7OdwHqmG6P6yT2u2P/KvG76fNNMvnvVsn4Kn3VpB1DyL0RE9KsEdyoidbovInWVdh946291ygEmGWzcDdhmnEmGPT+YMz8Tuza+0OF3UmvQMjDsOv/XKq9F/FnqRqzyuybWiijgnmj7zS+DlS1LL0c/D666B+0fKxZ/X5A0v3b8oWnzfvjzgtjEu99o22BfPe/A93W31BLAwQUAAIACAAQoEVQDlqI6bEBAABuBgAAHwAAAHVuaXZlcnNhbC9odG1sX3NraW5fc2V0dGluZ3MuanONlFFPwjAQx9/5FGS+GiIDHfiGDhMTH0zkzfjQjWMsdL2mLVM0fnfXIdB1N6V9Wf/79X+923pfvX41gjTo3/a/6ud6/dxc1xpYzagtXDZ13qEXVg80z5ewyAvguYDAQ8rD1qP8fSIo40DUpsnuxdpqxy9A+2bFuHZxSVgoQtPU5pIA3wntg9r8eRR7Tl77nJxCJ1tjUAxSFAaEGQhUBauZ4OKhHm6KHowlqH/QFUuhYXodTu7iTvLkOL6L4vupy6VYSCZ2T5jhIGHpJlO4Fcvf+CM7XXq9k6CqT77pCstzbR4NFH7g+XAezsNuUirQGn7jTuNZOLshYc4S4G5C0Xgynv2BNozbBfXoMte5OdBRGI2isUtLlkGrSvfzeBiPmpiovFrVbAXfcwY+TFcykrMdqHOsUG7lGR9QKsxsRdpoZCeJcmTLXGR7Lp7aSXL2sNa269+oe8YgQbU8/hVXdrpMqxiNa4beNVtTV7To6i8+qAnQNFrXIa724j5RdpwSBREDCY3qaCXda4zfa+z6tcqbqQ2oBSKvGmg/YMawdF1UHaU6/ZvbGciDpmen5B+r9/0DUEsDBBQAAgAIABCgRVBy/NGBZwAAAGsAAAAcAAAAdW5pdmVyc2FsL2xvY2FsX3NldHRpbmdzLnhtbA3MOwrDQAxF0d6rEOqdT+fCY3cpgyHOAoT9CAaNFGZESHaf6W5xuOP8zUoflHq4Jb6eLkywzffDXomf660fmGqI7aJuSGzONE/dqL6JPhDRYKW3yg9lRW4RuEtucimosJBoZz5P3R9QSwMEFAACAAgAEaBFUDpno9o4DAAAmxkAABcAAAB1bml2ZXJzYWwvdW5pdmVyc2FsLnBuZ+2Ze1RTV7rAD1ofIypaH6AVYrHtSOVRalMUMFEvFNACEqYq71EkKCFESCOYkMSxi4saIIWhKhLCWF6iQioxQUhIfIxk5JVBSGISHsUAMW8DeUBCkgm205m77lp3rfnr/sMfZ5/f3mfv7/v29529z7fXuXosJmLdmu1rAABYFxUZBgOA5T4AsIy8eqWz5dzJIj/nzQUNizgMtA7sUDgr72Ueij4EAA/IrgunVjjrvzsfmYAGgPXPFi8XHurOGQDY9llU2KE/FKRqRsfvZZsTeLmOkOe91/Jh7E3GTyo3ozc+We3yREJK3YH8S339yjxB6urDnxq9N5y7HPThZGM9OOva7/KOReHWH+r5G3001tL/OgTBv59A5//+9zT3UDWlCozgp+7Fya1js+mObhcA2Hkl0ln+eGWzE6/9x0jZ4gMqfPunwG6P9JLAbgpYHhzidAIQ87GzvLTb2znFK95LuIRLuIRLuIRLuIRLuIRLuIT/b2h+3+eX84oHWhlaOPeW+UlM/vF657Elufr/Oup4+nALFu49Q6DsoonYNCv5GajQOu6WNt9LvFrbScXgVViRcRVQ8L5dW+uQw6Nhs7hxi0jR+XzkQJpVy0eVTbTb7VA3qHVuSFqH4yS6E+QRblBWNLy2lxKE91U9Sm3TQvbAIHadw/aU+F8CI422HPgZIniKZX4ZeINPJs70SusKO699cLtgtFnGAnvzr1XeFYi3zP0YjfcEAHOD16Gqlqg+SDxpAm177gahanvVIRhK+749MOp1yUhexErgVU/81Vaozi6VSevwt8SQPgycRPfOMEVx7ywHzqeFClQWtDaeA7d+JqryC1tzXmciLF+PKnOpn43sMfJ2+XTQiyJdtALG+KU6k6Y/8NIX3lOWXbC8TNfyZSP3rAW/9N3oIwKVV4QkXan0xBsGI4qhuAm+m47rGJLGa02lqAVB/9RXKM58bJB13iJyTMI5DhtohPpsbOyivIZfhsHvQJFA9rcgCGud3YLi4Ocm/xybw59nMzQxo7yXakLcDduY2W6i20rNJAnTf0guEIHRogvG/Uqs0Mi5/r+tqBk+rXNzvCG7pdmUOlDKTv9v+oYzrmfpE27DXLslIpRdiKrdAqG05tCChRiK6pFoGWf4NAfVe2vNTfFTPJIVb37w7aLaFrzBnlVt2dHQmr/i65rUtFj8WBVDk5XGcEhQSLQfXcdDrD34fnmebeM7P4mj/OZ6JKgHN5RBwqbQI3kDkP0po3DGbhB+Kp9gpkds6pbC1xYn9pm9CUgWY1a4g5U2nME72YLMknZyMF0RRowR3/a6UQvNR54AIaotkrA1jzlhPcaI+smBrd4ZmfL3wgOu6GBcjZd7kzqd6aGToi6ECHclNuSQyqoZGuFAElpNeMBWFxxQyc4uSD498+lBraS1P0Y6pLbqty///gw/cpu7zDhOR3JKdsGYfIYuPil0MDIh2Mg+MJ0Idx2qsmguQBlno23MwnkpwRSYVEIm2ac0+1xL3oXirIbwAAyTNEt/Fdna3L6VWsNhQi99hAvvyScY3l4gOxwXtHJ2Kc4msCZeEg6Pb26ubQHLIEpdh+FLcFd014cvHqXYcCOtTZAIpMhB7VqvB43bJqfZXY7XOM3sDjo++XOZPoWAxCcjqiFIjYcwV0UMMH/j0M4qCQIHPru716u6s7+7/S3NKs5mtSx6XZx9KngvpH/6pmXdXF7cCwKcpM8d5LI9dbtgQq17WnekAvSS55+vNmx32hl2xO/bCLn/jFWugPnFhHyixHrt9f9pTzIcGzeCWsEtjOAlrm0PxJpupqeNB76zRk6jEUNpZASo9har7JSnrm3kBEgaTNSYsmQZokZtbN0BB6BYDA+9SAHj/gUbbfuqK/W78z1DT141nv7j/G6BDy1qWwsyXwmRpJhJLbSoc005N973MX6Xv9AyUJDqYEEHVu584VU+QydDu0alE9Pl34u/RAyR3mA/qttaL/PuiLmH7A5HoeLljPUkTnZKU+fXsQHZuD+NWjWK9iu03tImXWBUOUzpYbyIT84sz1N7HN934XsDx/I5BluTNnTjA1DGB2ZRra5ymyPLQW0fXDS1KexIgD9ZcbDZZighxZviSSYIk3FSF7Fd+XDNf5f9lXDiPiwwrj0uQZqjYVextO4Yu8c3eJAPBrsqLoWrx/hhUlQP25gpuIryNnjH6Fzul0DUQIqvf5N7U0bhpIyiCDc8KtACiufoFL5QOvzQHmyxlJC0uZaNf+5slSm6VqdCnrbxfHdN+C962DZvlak33tUXjGLWIiyDpRLRXOV9cd1ZXg4L3diKIpZ9PnbC37k59QxklV88cWz4NMO9dC/jWOqA5PUPGuWFO0U4T5lln/+rPQCcx40Bgcr3MVMSQlCKVmt48+M3NszuHzrHGA4Iiu0m5IZ8LWQiGOO547hqPNR0XzGbCcpc/v1khXNh1GaoOFh9KKmScAbO/LtnbBKkAsYdpDm022hJ0JkhV2Ui0O5XjhEZRPl3xRD/KvuCcfdLp6XBNPKEL0xYdiq6OEU3+6ruLF2a01ti9elV0TOYG3wed936H5qKUgNMvQ9WKH2cEU5UC4lkkoVwJr3joGdp7KhyhQlWMyY1DJGxt8fIa5JnwPf754yU00zy0UYo0fM7e+LRohSQSNLYDp3yEPqmkb5VM7xlyKAQB0Xx2ae4UA3i3bYsNqfzb0GIpsWw+F+tPDo2iKCIvTkm0cY4tC/sOs1PscI0Y9wsw9xz+G8JN+oIw9PbY413o65V6scZP+tkwaRKRvrJIZrunEwDjnH6P8Qx3MyHQqYQ5HyL5HA9YM4y2V7RG/m1eMq6gxWJBwcIx2uCcQtwlnv/FteunakQTVbH3zVF3/ol8pBWQ+7ggWrC5jsmqes4IlRwr5HLie835b4wyHWR20Auiojj8PK2C2t5eIMpw3S2Z4YpDcZX/9DlZXRqorx55gYNZZskiOJVbl6FOcqHwW77+tXWB5n9eSy9LBuoGF6WZ6Irh5uLbHNSTerq2r294YZsuOto6kMq63HrtvH+e76gcjHaogoRZINu9KnnTHU7bdgKNPkUqL2sqEwQjO/QeJW/FDX7PjNUiA/Xj9xeVn96snp8YXpC0z4OYTvs1trqoLEC2dvXpICx7F3Hf85xbvviEuju3t/WbkM5bC9n4PYOHPLpgyq/H2/sTXojlCsOKpvsvsSv2qcus7Z21BE22sD/nHlfme5zf54MLQpUz/JOepjb2Z4BpZX6uOo2OZJRFJmgfzNYVw00b0iIl2LuDxOX8/o5IHK07bEG1E2fJdekOndycmSzQoSptCAt+7kKqlMnOvu2lEZqrn1hvFXE2vpKZkA5VG29syaK3RIDlvI+Ri/OPCojFILgnS9M+dsMOLSLy/GzGI56N2gjbHeixdaNNOcSu3YjjTA/rUhuwhoFJ9wCugwvJ/QyXnfoD7OKJq7dhSlQW3ORylVyNRELRliXR7adqB/m/5WgPLbf5K0MkIUqIue9+XOvFzqJNZu4TX1bY7+AUSdHGqg935BLKKoi99R9bPMYbmgFNTD2WbLzLSoodVmUcVP2S06RF3bgMox2KOFucYhqVXT/3PVLmpb2sWD2TM+eoec1/zbGG9YK9f4437m+IkIdC7PFxW5Q0Id0ubyUv84PUyWn4nI6H+2dPnfzqB+3uBUMRP32FZ26klmLN5m4BCSz9lZDJvUi/NeOGluoSDwsB/5d9JXN6dPoZoStYSK3Ox/mErnzX4/6qFqBbh1kYAbjQ9VmUE0dw+Ax8BnKVMg48NGG3xKRXUpNcWYABUR0DbUikV3nx6Qbqpsumo7pnhNKHadEEJ754qrID/8llW3VsoKIGfZkTFWnL3Bw06+CKFt8zPrLIuvN+LQ/JD3JFaVVgwTMpKcrgYLOUZ5Kz1E7Uzg8jyvMaQ36Z/aH+mmxLy2gWdTItltU7U19B7CGN/BqseokAMCJ3Y/VQUlbnz7VE6aHMeaXCeV5Gnf2GI9i/VFyrQyLPxJt22JpICSerAk4BlxK55hGa2NFn0zPzOtjCRdxlbHmL+4jhuQjGPOb+5E+IuwTFb7v44C7Le6D0IK3P0+3XOU1D8EDfloFeNhe62kLJoK8OeIY870jVm+ac1gFJn//u18GrVGLGXhc2BoA2BD+H+Dk+TmoV8Yml6KwTT85G4Go8Jiw1sN/vPwPUEsDBBQAAgAIABGgRVBknszgSwAAAGoAAAAbAAAAdW5pdmVyc2FsL3VuaXZlcnNhbC5wbmcueG1ss7GvyM1RKEstKs7Mz7NVMtQzULK34+WyKShKLctMLVeoAIoBBSFASaESyDVCcMszU0oybJXMLUwRYhmpmekZJbZKphaWcEF9oJEAUEsBAgAAFAACAAgA4g7UTjZhWAJHAwAA4QkAABQAAAAAAAAAAQAAAAAAAAAAAHVuaXZlcnNhbC9wbGF5ZXIueG1sUEsBAgAAFAACAAgAEKBFUJBJJiUoBQAA9hMAAB0AAAAAAAAAAQAAAAAAeQMAAHVuaXZlcnNhbC9jb21tb25fbWVzc2FnZXMubG5nUEsBAgAAFAACAAgAEKBFUBUeYBujAAAAfwEAAC4AAAAAAAAAAQAAAAAA3AgAAHVuaXZlcnNhbC9wbGF5YmFja19hbmRfbmF2aWdhdGlvbl9zZXR0aW5ncy54bWxQSwECAAAUAAIACAAQoEVQtEHcN5cDAADeEAAAJwAAAAAAAAABAAAAAADLCQAAdW5pdmVyc2FsL2ZsYXNoX3B1Ymxpc2hpbmdfc2V0dGluZ3MueG1sUEsBAgAAFAACAAgAEKBFUHTkoOBxAwAApQwAACEAAAAAAAAAAQAAAAAApw0AAHVuaXZlcnNhbC9mbGFzaF9za2luX3NldHRpbmdzLnhtbFBLAQIAABQAAgAIABCgRVD1yVm7kAMAAGgQAAAmAAAAAAAAAAEAAAAAAFcRAAB1bml2ZXJzYWwvaHRtbF9wdWJsaXNoaW5nX3NldHRpbmdzLnhtbFBLAQIAABQAAgAIABCgRVAOWojpsQEAAG4GAAAfAAAAAAAAAAEAAAAAACsVAAB1bml2ZXJzYWwvaHRtbF9za2luX3NldHRpbmdzLmpzUEsBAgAAFAACAAgAEKBFUHL80YFnAAAAawAAABwAAAAAAAAAAQAAAAAAGRcAAHVuaXZlcnNhbC9sb2NhbF9zZXR0aW5ncy54bWxQSwECAAAUAAIACAARoEVQOmej2jgMAACbGQAAFwAAAAAAAAAAAAAAAAC6FwAAdW5pdmVyc2FsL3VuaXZlcnNhbC5wbmdQSwECAAAUAAIACAARoEVQZJ7M4EsAAABqAAAAGwAAAAAAAAABAAAAAAAnJAAAdW5pdmVyc2FsL3VuaXZlcnNhbC5wbmcueG1sUEsFBgAAAAAKAAoABgMAAKskAAAAAA=="/>
  <p:tag name="ISPRING_PUBLISH_SETTINGS" val="{&quot;commonSettings&quot;:{&quot;webSettings&quot;:{&quot;useMobileViewer&quot;:&quot;T_FALSE&quot;,&quot;format&quot;:&quot;OF_VIDEO&quot;},&quot;lmsSettings&quot;:{&quot;useMobileViewer&quot;:&quot;T_TRU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}"/>
  <p:tag name="ISPRING_RESOURCE_FOLDER" val="E:\bkp\Desktop\FATEC\Presencial\SI\1ªSemana\SI_Apresentacao_Novo\"/>
  <p:tag name="ISPRING_PRESENTATION_PATH" val="E:\bkp\Desktop\FATEC\Presencial\SI\1ªSemana\SI_Apresentacao_Novo.pptx"/>
  <p:tag name="ISPRING_PROJECT_VERSION" val="9.3"/>
  <p:tag name="ISPRING_PROJECT_FOLDER_UPDATED" val="1"/>
  <p:tag name="ISPRING_SCREEN_RECS_UPDATED" val="E:\bkp\Desktop\FATEC\Presencial\SI\1ªSemana\SI_Apresentacao_Novo\"/>
  <p:tag name="ISPRING_UUID" val="{54750CA5-4FA8-42D2-B086-D4589E898D4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HAS_SCREEN_REC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resentação em Tela Larga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8e39b4d-49fe-43e3-a803-0b0014d83729">
      <Terms xmlns="http://schemas.microsoft.com/office/infopath/2007/PartnerControls"/>
    </lcf76f155ced4ddcb4097134ff3c332f>
    <TaxCatchAll xmlns="859b4b8e-7b1d-49c1-8596-c2b95aab0e3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7EEA5AB83D49499D84A27CF07AB9D5" ma:contentTypeVersion="10" ma:contentTypeDescription="Create a new document." ma:contentTypeScope="" ma:versionID="dfc02e8f2cd17b7f9f847b62c554237a">
  <xsd:schema xmlns:xsd="http://www.w3.org/2001/XMLSchema" xmlns:xs="http://www.w3.org/2001/XMLSchema" xmlns:p="http://schemas.microsoft.com/office/2006/metadata/properties" xmlns:ns2="48e39b4d-49fe-43e3-a803-0b0014d83729" xmlns:ns3="859b4b8e-7b1d-49c1-8596-c2b95aab0e3c" targetNamespace="http://schemas.microsoft.com/office/2006/metadata/properties" ma:root="true" ma:fieldsID="bb98fb23faecd9775672f6785c752ecd" ns2:_="" ns3:_="">
    <xsd:import namespace="48e39b4d-49fe-43e3-a803-0b0014d83729"/>
    <xsd:import namespace="859b4b8e-7b1d-49c1-8596-c2b95aab0e3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e39b4d-49fe-43e3-a803-0b0014d837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b4b8e-7b1d-49c1-8596-c2b95aab0e3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542db38-d431-4b25-af84-2f35c7e9bd40}" ma:internalName="TaxCatchAll" ma:showField="CatchAllData" ma:web="859b4b8e-7b1d-49c1-8596-c2b95aab0e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0E686C-9E9C-49BF-B15E-0FB8E857A1CE}">
  <ds:schemaRefs>
    <ds:schemaRef ds:uri="http://schemas.microsoft.com/office/2006/metadata/properties"/>
    <ds:schemaRef ds:uri="http://schemas.microsoft.com/office/infopath/2007/PartnerControls"/>
    <ds:schemaRef ds:uri="0f31304e-709d-431c-aa73-cac4030e17e0"/>
    <ds:schemaRef ds:uri="a7b211ed-222e-439e-9e4f-dfeac8c44ce5"/>
    <ds:schemaRef ds:uri="534e2611-c986-42e7-a7a7-88eb02e3de6d"/>
    <ds:schemaRef ds:uri="2b4986ee-5ddf-4f64-82a4-7d70231ab854"/>
    <ds:schemaRef ds:uri="c9bd0c77-24ac-4861-855b-79d97260e403"/>
    <ds:schemaRef ds:uri="8f9605a2-03d2-4d40-8c9b-f78d160c45f0"/>
    <ds:schemaRef ds:uri="88ac0c94-ecf3-4703-9efe-e9a6791ae759"/>
    <ds:schemaRef ds:uri="05740d8d-1a5b-48f4-a9f1-17d1e38694ae"/>
    <ds:schemaRef ds:uri="48e39b4d-49fe-43e3-a803-0b0014d83729"/>
    <ds:schemaRef ds:uri="859b4b8e-7b1d-49c1-8596-c2b95aab0e3c"/>
  </ds:schemaRefs>
</ds:datastoreItem>
</file>

<file path=customXml/itemProps2.xml><?xml version="1.0" encoding="utf-8"?>
<ds:datastoreItem xmlns:ds="http://schemas.openxmlformats.org/officeDocument/2006/customXml" ds:itemID="{1D47A4CC-DC6F-4665-96AB-791774E04C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571C11-00DD-4F4E-85E8-0182BB7388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e39b4d-49fe-43e3-a803-0b0014d83729"/>
    <ds:schemaRef ds:uri="859b4b8e-7b1d-49c1-8596-c2b95aab0e3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WidescreenPresentation</Template>
  <TotalTime>0</TotalTime>
  <Words>375</Words>
  <Application>Microsoft Office PowerPoint</Application>
  <PresentationFormat>Apresentação na tela (16:9)</PresentationFormat>
  <Paragraphs>57</Paragraphs>
  <Slides>10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Calibri</vt:lpstr>
      <vt:lpstr>Tw Cen MT</vt:lpstr>
      <vt:lpstr>Wingdings</vt:lpstr>
      <vt:lpstr>Wingdings 2</vt:lpstr>
      <vt:lpstr>Apresentação em Tela Larga</vt:lpstr>
      <vt:lpstr>DESENVOLVIMENTO WEB ii</vt:lpstr>
      <vt:lpstr>Apresentação do PowerPoint</vt:lpstr>
      <vt:lpstr>Objetivo</vt:lpstr>
      <vt:lpstr>Ementa</vt:lpstr>
      <vt:lpstr>Metodologia</vt:lpstr>
      <vt:lpstr>Carga Horária da Disciplina</vt:lpstr>
      <vt:lpstr>Critério de Avaliação</vt:lpstr>
      <vt:lpstr>Referências Bibliográficas</vt:lpstr>
      <vt:lpstr>PONTO DE ATENÇÃO</vt:lpstr>
      <vt:lpstr>DT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SI_Apresentacao_Novo</dc:title>
  <dc:creator/>
  <cp:lastModifiedBy/>
  <cp:revision>32</cp:revision>
  <dcterms:created xsi:type="dcterms:W3CDTF">2012-07-30T18:40:18Z</dcterms:created>
  <dcterms:modified xsi:type="dcterms:W3CDTF">2026-02-18T11:25:59Z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1046</vt:i4>
  </property>
  <property fmtid="{D5CDD505-2E9C-101B-9397-08002B2CF9AE}" pid="3" name="_Version">
    <vt:lpwstr>12.0.4518</vt:lpwstr>
  </property>
  <property fmtid="{D5CDD505-2E9C-101B-9397-08002B2CF9AE}" pid="4" name="ContentTypeId">
    <vt:lpwstr>0x010100277EEA5AB83D49499D84A27CF07AB9D5</vt:lpwstr>
  </property>
  <property fmtid="{D5CDD505-2E9C-101B-9397-08002B2CF9AE}" pid="5" name="MediaServiceImageTags">
    <vt:lpwstr/>
  </property>
</Properties>
</file>